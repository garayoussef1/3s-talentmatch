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40000" y="1800000"/>
            <a:ext cx="162000" cy="3240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0000" y="1980000"/>
            <a:ext cx="6120000" cy="1800000"/>
          </a:xfrm>
          <a:prstGeom prst="rect">
            <a:avLst/>
          </a:prstGeom>
          <a:noFill/>
        </p:spPr>
        <p:txBody>
          <a:bodyPr wrap="square">
            <a:spAutoFit/>
          </a:bodyPr>
          <a:lstStyle/>
          <a:p>
            <a:pPr algn="l"/>
            <a:r>
              <a:rPr sz="3600" b="1">
                <a:solidFill>
                  <a:srgbClr val="FFFFFF"/>
                </a:solidFill>
              </a:rPr>
              <a:t>TalentMatch</a:t>
            </a:r>
          </a:p>
          <a:p>
            <a:pPr algn="l"/>
            <a:r>
              <a:rPr sz="3600" b="1">
                <a:solidFill>
                  <a:srgbClr val="FFFFFF"/>
                </a:solidFill>
              </a:rPr>
              <a:t>Plateforme intelligente de matching</a:t>
            </a:r>
          </a:p>
          <a:p>
            <a:pPr algn="l"/>
            <a:r>
              <a:rPr sz="3600" b="1">
                <a:solidFill>
                  <a:srgbClr val="FFFFFF"/>
                </a:solidFill>
              </a:rPr>
              <a:t>CV / Offres d'emploi</a:t>
            </a:r>
          </a:p>
        </p:txBody>
      </p:sp>
      <p:sp>
        <p:nvSpPr>
          <p:cNvPr id="5" name="Rectangle 4"/>
          <p:cNvSpPr/>
          <p:nvPr/>
        </p:nvSpPr>
        <p:spPr>
          <a:xfrm>
            <a:off x="5220000" y="5292000"/>
            <a:ext cx="2700000" cy="54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220000" y="4968000"/>
            <a:ext cx="5400000" cy="468000"/>
          </a:xfrm>
          <a:prstGeom prst="rect">
            <a:avLst/>
          </a:prstGeom>
          <a:noFill/>
        </p:spPr>
        <p:txBody>
          <a:bodyPr wrap="square">
            <a:spAutoFit/>
          </a:bodyPr>
          <a:lstStyle/>
          <a:p>
            <a:pPr algn="l"/>
            <a:r>
              <a:rPr sz="2000" b="1" i="0">
                <a:solidFill>
                  <a:srgbClr val="FFFFFF"/>
                </a:solidFill>
              </a:rPr>
              <a:t>Rédigé par Youssef Gara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140000" cy="6858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40000" y="0"/>
            <a:ext cx="805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20000" y="144000"/>
            <a:ext cx="7920000" cy="900000"/>
          </a:xfrm>
          <a:prstGeom prst="rect">
            <a:avLst/>
          </a:prstGeom>
          <a:noFill/>
        </p:spPr>
        <p:txBody>
          <a:bodyPr wrap="square">
            <a:spAutoFit/>
          </a:bodyPr>
          <a:lstStyle/>
          <a:p>
            <a:pPr algn="ctr"/>
            <a:r>
              <a:rPr sz="2600" b="1" i="0">
                <a:solidFill>
                  <a:srgbClr val="0A2350"/>
                </a:solidFill>
              </a:rPr>
              <a:t>PLAN DE LA PRÉSENTATION</a:t>
            </a:r>
          </a:p>
        </p:txBody>
      </p:sp>
      <p:sp>
        <p:nvSpPr>
          <p:cNvPr id="5" name="Rectangle 4"/>
          <p:cNvSpPr/>
          <p:nvPr/>
        </p:nvSpPr>
        <p:spPr>
          <a:xfrm>
            <a:off x="4320000" y="1026000"/>
            <a:ext cx="7740000" cy="648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00000" y="1188000"/>
            <a:ext cx="6300000" cy="306000"/>
          </a:xfrm>
          <a:prstGeom prst="rect">
            <a:avLst/>
          </a:prstGeom>
          <a:noFill/>
        </p:spPr>
        <p:txBody>
          <a:bodyPr wrap="square">
            <a:spAutoFit/>
          </a:bodyPr>
          <a:lstStyle/>
          <a:p>
            <a:pPr algn="l"/>
            <a:r>
              <a:rPr sz="1100" b="1" i="0">
                <a:solidFill>
                  <a:srgbClr val="0A2350"/>
                </a:solidFill>
              </a:rPr>
              <a:t>Introduction</a:t>
            </a:r>
          </a:p>
        </p:txBody>
      </p:sp>
      <p:sp>
        <p:nvSpPr>
          <p:cNvPr id="7" name="TextBox 6"/>
          <p:cNvSpPr txBox="1"/>
          <p:nvPr/>
        </p:nvSpPr>
        <p:spPr>
          <a:xfrm>
            <a:off x="11340000" y="1188000"/>
            <a:ext cx="720000" cy="306000"/>
          </a:xfrm>
          <a:prstGeom prst="rect">
            <a:avLst/>
          </a:prstGeom>
          <a:noFill/>
        </p:spPr>
        <p:txBody>
          <a:bodyPr wrap="square">
            <a:spAutoFit/>
          </a:bodyPr>
          <a:lstStyle/>
          <a:p>
            <a:pPr algn="r"/>
            <a:r>
              <a:rPr sz="1300" b="1" i="0">
                <a:solidFill>
                  <a:srgbClr val="B88E4C"/>
                </a:solidFill>
              </a:rPr>
              <a:t>1</a:t>
            </a:r>
          </a:p>
        </p:txBody>
      </p:sp>
      <p:sp>
        <p:nvSpPr>
          <p:cNvPr id="8" name="Rectangle 7"/>
          <p:cNvSpPr/>
          <p:nvPr/>
        </p:nvSpPr>
        <p:spPr>
          <a:xfrm>
            <a:off x="4500000" y="1465200"/>
            <a:ext cx="7380000" cy="10800"/>
          </a:xfrm>
          <a:prstGeom prst="rect">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00000" y="1537199"/>
            <a:ext cx="6300000" cy="306000"/>
          </a:xfrm>
          <a:prstGeom prst="rect">
            <a:avLst/>
          </a:prstGeom>
          <a:noFill/>
        </p:spPr>
        <p:txBody>
          <a:bodyPr wrap="square">
            <a:spAutoFit/>
          </a:bodyPr>
          <a:lstStyle/>
          <a:p>
            <a:pPr algn="l"/>
            <a:r>
              <a:rPr sz="1100" b="1" i="0">
                <a:solidFill>
                  <a:srgbClr val="0A2350"/>
                </a:solidFill>
              </a:rPr>
              <a:t>Présentation de l'entreprise</a:t>
            </a:r>
          </a:p>
        </p:txBody>
      </p:sp>
      <p:sp>
        <p:nvSpPr>
          <p:cNvPr id="10" name="TextBox 9"/>
          <p:cNvSpPr txBox="1"/>
          <p:nvPr/>
        </p:nvSpPr>
        <p:spPr>
          <a:xfrm>
            <a:off x="11340000" y="1537199"/>
            <a:ext cx="720000" cy="306000"/>
          </a:xfrm>
          <a:prstGeom prst="rect">
            <a:avLst/>
          </a:prstGeom>
          <a:noFill/>
        </p:spPr>
        <p:txBody>
          <a:bodyPr wrap="square">
            <a:spAutoFit/>
          </a:bodyPr>
          <a:lstStyle/>
          <a:p>
            <a:pPr algn="r"/>
            <a:r>
              <a:rPr sz="1300" b="1" i="0">
                <a:solidFill>
                  <a:srgbClr val="B88E4C"/>
                </a:solidFill>
              </a:rPr>
              <a:t>2</a:t>
            </a:r>
          </a:p>
        </p:txBody>
      </p:sp>
      <p:sp>
        <p:nvSpPr>
          <p:cNvPr id="11" name="Rectangle 10"/>
          <p:cNvSpPr/>
          <p:nvPr/>
        </p:nvSpPr>
        <p:spPr>
          <a:xfrm>
            <a:off x="4500000" y="1814399"/>
            <a:ext cx="7380000" cy="10800"/>
          </a:xfrm>
          <a:prstGeom prst="rect">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00000" y="1886400"/>
            <a:ext cx="6300000" cy="306000"/>
          </a:xfrm>
          <a:prstGeom prst="rect">
            <a:avLst/>
          </a:prstGeom>
          <a:noFill/>
        </p:spPr>
        <p:txBody>
          <a:bodyPr wrap="square">
            <a:spAutoFit/>
          </a:bodyPr>
          <a:lstStyle/>
          <a:p>
            <a:pPr algn="l"/>
            <a:r>
              <a:rPr sz="1100" b="1" i="0">
                <a:solidFill>
                  <a:srgbClr val="0A2350"/>
                </a:solidFill>
              </a:rPr>
              <a:t>Étude de l'existant</a:t>
            </a:r>
          </a:p>
        </p:txBody>
      </p:sp>
      <p:sp>
        <p:nvSpPr>
          <p:cNvPr id="13" name="TextBox 12"/>
          <p:cNvSpPr txBox="1"/>
          <p:nvPr/>
        </p:nvSpPr>
        <p:spPr>
          <a:xfrm>
            <a:off x="11340000" y="1886400"/>
            <a:ext cx="720000" cy="306000"/>
          </a:xfrm>
          <a:prstGeom prst="rect">
            <a:avLst/>
          </a:prstGeom>
          <a:noFill/>
        </p:spPr>
        <p:txBody>
          <a:bodyPr wrap="square">
            <a:spAutoFit/>
          </a:bodyPr>
          <a:lstStyle/>
          <a:p>
            <a:pPr algn="r"/>
            <a:r>
              <a:rPr sz="1300" b="1" i="0">
                <a:solidFill>
                  <a:srgbClr val="B88E4C"/>
                </a:solidFill>
              </a:rPr>
              <a:t>3</a:t>
            </a:r>
          </a:p>
        </p:txBody>
      </p:sp>
      <p:sp>
        <p:nvSpPr>
          <p:cNvPr id="14" name="Rectangle 13"/>
          <p:cNvSpPr/>
          <p:nvPr/>
        </p:nvSpPr>
        <p:spPr>
          <a:xfrm>
            <a:off x="4500000" y="2163600"/>
            <a:ext cx="7380000" cy="10800"/>
          </a:xfrm>
          <a:prstGeom prst="rect">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0000" y="2235600"/>
            <a:ext cx="6300000" cy="306000"/>
          </a:xfrm>
          <a:prstGeom prst="rect">
            <a:avLst/>
          </a:prstGeom>
          <a:noFill/>
        </p:spPr>
        <p:txBody>
          <a:bodyPr wrap="square">
            <a:spAutoFit/>
          </a:bodyPr>
          <a:lstStyle/>
          <a:p>
            <a:pPr algn="l"/>
            <a:r>
              <a:rPr sz="1100" b="1" i="0">
                <a:solidFill>
                  <a:srgbClr val="0A2350"/>
                </a:solidFill>
              </a:rPr>
              <a:t>Problématique</a:t>
            </a:r>
          </a:p>
        </p:txBody>
      </p:sp>
      <p:sp>
        <p:nvSpPr>
          <p:cNvPr id="16" name="TextBox 15"/>
          <p:cNvSpPr txBox="1"/>
          <p:nvPr/>
        </p:nvSpPr>
        <p:spPr>
          <a:xfrm>
            <a:off x="11340000" y="2235600"/>
            <a:ext cx="720000" cy="306000"/>
          </a:xfrm>
          <a:prstGeom prst="rect">
            <a:avLst/>
          </a:prstGeom>
          <a:noFill/>
        </p:spPr>
        <p:txBody>
          <a:bodyPr wrap="square">
            <a:spAutoFit/>
          </a:bodyPr>
          <a:lstStyle/>
          <a:p>
            <a:pPr algn="r"/>
            <a:r>
              <a:rPr sz="1300" b="1" i="0">
                <a:solidFill>
                  <a:srgbClr val="B88E4C"/>
                </a:solidFill>
              </a:rPr>
              <a:t>4</a:t>
            </a:r>
          </a:p>
        </p:txBody>
      </p:sp>
      <p:sp>
        <p:nvSpPr>
          <p:cNvPr id="17" name="Rectangle 16"/>
          <p:cNvSpPr/>
          <p:nvPr/>
        </p:nvSpPr>
        <p:spPr>
          <a:xfrm>
            <a:off x="4500000" y="2512800"/>
            <a:ext cx="7380000" cy="10800"/>
          </a:xfrm>
          <a:prstGeom prst="rect">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00000" y="2584800"/>
            <a:ext cx="6300000" cy="306000"/>
          </a:xfrm>
          <a:prstGeom prst="rect">
            <a:avLst/>
          </a:prstGeom>
          <a:noFill/>
        </p:spPr>
        <p:txBody>
          <a:bodyPr wrap="square">
            <a:spAutoFit/>
          </a:bodyPr>
          <a:lstStyle/>
          <a:p>
            <a:pPr algn="l"/>
            <a:r>
              <a:rPr sz="1100" b="1" i="0">
                <a:solidFill>
                  <a:srgbClr val="0A2350"/>
                </a:solidFill>
              </a:rPr>
              <a:t>Les défis</a:t>
            </a:r>
          </a:p>
        </p:txBody>
      </p:sp>
      <p:sp>
        <p:nvSpPr>
          <p:cNvPr id="19" name="TextBox 18"/>
          <p:cNvSpPr txBox="1"/>
          <p:nvPr/>
        </p:nvSpPr>
        <p:spPr>
          <a:xfrm>
            <a:off x="11340000" y="2584800"/>
            <a:ext cx="720000" cy="306000"/>
          </a:xfrm>
          <a:prstGeom prst="rect">
            <a:avLst/>
          </a:prstGeom>
          <a:noFill/>
        </p:spPr>
        <p:txBody>
          <a:bodyPr wrap="square">
            <a:spAutoFit/>
          </a:bodyPr>
          <a:lstStyle/>
          <a:p>
            <a:pPr algn="r"/>
            <a:r>
              <a:rPr sz="1300" b="1" i="0">
                <a:solidFill>
                  <a:srgbClr val="B88E4C"/>
                </a:solidFill>
              </a:rPr>
              <a:t>5</a:t>
            </a:r>
          </a:p>
        </p:txBody>
      </p:sp>
      <p:sp>
        <p:nvSpPr>
          <p:cNvPr id="20" name="Rectangle 19"/>
          <p:cNvSpPr/>
          <p:nvPr/>
        </p:nvSpPr>
        <p:spPr>
          <a:xfrm>
            <a:off x="4500000" y="2862000"/>
            <a:ext cx="7380000" cy="10800"/>
          </a:xfrm>
          <a:prstGeom prst="rect">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00000" y="2933999"/>
            <a:ext cx="6300000" cy="306000"/>
          </a:xfrm>
          <a:prstGeom prst="rect">
            <a:avLst/>
          </a:prstGeom>
          <a:noFill/>
        </p:spPr>
        <p:txBody>
          <a:bodyPr wrap="square">
            <a:spAutoFit/>
          </a:bodyPr>
          <a:lstStyle/>
          <a:p>
            <a:pPr algn="l"/>
            <a:r>
              <a:rPr sz="1100" b="1" i="0">
                <a:solidFill>
                  <a:srgbClr val="0A2350"/>
                </a:solidFill>
              </a:rPr>
              <a:t>Notre solution</a:t>
            </a:r>
          </a:p>
        </p:txBody>
      </p:sp>
      <p:sp>
        <p:nvSpPr>
          <p:cNvPr id="22" name="TextBox 21"/>
          <p:cNvSpPr txBox="1"/>
          <p:nvPr/>
        </p:nvSpPr>
        <p:spPr>
          <a:xfrm>
            <a:off x="11340000" y="2933999"/>
            <a:ext cx="720000" cy="306000"/>
          </a:xfrm>
          <a:prstGeom prst="rect">
            <a:avLst/>
          </a:prstGeom>
          <a:noFill/>
        </p:spPr>
        <p:txBody>
          <a:bodyPr wrap="square">
            <a:spAutoFit/>
          </a:bodyPr>
          <a:lstStyle/>
          <a:p>
            <a:pPr algn="r"/>
            <a:r>
              <a:rPr sz="1300" b="1" i="0">
                <a:solidFill>
                  <a:srgbClr val="B88E4C"/>
                </a:solidFill>
              </a:rPr>
              <a:t>6</a:t>
            </a:r>
          </a:p>
        </p:txBody>
      </p:sp>
      <p:sp>
        <p:nvSpPr>
          <p:cNvPr id="23" name="Rectangle 22"/>
          <p:cNvSpPr/>
          <p:nvPr/>
        </p:nvSpPr>
        <p:spPr>
          <a:xfrm>
            <a:off x="4500000" y="3211199"/>
            <a:ext cx="7380000" cy="10800"/>
          </a:xfrm>
          <a:prstGeom prst="rect">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00000" y="3283200"/>
            <a:ext cx="6300000" cy="306000"/>
          </a:xfrm>
          <a:prstGeom prst="rect">
            <a:avLst/>
          </a:prstGeom>
          <a:noFill/>
        </p:spPr>
        <p:txBody>
          <a:bodyPr wrap="square">
            <a:spAutoFit/>
          </a:bodyPr>
          <a:lstStyle/>
          <a:p>
            <a:pPr algn="l"/>
            <a:r>
              <a:rPr sz="1100" b="1" i="0">
                <a:solidFill>
                  <a:srgbClr val="0A2350"/>
                </a:solidFill>
              </a:rPr>
              <a:t>Besoins Fonctionnels et Non Fonctionnels</a:t>
            </a:r>
          </a:p>
        </p:txBody>
      </p:sp>
      <p:sp>
        <p:nvSpPr>
          <p:cNvPr id="25" name="TextBox 24"/>
          <p:cNvSpPr txBox="1"/>
          <p:nvPr/>
        </p:nvSpPr>
        <p:spPr>
          <a:xfrm>
            <a:off x="11340000" y="3283200"/>
            <a:ext cx="720000" cy="306000"/>
          </a:xfrm>
          <a:prstGeom prst="rect">
            <a:avLst/>
          </a:prstGeom>
          <a:noFill/>
        </p:spPr>
        <p:txBody>
          <a:bodyPr wrap="square">
            <a:spAutoFit/>
          </a:bodyPr>
          <a:lstStyle/>
          <a:p>
            <a:pPr algn="r"/>
            <a:r>
              <a:rPr sz="1300" b="1" i="0">
                <a:solidFill>
                  <a:srgbClr val="B88E4C"/>
                </a:solidFill>
              </a:rPr>
              <a:t>7</a:t>
            </a:r>
          </a:p>
        </p:txBody>
      </p:sp>
      <p:sp>
        <p:nvSpPr>
          <p:cNvPr id="26" name="Rectangle 25"/>
          <p:cNvSpPr/>
          <p:nvPr/>
        </p:nvSpPr>
        <p:spPr>
          <a:xfrm>
            <a:off x="4500000" y="3560400"/>
            <a:ext cx="7380000" cy="10800"/>
          </a:xfrm>
          <a:prstGeom prst="rect">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00000" y="3632400"/>
            <a:ext cx="6300000" cy="306000"/>
          </a:xfrm>
          <a:prstGeom prst="rect">
            <a:avLst/>
          </a:prstGeom>
          <a:noFill/>
        </p:spPr>
        <p:txBody>
          <a:bodyPr wrap="square">
            <a:spAutoFit/>
          </a:bodyPr>
          <a:lstStyle/>
          <a:p>
            <a:pPr algn="l"/>
            <a:r>
              <a:rPr sz="1100" b="1" i="0">
                <a:solidFill>
                  <a:srgbClr val="0A2350"/>
                </a:solidFill>
              </a:rPr>
              <a:t>Architecture du système</a:t>
            </a:r>
          </a:p>
        </p:txBody>
      </p:sp>
      <p:sp>
        <p:nvSpPr>
          <p:cNvPr id="28" name="TextBox 27"/>
          <p:cNvSpPr txBox="1"/>
          <p:nvPr/>
        </p:nvSpPr>
        <p:spPr>
          <a:xfrm>
            <a:off x="11340000" y="3632400"/>
            <a:ext cx="720000" cy="306000"/>
          </a:xfrm>
          <a:prstGeom prst="rect">
            <a:avLst/>
          </a:prstGeom>
          <a:noFill/>
        </p:spPr>
        <p:txBody>
          <a:bodyPr wrap="square">
            <a:spAutoFit/>
          </a:bodyPr>
          <a:lstStyle/>
          <a:p>
            <a:pPr algn="r"/>
            <a:r>
              <a:rPr sz="1300" b="1" i="0">
                <a:solidFill>
                  <a:srgbClr val="B88E4C"/>
                </a:solidFill>
              </a:rPr>
              <a:t>8</a:t>
            </a:r>
          </a:p>
        </p:txBody>
      </p:sp>
      <p:sp>
        <p:nvSpPr>
          <p:cNvPr id="29" name="Rectangle 28"/>
          <p:cNvSpPr/>
          <p:nvPr/>
        </p:nvSpPr>
        <p:spPr>
          <a:xfrm>
            <a:off x="4500000" y="3909600"/>
            <a:ext cx="7380000" cy="10800"/>
          </a:xfrm>
          <a:prstGeom prst="rect">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00000" y="3981599"/>
            <a:ext cx="6300000" cy="306000"/>
          </a:xfrm>
          <a:prstGeom prst="rect">
            <a:avLst/>
          </a:prstGeom>
          <a:noFill/>
        </p:spPr>
        <p:txBody>
          <a:bodyPr wrap="square">
            <a:spAutoFit/>
          </a:bodyPr>
          <a:lstStyle/>
          <a:p>
            <a:pPr algn="l"/>
            <a:r>
              <a:rPr sz="1100" b="1" i="0">
                <a:solidFill>
                  <a:srgbClr val="0A2350"/>
                </a:solidFill>
              </a:rPr>
              <a:t>Méthodologie</a:t>
            </a:r>
          </a:p>
        </p:txBody>
      </p:sp>
      <p:sp>
        <p:nvSpPr>
          <p:cNvPr id="31" name="TextBox 30"/>
          <p:cNvSpPr txBox="1"/>
          <p:nvPr/>
        </p:nvSpPr>
        <p:spPr>
          <a:xfrm>
            <a:off x="11340000" y="3981599"/>
            <a:ext cx="720000" cy="306000"/>
          </a:xfrm>
          <a:prstGeom prst="rect">
            <a:avLst/>
          </a:prstGeom>
          <a:noFill/>
        </p:spPr>
        <p:txBody>
          <a:bodyPr wrap="square">
            <a:spAutoFit/>
          </a:bodyPr>
          <a:lstStyle/>
          <a:p>
            <a:pPr algn="r"/>
            <a:r>
              <a:rPr sz="1300" b="1" i="0">
                <a:solidFill>
                  <a:srgbClr val="B88E4C"/>
                </a:solidFill>
              </a:rPr>
              <a:t>9</a:t>
            </a:r>
          </a:p>
        </p:txBody>
      </p:sp>
      <p:sp>
        <p:nvSpPr>
          <p:cNvPr id="32" name="Rectangle 31"/>
          <p:cNvSpPr/>
          <p:nvPr/>
        </p:nvSpPr>
        <p:spPr>
          <a:xfrm>
            <a:off x="4500000" y="4258799"/>
            <a:ext cx="7380000" cy="10800"/>
          </a:xfrm>
          <a:prstGeom prst="rect">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00000" y="4330800"/>
            <a:ext cx="6300000" cy="306000"/>
          </a:xfrm>
          <a:prstGeom prst="rect">
            <a:avLst/>
          </a:prstGeom>
          <a:noFill/>
        </p:spPr>
        <p:txBody>
          <a:bodyPr wrap="square">
            <a:spAutoFit/>
          </a:bodyPr>
          <a:lstStyle/>
          <a:p>
            <a:pPr algn="l"/>
            <a:r>
              <a:rPr sz="1100" b="1" i="0">
                <a:solidFill>
                  <a:srgbClr val="0A2350"/>
                </a:solidFill>
              </a:rPr>
              <a:t>Cas d'utilisation</a:t>
            </a:r>
          </a:p>
        </p:txBody>
      </p:sp>
      <p:sp>
        <p:nvSpPr>
          <p:cNvPr id="34" name="TextBox 33"/>
          <p:cNvSpPr txBox="1"/>
          <p:nvPr/>
        </p:nvSpPr>
        <p:spPr>
          <a:xfrm>
            <a:off x="11340000" y="4330800"/>
            <a:ext cx="720000" cy="306000"/>
          </a:xfrm>
          <a:prstGeom prst="rect">
            <a:avLst/>
          </a:prstGeom>
          <a:noFill/>
        </p:spPr>
        <p:txBody>
          <a:bodyPr wrap="square">
            <a:spAutoFit/>
          </a:bodyPr>
          <a:lstStyle/>
          <a:p>
            <a:pPr algn="r"/>
            <a:r>
              <a:rPr sz="1300" b="1" i="0">
                <a:solidFill>
                  <a:srgbClr val="B88E4C"/>
                </a:solidFill>
              </a:rPr>
              <a:t>10</a:t>
            </a:r>
          </a:p>
        </p:txBody>
      </p:sp>
      <p:sp>
        <p:nvSpPr>
          <p:cNvPr id="35" name="Rectangle 34"/>
          <p:cNvSpPr/>
          <p:nvPr/>
        </p:nvSpPr>
        <p:spPr>
          <a:xfrm>
            <a:off x="4500000" y="4608000"/>
            <a:ext cx="7380000" cy="10800"/>
          </a:xfrm>
          <a:prstGeom prst="rect">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00000" y="4680000"/>
            <a:ext cx="6300000" cy="306000"/>
          </a:xfrm>
          <a:prstGeom prst="rect">
            <a:avLst/>
          </a:prstGeom>
          <a:noFill/>
        </p:spPr>
        <p:txBody>
          <a:bodyPr wrap="square">
            <a:spAutoFit/>
          </a:bodyPr>
          <a:lstStyle/>
          <a:p>
            <a:pPr algn="l"/>
            <a:r>
              <a:rPr sz="1100" b="1" i="0">
                <a:solidFill>
                  <a:srgbClr val="0A2350"/>
                </a:solidFill>
              </a:rPr>
              <a:t>Technologies utilisées</a:t>
            </a:r>
          </a:p>
        </p:txBody>
      </p:sp>
      <p:sp>
        <p:nvSpPr>
          <p:cNvPr id="37" name="TextBox 36"/>
          <p:cNvSpPr txBox="1"/>
          <p:nvPr/>
        </p:nvSpPr>
        <p:spPr>
          <a:xfrm>
            <a:off x="11340000" y="4680000"/>
            <a:ext cx="720000" cy="306000"/>
          </a:xfrm>
          <a:prstGeom prst="rect">
            <a:avLst/>
          </a:prstGeom>
          <a:noFill/>
        </p:spPr>
        <p:txBody>
          <a:bodyPr wrap="square">
            <a:spAutoFit/>
          </a:bodyPr>
          <a:lstStyle/>
          <a:p>
            <a:pPr algn="r"/>
            <a:r>
              <a:rPr sz="1300" b="1" i="0">
                <a:solidFill>
                  <a:srgbClr val="B88E4C"/>
                </a:solidFill>
              </a:rPr>
              <a:t>11</a:t>
            </a:r>
          </a:p>
        </p:txBody>
      </p:sp>
      <p:sp>
        <p:nvSpPr>
          <p:cNvPr id="38" name="Rectangle 37"/>
          <p:cNvSpPr/>
          <p:nvPr/>
        </p:nvSpPr>
        <p:spPr>
          <a:xfrm>
            <a:off x="4500000" y="4957200"/>
            <a:ext cx="7380000" cy="10800"/>
          </a:xfrm>
          <a:prstGeom prst="rect">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00000" y="5029200"/>
            <a:ext cx="6300000" cy="306000"/>
          </a:xfrm>
          <a:prstGeom prst="rect">
            <a:avLst/>
          </a:prstGeom>
          <a:noFill/>
        </p:spPr>
        <p:txBody>
          <a:bodyPr wrap="square">
            <a:spAutoFit/>
          </a:bodyPr>
          <a:lstStyle/>
          <a:p>
            <a:pPr algn="l"/>
            <a:r>
              <a:rPr sz="1100" b="1" i="0">
                <a:solidFill>
                  <a:srgbClr val="0A2350"/>
                </a:solidFill>
              </a:rPr>
              <a:t>Avancement actuel</a:t>
            </a:r>
          </a:p>
        </p:txBody>
      </p:sp>
      <p:sp>
        <p:nvSpPr>
          <p:cNvPr id="40" name="TextBox 39"/>
          <p:cNvSpPr txBox="1"/>
          <p:nvPr/>
        </p:nvSpPr>
        <p:spPr>
          <a:xfrm>
            <a:off x="11340000" y="5029200"/>
            <a:ext cx="720000" cy="306000"/>
          </a:xfrm>
          <a:prstGeom prst="rect">
            <a:avLst/>
          </a:prstGeom>
          <a:noFill/>
        </p:spPr>
        <p:txBody>
          <a:bodyPr wrap="square">
            <a:spAutoFit/>
          </a:bodyPr>
          <a:lstStyle/>
          <a:p>
            <a:pPr algn="r"/>
            <a:r>
              <a:rPr sz="1300" b="1" i="0">
                <a:solidFill>
                  <a:srgbClr val="B88E4C"/>
                </a:solidFill>
              </a:rPr>
              <a:t>12</a:t>
            </a:r>
          </a:p>
        </p:txBody>
      </p:sp>
      <p:sp>
        <p:nvSpPr>
          <p:cNvPr id="41" name="Rectangle 40"/>
          <p:cNvSpPr/>
          <p:nvPr/>
        </p:nvSpPr>
        <p:spPr>
          <a:xfrm>
            <a:off x="4500000" y="5306400"/>
            <a:ext cx="7380000" cy="10800"/>
          </a:xfrm>
          <a:prstGeom prst="rect">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00000" y="5378400"/>
            <a:ext cx="6300000" cy="306000"/>
          </a:xfrm>
          <a:prstGeom prst="rect">
            <a:avLst/>
          </a:prstGeom>
          <a:noFill/>
        </p:spPr>
        <p:txBody>
          <a:bodyPr wrap="square">
            <a:spAutoFit/>
          </a:bodyPr>
          <a:lstStyle/>
          <a:p>
            <a:pPr algn="l"/>
            <a:r>
              <a:rPr sz="1100" b="1" i="0">
                <a:solidFill>
                  <a:srgbClr val="0A2350"/>
                </a:solidFill>
              </a:rPr>
              <a:t>Conclusion</a:t>
            </a:r>
          </a:p>
        </p:txBody>
      </p:sp>
      <p:sp>
        <p:nvSpPr>
          <p:cNvPr id="43" name="TextBox 42"/>
          <p:cNvSpPr txBox="1"/>
          <p:nvPr/>
        </p:nvSpPr>
        <p:spPr>
          <a:xfrm>
            <a:off x="11340000" y="5378400"/>
            <a:ext cx="720000" cy="306000"/>
          </a:xfrm>
          <a:prstGeom prst="rect">
            <a:avLst/>
          </a:prstGeom>
          <a:noFill/>
        </p:spPr>
        <p:txBody>
          <a:bodyPr wrap="square">
            <a:spAutoFit/>
          </a:bodyPr>
          <a:lstStyle/>
          <a:p>
            <a:pPr algn="r"/>
            <a:r>
              <a:rPr sz="1300" b="1" i="0">
                <a:solidFill>
                  <a:srgbClr val="B88E4C"/>
                </a:solidFill>
              </a:rPr>
              <a:t>13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flipV="1">
            <a:off x="0" y="0"/>
            <a:ext cx="1512000" cy="1980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00000" y="251999"/>
            <a:ext cx="9720000" cy="684000"/>
          </a:xfrm>
          <a:prstGeom prst="rect">
            <a:avLst/>
          </a:prstGeom>
          <a:noFill/>
        </p:spPr>
        <p:txBody>
          <a:bodyPr wrap="square">
            <a:spAutoFit/>
          </a:bodyPr>
          <a:lstStyle/>
          <a:p>
            <a:pPr algn="l"/>
            <a:r>
              <a:rPr sz="2800" b="1" i="0">
                <a:solidFill>
                  <a:srgbClr val="0A2350"/>
                </a:solidFill>
              </a:rPr>
              <a:t>I. INTRODUCTION</a:t>
            </a:r>
          </a:p>
        </p:txBody>
      </p:sp>
      <p:sp>
        <p:nvSpPr>
          <p:cNvPr id="5" name="Rectangle 4"/>
          <p:cNvSpPr/>
          <p:nvPr/>
        </p:nvSpPr>
        <p:spPr>
          <a:xfrm>
            <a:off x="1800000" y="864000"/>
            <a:ext cx="1980000" cy="72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00000" y="1260000"/>
            <a:ext cx="5400000" cy="3600000"/>
          </a:xfrm>
          <a:prstGeom prst="rect">
            <a:avLst/>
          </a:prstGeom>
          <a:noFill/>
        </p:spPr>
        <p:txBody>
          <a:bodyPr wrap="square">
            <a:spAutoFit/>
          </a:bodyPr>
          <a:lstStyle/>
          <a:p>
            <a:pPr algn="l"/>
            <a:r>
              <a:rPr sz="2000" b="0" i="0">
                <a:solidFill>
                  <a:srgbClr val="0A2350"/>
                </a:solidFill>
              </a:rPr>
              <a:t>Ce projet présente la conception de TalentMatch, une plateforme de matching intelligente qui automatise la mise en correspondance entre candidats et offres d'emploi grâce à l'intelligence artificielle et au traitement du langage naturel (NLP).
TalentMatch analyse sémantiquement les CVs et les offres pour proposer un classement des candidats calibré et explicable, au-delà de la simple correspondance par mots-clés.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flipV="1">
            <a:off x="0" y="0"/>
            <a:ext cx="1512000" cy="1980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00000" y="251999"/>
            <a:ext cx="9720000" cy="684000"/>
          </a:xfrm>
          <a:prstGeom prst="rect">
            <a:avLst/>
          </a:prstGeom>
          <a:noFill/>
        </p:spPr>
        <p:txBody>
          <a:bodyPr wrap="square">
            <a:spAutoFit/>
          </a:bodyPr>
          <a:lstStyle/>
          <a:p>
            <a:pPr algn="l"/>
            <a:r>
              <a:rPr sz="2800" b="1" i="0">
                <a:solidFill>
                  <a:srgbClr val="0A2350"/>
                </a:solidFill>
              </a:rPr>
              <a:t>Projet de Stage — 3S</a:t>
            </a:r>
          </a:p>
        </p:txBody>
      </p:sp>
      <p:sp>
        <p:nvSpPr>
          <p:cNvPr id="5" name="Rectangle 4"/>
          <p:cNvSpPr/>
          <p:nvPr/>
        </p:nvSpPr>
        <p:spPr>
          <a:xfrm>
            <a:off x="1800000" y="864000"/>
            <a:ext cx="1980000" cy="72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00000" y="1260000"/>
            <a:ext cx="3960000" cy="2160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944000" y="1404000"/>
            <a:ext cx="3671999" cy="324000"/>
          </a:xfrm>
          <a:prstGeom prst="rect">
            <a:avLst/>
          </a:prstGeom>
          <a:noFill/>
        </p:spPr>
        <p:txBody>
          <a:bodyPr wrap="square">
            <a:spAutoFit/>
          </a:bodyPr>
          <a:lstStyle/>
          <a:p>
            <a:pPr algn="ctr"/>
            <a:r>
              <a:rPr sz="1300" b="0" i="0">
                <a:solidFill>
                  <a:srgbClr val="E8E8E8"/>
                </a:solidFill>
              </a:rPr>
              <a:t>Encadrante société</a:t>
            </a:r>
          </a:p>
        </p:txBody>
      </p:sp>
      <p:sp>
        <p:nvSpPr>
          <p:cNvPr id="8" name="TextBox 7"/>
          <p:cNvSpPr txBox="1"/>
          <p:nvPr/>
        </p:nvSpPr>
        <p:spPr>
          <a:xfrm>
            <a:off x="1944000" y="1674000"/>
            <a:ext cx="3671999" cy="324000"/>
          </a:xfrm>
          <a:prstGeom prst="rect">
            <a:avLst/>
          </a:prstGeom>
          <a:noFill/>
        </p:spPr>
        <p:txBody>
          <a:bodyPr wrap="square">
            <a:spAutoFit/>
          </a:bodyPr>
          <a:lstStyle/>
          <a:p>
            <a:pPr algn="ctr"/>
            <a:r>
              <a:rPr sz="1500" b="1" i="0">
                <a:solidFill>
                  <a:srgbClr val="FFFFFF"/>
                </a:solidFill>
              </a:rPr>
              <a:t>Mme Sirine Nasri</a:t>
            </a:r>
          </a:p>
        </p:txBody>
      </p:sp>
      <p:sp>
        <p:nvSpPr>
          <p:cNvPr id="9" name="TextBox 8"/>
          <p:cNvSpPr txBox="1"/>
          <p:nvPr/>
        </p:nvSpPr>
        <p:spPr>
          <a:xfrm>
            <a:off x="1944000" y="2088000"/>
            <a:ext cx="3671999" cy="324000"/>
          </a:xfrm>
          <a:prstGeom prst="rect">
            <a:avLst/>
          </a:prstGeom>
          <a:noFill/>
        </p:spPr>
        <p:txBody>
          <a:bodyPr wrap="square">
            <a:spAutoFit/>
          </a:bodyPr>
          <a:lstStyle/>
          <a:p>
            <a:pPr algn="ctr"/>
            <a:r>
              <a:rPr sz="1300" b="0" i="0">
                <a:solidFill>
                  <a:srgbClr val="E8E8E8"/>
                </a:solidFill>
              </a:rPr>
              <a:t>Encadrante académique</a:t>
            </a:r>
          </a:p>
        </p:txBody>
      </p:sp>
      <p:sp>
        <p:nvSpPr>
          <p:cNvPr id="10" name="TextBox 9"/>
          <p:cNvSpPr txBox="1"/>
          <p:nvPr/>
        </p:nvSpPr>
        <p:spPr>
          <a:xfrm>
            <a:off x="1944000" y="2358000"/>
            <a:ext cx="3671999" cy="324000"/>
          </a:xfrm>
          <a:prstGeom prst="rect">
            <a:avLst/>
          </a:prstGeom>
          <a:noFill/>
        </p:spPr>
        <p:txBody>
          <a:bodyPr wrap="square">
            <a:spAutoFit/>
          </a:bodyPr>
          <a:lstStyle/>
          <a:p>
            <a:pPr algn="ctr"/>
            <a:r>
              <a:rPr sz="1500" b="1" i="0">
                <a:solidFill>
                  <a:srgbClr val="FFFFFF"/>
                </a:solidFill>
              </a:rPr>
              <a:t>Mme Loujayne Bouzarti</a:t>
            </a:r>
          </a:p>
        </p:txBody>
      </p:sp>
      <p:sp>
        <p:nvSpPr>
          <p:cNvPr id="11" name="TextBox 10"/>
          <p:cNvSpPr txBox="1"/>
          <p:nvPr/>
        </p:nvSpPr>
        <p:spPr>
          <a:xfrm>
            <a:off x="1944000" y="2772000"/>
            <a:ext cx="3671999" cy="324000"/>
          </a:xfrm>
          <a:prstGeom prst="rect">
            <a:avLst/>
          </a:prstGeom>
          <a:noFill/>
        </p:spPr>
        <p:txBody>
          <a:bodyPr wrap="square">
            <a:spAutoFit/>
          </a:bodyPr>
          <a:lstStyle/>
          <a:p>
            <a:pPr algn="ctr"/>
            <a:r>
              <a:rPr sz="1300" b="0" i="0">
                <a:solidFill>
                  <a:srgbClr val="E8E8E8"/>
                </a:solidFill>
              </a:rPr>
              <a:t>Tunis, Tunisie  •  Fév – Août 2026</a:t>
            </a:r>
          </a:p>
        </p:txBody>
      </p:sp>
      <p:sp>
        <p:nvSpPr>
          <p:cNvPr id="12" name="TextBox 11"/>
          <p:cNvSpPr txBox="1"/>
          <p:nvPr/>
        </p:nvSpPr>
        <p:spPr>
          <a:xfrm>
            <a:off x="6300000" y="1512000"/>
            <a:ext cx="5580000" cy="756000"/>
          </a:xfrm>
          <a:prstGeom prst="rect">
            <a:avLst/>
          </a:prstGeom>
          <a:noFill/>
        </p:spPr>
        <p:txBody>
          <a:bodyPr wrap="square">
            <a:spAutoFit/>
          </a:bodyPr>
          <a:lstStyle/>
          <a:p>
            <a:pPr algn="l"/>
            <a:r>
              <a:rPr sz="1200" b="0" i="0">
                <a:solidFill>
                  <a:srgbClr val="191919"/>
                </a:solidFill>
              </a:rPr>
              <a:t>•  3S est un acteur clé dans les solutions RH et IT en Tunisie, accompagnant les entreprises dans leur transformation digitale.</a:t>
            </a:r>
          </a:p>
        </p:txBody>
      </p:sp>
      <p:sp>
        <p:nvSpPr>
          <p:cNvPr id="13" name="TextBox 12"/>
          <p:cNvSpPr txBox="1"/>
          <p:nvPr/>
        </p:nvSpPr>
        <p:spPr>
          <a:xfrm>
            <a:off x="6300000" y="2340000"/>
            <a:ext cx="5580000" cy="756000"/>
          </a:xfrm>
          <a:prstGeom prst="rect">
            <a:avLst/>
          </a:prstGeom>
          <a:noFill/>
        </p:spPr>
        <p:txBody>
          <a:bodyPr wrap="square">
            <a:spAutoFit/>
          </a:bodyPr>
          <a:lstStyle/>
          <a:p>
            <a:pPr algn="l"/>
            <a:r>
              <a:rPr sz="1200" b="0" i="0">
                <a:solidFill>
                  <a:srgbClr val="191919"/>
                </a:solidFill>
              </a:rPr>
              <a:t>•  Expertise en développement de logiciels sur mesure, gestion des ressources humaines et conseil en systèmes d'information.</a:t>
            </a:r>
          </a:p>
        </p:txBody>
      </p:sp>
      <p:sp>
        <p:nvSpPr>
          <p:cNvPr id="14" name="TextBox 13"/>
          <p:cNvSpPr txBox="1"/>
          <p:nvPr/>
        </p:nvSpPr>
        <p:spPr>
          <a:xfrm>
            <a:off x="6300000" y="3168000"/>
            <a:ext cx="5580000" cy="756000"/>
          </a:xfrm>
          <a:prstGeom prst="rect">
            <a:avLst/>
          </a:prstGeom>
          <a:noFill/>
        </p:spPr>
        <p:txBody>
          <a:bodyPr wrap="square">
            <a:spAutoFit/>
          </a:bodyPr>
          <a:lstStyle/>
          <a:p>
            <a:pPr algn="l"/>
            <a:r>
              <a:rPr sz="1200" b="0" i="0">
                <a:solidFill>
                  <a:srgbClr val="191919"/>
                </a:solidFill>
              </a:rPr>
              <a:t>•  Culture d'innovation axée sur la qualité, la sécurité et l'excellence opérationnelle au service de ses clients.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flipV="1">
            <a:off x="0" y="0"/>
            <a:ext cx="1512000" cy="1980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00000" y="251999"/>
            <a:ext cx="9720000" cy="684000"/>
          </a:xfrm>
          <a:prstGeom prst="rect">
            <a:avLst/>
          </a:prstGeom>
          <a:noFill/>
        </p:spPr>
        <p:txBody>
          <a:bodyPr wrap="square">
            <a:spAutoFit/>
          </a:bodyPr>
          <a:lstStyle/>
          <a:p>
            <a:pPr algn="l"/>
            <a:r>
              <a:rPr sz="2800" b="1" i="0">
                <a:solidFill>
                  <a:srgbClr val="0A2350"/>
                </a:solidFill>
              </a:rPr>
              <a:t>Étude de l'existant</a:t>
            </a:r>
          </a:p>
        </p:txBody>
      </p:sp>
      <p:sp>
        <p:nvSpPr>
          <p:cNvPr id="5" name="Rectangle 4"/>
          <p:cNvSpPr/>
          <p:nvPr/>
        </p:nvSpPr>
        <p:spPr>
          <a:xfrm>
            <a:off x="1800000" y="864000"/>
            <a:ext cx="1980000" cy="72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00000" y="1260000"/>
            <a:ext cx="6120000" cy="3960000"/>
          </a:xfrm>
          <a:prstGeom prst="rect">
            <a:avLst/>
          </a:prstGeom>
          <a:noFill/>
        </p:spPr>
        <p:txBody>
          <a:bodyPr wrap="square">
            <a:spAutoFit/>
          </a:bodyPr>
          <a:lstStyle/>
          <a:p>
            <a:pPr algn="l"/>
            <a:r>
              <a:rPr sz="1800" b="0" i="0">
                <a:solidFill>
                  <a:srgbClr val="191919"/>
                </a:solidFill>
              </a:rPr>
              <a:t>Les plateformes de recrutement existantes (LinkedIn, Indeed, ANAPEC) reposent sur une recherche par mots-clés sans compréhension sémantique des profils. Elles ne fournissent aucun score de pertinence expliqué ni classement automatique des candidats.
Cette fragmentation entraîne une analyse manuelle chronophage, de nombreux faux positifs et des profils adaptés laissés de côté, ce qui freine l'efficacité du recrutement.</a:t>
            </a:r>
          </a:p>
        </p:txBody>
      </p:sp>
      <p:sp>
        <p:nvSpPr>
          <p:cNvPr id="7" name="Oval 6"/>
          <p:cNvSpPr/>
          <p:nvPr/>
        </p:nvSpPr>
        <p:spPr>
          <a:xfrm>
            <a:off x="9720000" y="1800000"/>
            <a:ext cx="900000" cy="900000"/>
          </a:xfrm>
          <a:prstGeom prst="ellipse">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800000" y="1800000"/>
            <a:ext cx="900000" cy="900000"/>
          </a:xfrm>
          <a:prstGeom prst="ellipse">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720000" y="3240000"/>
            <a:ext cx="900000" cy="900000"/>
          </a:xfrm>
          <a:prstGeom prst="ellipse">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800000" y="3240000"/>
            <a:ext cx="900000" cy="900000"/>
          </a:xfrm>
          <a:prstGeom prst="ellipse">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260000" y="2520000"/>
            <a:ext cx="900000" cy="900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flipV="1">
            <a:off x="0" y="0"/>
            <a:ext cx="1512000" cy="1980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00000" y="251999"/>
            <a:ext cx="9720000" cy="684000"/>
          </a:xfrm>
          <a:prstGeom prst="rect">
            <a:avLst/>
          </a:prstGeom>
          <a:noFill/>
        </p:spPr>
        <p:txBody>
          <a:bodyPr wrap="square">
            <a:spAutoFit/>
          </a:bodyPr>
          <a:lstStyle/>
          <a:p>
            <a:pPr algn="l"/>
            <a:r>
              <a:rPr sz="2800" b="1" i="0">
                <a:solidFill>
                  <a:srgbClr val="0A2350"/>
                </a:solidFill>
              </a:rPr>
              <a:t>Problématique</a:t>
            </a:r>
          </a:p>
        </p:txBody>
      </p:sp>
      <p:sp>
        <p:nvSpPr>
          <p:cNvPr id="5" name="Rectangle 4"/>
          <p:cNvSpPr/>
          <p:nvPr/>
        </p:nvSpPr>
        <p:spPr>
          <a:xfrm>
            <a:off x="1800000" y="864000"/>
            <a:ext cx="1980000" cy="72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00000" y="1260000"/>
            <a:ext cx="6120000" cy="3960000"/>
          </a:xfrm>
          <a:prstGeom prst="rect">
            <a:avLst/>
          </a:prstGeom>
          <a:noFill/>
        </p:spPr>
        <p:txBody>
          <a:bodyPr wrap="square">
            <a:spAutoFit/>
          </a:bodyPr>
          <a:lstStyle/>
          <a:p>
            <a:pPr algn="l"/>
            <a:r>
              <a:rPr sz="1800" b="0" i="0">
                <a:solidFill>
                  <a:srgbClr val="191919"/>
                </a:solidFill>
              </a:rPr>
              <a:t>Le recrutement actuel souffre d'un volume croissant de candidatures traitées manuellement, sans analyse sémantique du profil. Un recruteur consulte un CV en moyenne 23 secondes, générant de nombreux faux positifs et des profils adaptés ignorés.
Cette gestion fragmentée empêche une réactivité optimale et retarde considérablement la mise en relation entre candidats et recruteurs.
Comment faire correspondre intelligemment un candidat à une offre, au-delà de la simple recherche par mots-clés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flipV="1">
            <a:off x="0" y="0"/>
            <a:ext cx="1512000" cy="1980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00000" y="251999"/>
            <a:ext cx="9720000" cy="684000"/>
          </a:xfrm>
          <a:prstGeom prst="rect">
            <a:avLst/>
          </a:prstGeom>
          <a:noFill/>
        </p:spPr>
        <p:txBody>
          <a:bodyPr wrap="square">
            <a:spAutoFit/>
          </a:bodyPr>
          <a:lstStyle/>
          <a:p>
            <a:pPr algn="l"/>
            <a:r>
              <a:rPr sz="2800" b="1" i="0">
                <a:solidFill>
                  <a:srgbClr val="0A2350"/>
                </a:solidFill>
              </a:rPr>
              <a:t>Les défis</a:t>
            </a:r>
          </a:p>
        </p:txBody>
      </p:sp>
      <p:sp>
        <p:nvSpPr>
          <p:cNvPr id="5" name="Rectangle 4"/>
          <p:cNvSpPr/>
          <p:nvPr/>
        </p:nvSpPr>
        <p:spPr>
          <a:xfrm>
            <a:off x="1800000" y="864000"/>
            <a:ext cx="1980000" cy="72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miley Face 5"/>
          <p:cNvSpPr/>
          <p:nvPr/>
        </p:nvSpPr>
        <p:spPr>
          <a:xfrm>
            <a:off x="1620000" y="1368000"/>
            <a:ext cx="3420000" cy="2700000"/>
          </a:xfrm>
          <a:prstGeom prst="smileyFace">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2880000" y="1512000"/>
            <a:ext cx="900000" cy="900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00000" y="2520000"/>
            <a:ext cx="3060000" cy="432000"/>
          </a:xfrm>
          <a:prstGeom prst="rect">
            <a:avLst/>
          </a:prstGeom>
          <a:noFill/>
        </p:spPr>
        <p:txBody>
          <a:bodyPr wrap="square">
            <a:spAutoFit/>
          </a:bodyPr>
          <a:lstStyle/>
          <a:p>
            <a:pPr algn="l"/>
            <a:r>
              <a:rPr sz="1300" b="1" i="0">
                <a:solidFill>
                  <a:srgbClr val="0A2350"/>
                </a:solidFill>
              </a:rPr>
              <a:t>Extraction &amp; Parsing NLP</a:t>
            </a:r>
          </a:p>
        </p:txBody>
      </p:sp>
      <p:sp>
        <p:nvSpPr>
          <p:cNvPr id="9" name="TextBox 8"/>
          <p:cNvSpPr txBox="1"/>
          <p:nvPr/>
        </p:nvSpPr>
        <p:spPr>
          <a:xfrm>
            <a:off x="1800000" y="2916000"/>
            <a:ext cx="3060000" cy="1080000"/>
          </a:xfrm>
          <a:prstGeom prst="rect">
            <a:avLst/>
          </a:prstGeom>
          <a:noFill/>
        </p:spPr>
        <p:txBody>
          <a:bodyPr wrap="square">
            <a:spAutoFit/>
          </a:bodyPr>
          <a:lstStyle/>
          <a:p>
            <a:pPr algn="l"/>
            <a:r>
              <a:rPr sz="1100" b="0" i="0">
                <a:solidFill>
                  <a:srgbClr val="191919"/>
                </a:solidFill>
              </a:rPr>
              <a:t>Structurer automatiquement les informations depuis des CVs hétérogènes (PDF, DOCX, images scannées) via spaCy et OCR.</a:t>
            </a:r>
          </a:p>
        </p:txBody>
      </p:sp>
      <p:sp>
        <p:nvSpPr>
          <p:cNvPr id="10" name="Smiley Face 9"/>
          <p:cNvSpPr/>
          <p:nvPr/>
        </p:nvSpPr>
        <p:spPr>
          <a:xfrm>
            <a:off x="5292000" y="1368000"/>
            <a:ext cx="3420000" cy="2700000"/>
          </a:xfrm>
          <a:prstGeom prst="smileyFace">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52000" y="1512000"/>
            <a:ext cx="900000" cy="900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72000" y="2520000"/>
            <a:ext cx="3060000" cy="432000"/>
          </a:xfrm>
          <a:prstGeom prst="rect">
            <a:avLst/>
          </a:prstGeom>
          <a:noFill/>
        </p:spPr>
        <p:txBody>
          <a:bodyPr wrap="square">
            <a:spAutoFit/>
          </a:bodyPr>
          <a:lstStyle/>
          <a:p>
            <a:pPr algn="l"/>
            <a:r>
              <a:rPr sz="1300" b="1" i="0">
                <a:solidFill>
                  <a:srgbClr val="0A2350"/>
                </a:solidFill>
              </a:rPr>
              <a:t>Matching sémantique</a:t>
            </a:r>
          </a:p>
        </p:txBody>
      </p:sp>
      <p:sp>
        <p:nvSpPr>
          <p:cNvPr id="13" name="TextBox 12"/>
          <p:cNvSpPr txBox="1"/>
          <p:nvPr/>
        </p:nvSpPr>
        <p:spPr>
          <a:xfrm>
            <a:off x="5472000" y="2916000"/>
            <a:ext cx="3060000" cy="1080000"/>
          </a:xfrm>
          <a:prstGeom prst="rect">
            <a:avLst/>
          </a:prstGeom>
          <a:noFill/>
        </p:spPr>
        <p:txBody>
          <a:bodyPr wrap="square">
            <a:spAutoFit/>
          </a:bodyPr>
          <a:lstStyle/>
          <a:p>
            <a:pPr algn="l"/>
            <a:r>
              <a:rPr sz="1100" b="0" i="0">
                <a:solidFill>
                  <a:srgbClr val="191919"/>
                </a:solidFill>
              </a:rPr>
              <a:t>Aller au-delà des mots-clés pour comprendre la pertinence réelle d'un profil grâce à BGE-M3 et Cross-Encoder reranker.</a:t>
            </a:r>
          </a:p>
        </p:txBody>
      </p:sp>
      <p:sp>
        <p:nvSpPr>
          <p:cNvPr id="14" name="Smiley Face 13"/>
          <p:cNvSpPr/>
          <p:nvPr/>
        </p:nvSpPr>
        <p:spPr>
          <a:xfrm>
            <a:off x="8964000" y="1368000"/>
            <a:ext cx="3420000" cy="2700000"/>
          </a:xfrm>
          <a:prstGeom prst="smileyFace">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224000" y="1512000"/>
            <a:ext cx="900000" cy="900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0" y="2520000"/>
            <a:ext cx="3060000" cy="432000"/>
          </a:xfrm>
          <a:prstGeom prst="rect">
            <a:avLst/>
          </a:prstGeom>
          <a:noFill/>
        </p:spPr>
        <p:txBody>
          <a:bodyPr wrap="square">
            <a:spAutoFit/>
          </a:bodyPr>
          <a:lstStyle/>
          <a:p>
            <a:pPr algn="l"/>
            <a:r>
              <a:rPr sz="1300" b="1" i="0">
                <a:solidFill>
                  <a:srgbClr val="0A2350"/>
                </a:solidFill>
              </a:rPr>
              <a:t>Explainabilité du score</a:t>
            </a:r>
          </a:p>
        </p:txBody>
      </p:sp>
      <p:sp>
        <p:nvSpPr>
          <p:cNvPr id="17" name="TextBox 16"/>
          <p:cNvSpPr txBox="1"/>
          <p:nvPr/>
        </p:nvSpPr>
        <p:spPr>
          <a:xfrm>
            <a:off x="9144000" y="2916000"/>
            <a:ext cx="3060000" cy="1080000"/>
          </a:xfrm>
          <a:prstGeom prst="rect">
            <a:avLst/>
          </a:prstGeom>
          <a:noFill/>
        </p:spPr>
        <p:txBody>
          <a:bodyPr wrap="square">
            <a:spAutoFit/>
          </a:bodyPr>
          <a:lstStyle/>
          <a:p>
            <a:pPr algn="l"/>
            <a:r>
              <a:rPr sz="1100" b="0" i="0">
                <a:solidFill>
                  <a:srgbClr val="191919"/>
                </a:solidFill>
              </a:rPr>
              <a:t>Fournir un résultat transparent, détaillé et actionnable pour le recruteur via la formule calibrée v5 (40/25/20/15 %).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flipV="1">
            <a:off x="0" y="0"/>
            <a:ext cx="1512000" cy="1980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00000" y="251999"/>
            <a:ext cx="9720000" cy="684000"/>
          </a:xfrm>
          <a:prstGeom prst="rect">
            <a:avLst/>
          </a:prstGeom>
          <a:noFill/>
        </p:spPr>
        <p:txBody>
          <a:bodyPr wrap="square">
            <a:spAutoFit/>
          </a:bodyPr>
          <a:lstStyle/>
          <a:p>
            <a:pPr algn="l"/>
            <a:r>
              <a:rPr sz="2800" b="1" i="0">
                <a:solidFill>
                  <a:srgbClr val="0A2350"/>
                </a:solidFill>
              </a:rPr>
              <a:t>Notre solution</a:t>
            </a:r>
          </a:p>
        </p:txBody>
      </p:sp>
      <p:sp>
        <p:nvSpPr>
          <p:cNvPr id="5" name="Rectangle 4"/>
          <p:cNvSpPr/>
          <p:nvPr/>
        </p:nvSpPr>
        <p:spPr>
          <a:xfrm>
            <a:off x="1800000" y="864000"/>
            <a:ext cx="1980000" cy="72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00000" y="1440000"/>
            <a:ext cx="3420000" cy="1368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ight Triangle 6"/>
          <p:cNvSpPr/>
          <p:nvPr/>
        </p:nvSpPr>
        <p:spPr>
          <a:xfrm flipH="1">
            <a:off x="5220000" y="1440000"/>
            <a:ext cx="720000" cy="1368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44000" y="1728000"/>
            <a:ext cx="720000" cy="792000"/>
          </a:xfrm>
          <a:prstGeom prst="rect">
            <a:avLst/>
          </a:prstGeom>
          <a:noFill/>
        </p:spPr>
        <p:txBody>
          <a:bodyPr wrap="square">
            <a:spAutoFit/>
          </a:bodyPr>
          <a:lstStyle/>
          <a:p>
            <a:pPr algn="ctr"/>
            <a:r>
              <a:rPr sz="3000" b="1" i="0">
                <a:solidFill>
                  <a:srgbClr val="FFFFFF"/>
                </a:solidFill>
              </a:rPr>
              <a:t>1</a:t>
            </a:r>
          </a:p>
        </p:txBody>
      </p:sp>
      <p:sp>
        <p:nvSpPr>
          <p:cNvPr id="9" name="TextBox 8"/>
          <p:cNvSpPr txBox="1"/>
          <p:nvPr/>
        </p:nvSpPr>
        <p:spPr>
          <a:xfrm>
            <a:off x="2772000" y="1691999"/>
            <a:ext cx="2520000" cy="900000"/>
          </a:xfrm>
          <a:prstGeom prst="rect">
            <a:avLst/>
          </a:prstGeom>
          <a:noFill/>
        </p:spPr>
        <p:txBody>
          <a:bodyPr wrap="square">
            <a:spAutoFit/>
          </a:bodyPr>
          <a:lstStyle/>
          <a:p>
            <a:pPr algn="l"/>
            <a:r>
              <a:rPr sz="1200" b="1" i="0">
                <a:solidFill>
                  <a:srgbClr val="FFFFFF"/>
                </a:solidFill>
              </a:rPr>
              <a:t>Extraction automatique des CVs
(PDF · DOCX · OCR)</a:t>
            </a:r>
          </a:p>
        </p:txBody>
      </p:sp>
      <p:sp>
        <p:nvSpPr>
          <p:cNvPr id="10" name="Rectangle 9"/>
          <p:cNvSpPr/>
          <p:nvPr/>
        </p:nvSpPr>
        <p:spPr>
          <a:xfrm>
            <a:off x="6480000" y="1440000"/>
            <a:ext cx="3420000" cy="1368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Triangle 10"/>
          <p:cNvSpPr/>
          <p:nvPr/>
        </p:nvSpPr>
        <p:spPr>
          <a:xfrm flipH="1">
            <a:off x="9900000" y="1440000"/>
            <a:ext cx="720000" cy="1368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24000" y="1728000"/>
            <a:ext cx="720000" cy="792000"/>
          </a:xfrm>
          <a:prstGeom prst="rect">
            <a:avLst/>
          </a:prstGeom>
          <a:noFill/>
        </p:spPr>
        <p:txBody>
          <a:bodyPr wrap="square">
            <a:spAutoFit/>
          </a:bodyPr>
          <a:lstStyle/>
          <a:p>
            <a:pPr algn="ctr"/>
            <a:r>
              <a:rPr sz="3000" b="1" i="0">
                <a:solidFill>
                  <a:srgbClr val="FFFFFF"/>
                </a:solidFill>
              </a:rPr>
              <a:t>3</a:t>
            </a:r>
          </a:p>
        </p:txBody>
      </p:sp>
      <p:sp>
        <p:nvSpPr>
          <p:cNvPr id="13" name="TextBox 12"/>
          <p:cNvSpPr txBox="1"/>
          <p:nvPr/>
        </p:nvSpPr>
        <p:spPr>
          <a:xfrm>
            <a:off x="7452000" y="1691999"/>
            <a:ext cx="2520000" cy="900000"/>
          </a:xfrm>
          <a:prstGeom prst="rect">
            <a:avLst/>
          </a:prstGeom>
          <a:noFill/>
        </p:spPr>
        <p:txBody>
          <a:bodyPr wrap="square">
            <a:spAutoFit/>
          </a:bodyPr>
          <a:lstStyle/>
          <a:p>
            <a:pPr algn="l"/>
            <a:r>
              <a:rPr sz="1200" b="1" i="0">
                <a:solidFill>
                  <a:srgbClr val="FFFFFF"/>
                </a:solidFill>
              </a:rPr>
              <a:t>Scoring IA
(BGE-M3 + Cross-Encoder)</a:t>
            </a:r>
          </a:p>
        </p:txBody>
      </p:sp>
      <p:sp>
        <p:nvSpPr>
          <p:cNvPr id="14" name="Rectangle 13"/>
          <p:cNvSpPr/>
          <p:nvPr/>
        </p:nvSpPr>
        <p:spPr>
          <a:xfrm>
            <a:off x="1800000" y="3311999"/>
            <a:ext cx="3420000" cy="1368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ight Triangle 14"/>
          <p:cNvSpPr/>
          <p:nvPr/>
        </p:nvSpPr>
        <p:spPr>
          <a:xfrm flipH="1">
            <a:off x="5220000" y="3311999"/>
            <a:ext cx="720000" cy="1368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944000" y="3599999"/>
            <a:ext cx="720000" cy="792000"/>
          </a:xfrm>
          <a:prstGeom prst="rect">
            <a:avLst/>
          </a:prstGeom>
          <a:noFill/>
        </p:spPr>
        <p:txBody>
          <a:bodyPr wrap="square">
            <a:spAutoFit/>
          </a:bodyPr>
          <a:lstStyle/>
          <a:p>
            <a:pPr algn="ctr"/>
            <a:r>
              <a:rPr sz="3000" b="1" i="0">
                <a:solidFill>
                  <a:srgbClr val="FFFFFF"/>
                </a:solidFill>
              </a:rPr>
              <a:t>2</a:t>
            </a:r>
          </a:p>
        </p:txBody>
      </p:sp>
      <p:sp>
        <p:nvSpPr>
          <p:cNvPr id="17" name="TextBox 16"/>
          <p:cNvSpPr txBox="1"/>
          <p:nvPr/>
        </p:nvSpPr>
        <p:spPr>
          <a:xfrm>
            <a:off x="2772000" y="3563998"/>
            <a:ext cx="2520000" cy="900000"/>
          </a:xfrm>
          <a:prstGeom prst="rect">
            <a:avLst/>
          </a:prstGeom>
          <a:noFill/>
        </p:spPr>
        <p:txBody>
          <a:bodyPr wrap="square">
            <a:spAutoFit/>
          </a:bodyPr>
          <a:lstStyle/>
          <a:p>
            <a:pPr algn="l"/>
            <a:r>
              <a:rPr sz="1200" b="1" i="0">
                <a:solidFill>
                  <a:srgbClr val="FFFFFF"/>
                </a:solidFill>
              </a:rPr>
              <a:t>Parsing NLP structuré
(spaCy · CamemBERT)</a:t>
            </a:r>
          </a:p>
        </p:txBody>
      </p:sp>
      <p:sp>
        <p:nvSpPr>
          <p:cNvPr id="18" name="Rectangle 17"/>
          <p:cNvSpPr/>
          <p:nvPr/>
        </p:nvSpPr>
        <p:spPr>
          <a:xfrm>
            <a:off x="6480000" y="3311999"/>
            <a:ext cx="3420000" cy="1368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ight Triangle 18"/>
          <p:cNvSpPr/>
          <p:nvPr/>
        </p:nvSpPr>
        <p:spPr>
          <a:xfrm flipH="1">
            <a:off x="9900000" y="3311999"/>
            <a:ext cx="720000" cy="1368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24000" y="3599999"/>
            <a:ext cx="720000" cy="792000"/>
          </a:xfrm>
          <a:prstGeom prst="rect">
            <a:avLst/>
          </a:prstGeom>
          <a:noFill/>
        </p:spPr>
        <p:txBody>
          <a:bodyPr wrap="square">
            <a:spAutoFit/>
          </a:bodyPr>
          <a:lstStyle/>
          <a:p>
            <a:pPr algn="ctr"/>
            <a:r>
              <a:rPr sz="3000" b="1" i="0">
                <a:solidFill>
                  <a:srgbClr val="FFFFFF"/>
                </a:solidFill>
              </a:rPr>
              <a:t>4</a:t>
            </a:r>
          </a:p>
        </p:txBody>
      </p:sp>
      <p:sp>
        <p:nvSpPr>
          <p:cNvPr id="21" name="TextBox 20"/>
          <p:cNvSpPr txBox="1"/>
          <p:nvPr/>
        </p:nvSpPr>
        <p:spPr>
          <a:xfrm>
            <a:off x="7452000" y="3563998"/>
            <a:ext cx="2520000" cy="900000"/>
          </a:xfrm>
          <a:prstGeom prst="rect">
            <a:avLst/>
          </a:prstGeom>
          <a:noFill/>
        </p:spPr>
        <p:txBody>
          <a:bodyPr wrap="square">
            <a:spAutoFit/>
          </a:bodyPr>
          <a:lstStyle/>
          <a:p>
            <a:pPr algn="l"/>
            <a:r>
              <a:rPr sz="1200" b="1" i="0">
                <a:solidFill>
                  <a:srgbClr val="FFFFFF"/>
                </a:solidFill>
              </a:rPr>
              <a:t>Classement &amp; rapport explicable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flipV="1">
            <a:off x="0" y="0"/>
            <a:ext cx="1512000" cy="1980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00000" y="251999"/>
            <a:ext cx="9720000" cy="684000"/>
          </a:xfrm>
          <a:prstGeom prst="rect">
            <a:avLst/>
          </a:prstGeom>
          <a:noFill/>
        </p:spPr>
        <p:txBody>
          <a:bodyPr wrap="square">
            <a:spAutoFit/>
          </a:bodyPr>
          <a:lstStyle/>
          <a:p>
            <a:pPr algn="l"/>
            <a:r>
              <a:rPr sz="2800" b="1" i="0">
                <a:solidFill>
                  <a:srgbClr val="0A2350"/>
                </a:solidFill>
              </a:rPr>
              <a:t>Besoins fonctionnels</a:t>
            </a:r>
          </a:p>
        </p:txBody>
      </p:sp>
      <p:sp>
        <p:nvSpPr>
          <p:cNvPr id="5" name="Rectangle 4"/>
          <p:cNvSpPr/>
          <p:nvPr/>
        </p:nvSpPr>
        <p:spPr>
          <a:xfrm>
            <a:off x="1800000" y="864000"/>
            <a:ext cx="1980000" cy="72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340000" y="900000"/>
            <a:ext cx="1440000" cy="1440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980000" y="2448000"/>
            <a:ext cx="2160000" cy="648000"/>
          </a:xfrm>
          <a:prstGeom prst="rect">
            <a:avLst/>
          </a:prstGeom>
          <a:noFill/>
        </p:spPr>
        <p:txBody>
          <a:bodyPr wrap="square">
            <a:spAutoFit/>
          </a:bodyPr>
          <a:lstStyle/>
          <a:p>
            <a:pPr algn="ctr"/>
            <a:r>
              <a:rPr sz="1100" b="0" i="0">
                <a:solidFill>
                  <a:srgbClr val="191919"/>
                </a:solidFill>
              </a:rPr>
              <a:t>Authentification
multi-rôles</a:t>
            </a:r>
          </a:p>
        </p:txBody>
      </p:sp>
      <p:sp>
        <p:nvSpPr>
          <p:cNvPr id="8" name="Oval 7"/>
          <p:cNvSpPr/>
          <p:nvPr/>
        </p:nvSpPr>
        <p:spPr>
          <a:xfrm>
            <a:off x="5760000" y="900000"/>
            <a:ext cx="1440000" cy="1440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00000" y="2448000"/>
            <a:ext cx="2160000" cy="648000"/>
          </a:xfrm>
          <a:prstGeom prst="rect">
            <a:avLst/>
          </a:prstGeom>
          <a:noFill/>
        </p:spPr>
        <p:txBody>
          <a:bodyPr wrap="square">
            <a:spAutoFit/>
          </a:bodyPr>
          <a:lstStyle/>
          <a:p>
            <a:pPr algn="ctr"/>
            <a:r>
              <a:rPr sz="1100" b="0" i="0">
                <a:solidFill>
                  <a:srgbClr val="191919"/>
                </a:solidFill>
              </a:rPr>
              <a:t>Upload de CV
(PDF / DOCX / OCR)</a:t>
            </a:r>
          </a:p>
        </p:txBody>
      </p:sp>
      <p:sp>
        <p:nvSpPr>
          <p:cNvPr id="10" name="Oval 9"/>
          <p:cNvSpPr/>
          <p:nvPr/>
        </p:nvSpPr>
        <p:spPr>
          <a:xfrm>
            <a:off x="9180000" y="900000"/>
            <a:ext cx="1440000" cy="1440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20000" y="2448000"/>
            <a:ext cx="2160000" cy="648000"/>
          </a:xfrm>
          <a:prstGeom prst="rect">
            <a:avLst/>
          </a:prstGeom>
          <a:noFill/>
        </p:spPr>
        <p:txBody>
          <a:bodyPr wrap="square">
            <a:spAutoFit/>
          </a:bodyPr>
          <a:lstStyle/>
          <a:p>
            <a:pPr algn="ctr"/>
            <a:r>
              <a:rPr sz="1100" b="0" i="0">
                <a:solidFill>
                  <a:srgbClr val="191919"/>
                </a:solidFill>
              </a:rPr>
              <a:t>Gestion des
offres d'emploi</a:t>
            </a:r>
          </a:p>
        </p:txBody>
      </p:sp>
      <p:sp>
        <p:nvSpPr>
          <p:cNvPr id="12" name="Oval 11"/>
          <p:cNvSpPr/>
          <p:nvPr/>
        </p:nvSpPr>
        <p:spPr>
          <a:xfrm>
            <a:off x="2340000" y="3240000"/>
            <a:ext cx="1440000" cy="1440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80000" y="4788000"/>
            <a:ext cx="2160000" cy="648000"/>
          </a:xfrm>
          <a:prstGeom prst="rect">
            <a:avLst/>
          </a:prstGeom>
          <a:noFill/>
        </p:spPr>
        <p:txBody>
          <a:bodyPr wrap="square">
            <a:spAutoFit/>
          </a:bodyPr>
          <a:lstStyle/>
          <a:p>
            <a:pPr algn="ctr"/>
            <a:r>
              <a:rPr sz="1100" b="0" i="0">
                <a:solidFill>
                  <a:srgbClr val="191919"/>
                </a:solidFill>
              </a:rPr>
              <a:t>Matching IA
automatique</a:t>
            </a:r>
          </a:p>
        </p:txBody>
      </p:sp>
      <p:sp>
        <p:nvSpPr>
          <p:cNvPr id="14" name="Oval 13"/>
          <p:cNvSpPr/>
          <p:nvPr/>
        </p:nvSpPr>
        <p:spPr>
          <a:xfrm>
            <a:off x="5760000" y="3240000"/>
            <a:ext cx="1440000" cy="1440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00000" y="4788000"/>
            <a:ext cx="2160000" cy="648000"/>
          </a:xfrm>
          <a:prstGeom prst="rect">
            <a:avLst/>
          </a:prstGeom>
          <a:noFill/>
        </p:spPr>
        <p:txBody>
          <a:bodyPr wrap="square">
            <a:spAutoFit/>
          </a:bodyPr>
          <a:lstStyle/>
          <a:p>
            <a:pPr algn="ctr"/>
            <a:r>
              <a:rPr sz="1100" b="0" i="0">
                <a:solidFill>
                  <a:srgbClr val="191919"/>
                </a:solidFill>
              </a:rPr>
              <a:t>Dashboard
analytique</a:t>
            </a:r>
          </a:p>
        </p:txBody>
      </p:sp>
      <p:sp>
        <p:nvSpPr>
          <p:cNvPr id="16" name="Oval 15"/>
          <p:cNvSpPr/>
          <p:nvPr/>
        </p:nvSpPr>
        <p:spPr>
          <a:xfrm>
            <a:off x="9180000" y="3240000"/>
            <a:ext cx="1440000" cy="1440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20000" y="4788000"/>
            <a:ext cx="2160000" cy="648000"/>
          </a:xfrm>
          <a:prstGeom prst="rect">
            <a:avLst/>
          </a:prstGeom>
          <a:noFill/>
        </p:spPr>
        <p:txBody>
          <a:bodyPr wrap="square">
            <a:spAutoFit/>
          </a:bodyPr>
          <a:lstStyle/>
          <a:p>
            <a:pPr algn="ctr"/>
            <a:r>
              <a:rPr sz="1100" b="0" i="0">
                <a:solidFill>
                  <a:srgbClr val="191919"/>
                </a:solidFill>
              </a:rPr>
              <a:t>Notifications
par email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flipV="1">
            <a:off x="0" y="0"/>
            <a:ext cx="1512000" cy="1980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00000" y="251999"/>
            <a:ext cx="9720000" cy="684000"/>
          </a:xfrm>
          <a:prstGeom prst="rect">
            <a:avLst/>
          </a:prstGeom>
          <a:noFill/>
        </p:spPr>
        <p:txBody>
          <a:bodyPr wrap="square">
            <a:spAutoFit/>
          </a:bodyPr>
          <a:lstStyle/>
          <a:p>
            <a:pPr algn="l"/>
            <a:r>
              <a:rPr sz="2800" b="1" i="0">
                <a:solidFill>
                  <a:srgbClr val="0A2350"/>
                </a:solidFill>
              </a:rPr>
              <a:t>Besoins non fonctionnels</a:t>
            </a:r>
          </a:p>
        </p:txBody>
      </p:sp>
      <p:sp>
        <p:nvSpPr>
          <p:cNvPr id="5" name="Rectangle 4"/>
          <p:cNvSpPr/>
          <p:nvPr/>
        </p:nvSpPr>
        <p:spPr>
          <a:xfrm>
            <a:off x="1800000" y="864000"/>
            <a:ext cx="1980000" cy="72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340000" y="900000"/>
            <a:ext cx="1440000" cy="1440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980000" y="2448000"/>
            <a:ext cx="2160000" cy="648000"/>
          </a:xfrm>
          <a:prstGeom prst="rect">
            <a:avLst/>
          </a:prstGeom>
          <a:noFill/>
        </p:spPr>
        <p:txBody>
          <a:bodyPr wrap="square">
            <a:spAutoFit/>
          </a:bodyPr>
          <a:lstStyle/>
          <a:p>
            <a:pPr algn="ctr"/>
            <a:r>
              <a:rPr sz="1100" b="0" i="0">
                <a:solidFill>
                  <a:srgbClr val="191919"/>
                </a:solidFill>
              </a:rPr>
              <a:t>Sécurité
(JWT + RGPD)</a:t>
            </a:r>
          </a:p>
        </p:txBody>
      </p:sp>
      <p:sp>
        <p:nvSpPr>
          <p:cNvPr id="8" name="Oval 7"/>
          <p:cNvSpPr/>
          <p:nvPr/>
        </p:nvSpPr>
        <p:spPr>
          <a:xfrm>
            <a:off x="5760000" y="900000"/>
            <a:ext cx="1440000" cy="1440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00000" y="2448000"/>
            <a:ext cx="2160000" cy="648000"/>
          </a:xfrm>
          <a:prstGeom prst="rect">
            <a:avLst/>
          </a:prstGeom>
          <a:noFill/>
        </p:spPr>
        <p:txBody>
          <a:bodyPr wrap="square">
            <a:spAutoFit/>
          </a:bodyPr>
          <a:lstStyle/>
          <a:p>
            <a:pPr algn="ctr"/>
            <a:r>
              <a:rPr sz="1100" b="0" i="0">
                <a:solidFill>
                  <a:srgbClr val="191919"/>
                </a:solidFill>
              </a:rPr>
              <a:t>Performance
(&lt; 3s scoring)</a:t>
            </a:r>
          </a:p>
        </p:txBody>
      </p:sp>
      <p:sp>
        <p:nvSpPr>
          <p:cNvPr id="10" name="Oval 9"/>
          <p:cNvSpPr/>
          <p:nvPr/>
        </p:nvSpPr>
        <p:spPr>
          <a:xfrm>
            <a:off x="9180000" y="900000"/>
            <a:ext cx="1440000" cy="1440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20000" y="2448000"/>
            <a:ext cx="2160000" cy="648000"/>
          </a:xfrm>
          <a:prstGeom prst="rect">
            <a:avLst/>
          </a:prstGeom>
          <a:noFill/>
        </p:spPr>
        <p:txBody>
          <a:bodyPr wrap="square">
            <a:spAutoFit/>
          </a:bodyPr>
          <a:lstStyle/>
          <a:p>
            <a:pPr algn="ctr"/>
            <a:r>
              <a:rPr sz="1100" b="0" i="0">
                <a:solidFill>
                  <a:srgbClr val="191919"/>
                </a:solidFill>
              </a:rPr>
              <a:t>Scalabilité
(Railway cloud)</a:t>
            </a:r>
          </a:p>
        </p:txBody>
      </p:sp>
      <p:sp>
        <p:nvSpPr>
          <p:cNvPr id="12" name="Oval 11"/>
          <p:cNvSpPr/>
          <p:nvPr/>
        </p:nvSpPr>
        <p:spPr>
          <a:xfrm>
            <a:off x="2340000" y="3240000"/>
            <a:ext cx="1440000" cy="1440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80000" y="4788000"/>
            <a:ext cx="2160000" cy="648000"/>
          </a:xfrm>
          <a:prstGeom prst="rect">
            <a:avLst/>
          </a:prstGeom>
          <a:noFill/>
        </p:spPr>
        <p:txBody>
          <a:bodyPr wrap="square">
            <a:spAutoFit/>
          </a:bodyPr>
          <a:lstStyle/>
          <a:p>
            <a:pPr algn="ctr"/>
            <a:r>
              <a:rPr sz="1100" b="0" i="0">
                <a:solidFill>
                  <a:srgbClr val="191919"/>
                </a:solidFill>
              </a:rPr>
              <a:t>Disponibilité
(uptime 99%)</a:t>
            </a:r>
          </a:p>
        </p:txBody>
      </p:sp>
      <p:sp>
        <p:nvSpPr>
          <p:cNvPr id="14" name="Oval 13"/>
          <p:cNvSpPr/>
          <p:nvPr/>
        </p:nvSpPr>
        <p:spPr>
          <a:xfrm>
            <a:off x="5760000" y="3240000"/>
            <a:ext cx="1440000" cy="1440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00000" y="4788000"/>
            <a:ext cx="2160000" cy="648000"/>
          </a:xfrm>
          <a:prstGeom prst="rect">
            <a:avLst/>
          </a:prstGeom>
          <a:noFill/>
        </p:spPr>
        <p:txBody>
          <a:bodyPr wrap="square">
            <a:spAutoFit/>
          </a:bodyPr>
          <a:lstStyle/>
          <a:p>
            <a:pPr algn="ctr"/>
            <a:r>
              <a:rPr sz="1100" b="0" i="0">
                <a:solidFill>
                  <a:srgbClr val="191919"/>
                </a:solidFill>
              </a:rPr>
              <a:t>Maintenabilité
(code modulaire)</a:t>
            </a:r>
          </a:p>
        </p:txBody>
      </p:sp>
      <p:sp>
        <p:nvSpPr>
          <p:cNvPr id="16" name="Oval 15"/>
          <p:cNvSpPr/>
          <p:nvPr/>
        </p:nvSpPr>
        <p:spPr>
          <a:xfrm>
            <a:off x="9180000" y="3240000"/>
            <a:ext cx="1440000" cy="1440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20000" y="4788000"/>
            <a:ext cx="2160000" cy="648000"/>
          </a:xfrm>
          <a:prstGeom prst="rect">
            <a:avLst/>
          </a:prstGeom>
          <a:noFill/>
        </p:spPr>
        <p:txBody>
          <a:bodyPr wrap="square">
            <a:spAutoFit/>
          </a:bodyPr>
          <a:lstStyle/>
          <a:p>
            <a:pPr algn="ctr"/>
            <a:r>
              <a:rPr sz="1100" b="0" i="0">
                <a:solidFill>
                  <a:srgbClr val="191919"/>
                </a:solidFill>
              </a:rPr>
              <a:t>Conformité
RGPD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flipV="1">
            <a:off x="0" y="0"/>
            <a:ext cx="1512000" cy="1980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00000" y="251999"/>
            <a:ext cx="9720000" cy="684000"/>
          </a:xfrm>
          <a:prstGeom prst="rect">
            <a:avLst/>
          </a:prstGeom>
          <a:noFill/>
        </p:spPr>
        <p:txBody>
          <a:bodyPr wrap="square">
            <a:spAutoFit/>
          </a:bodyPr>
          <a:lstStyle/>
          <a:p>
            <a:pPr algn="l"/>
            <a:r>
              <a:rPr sz="2800" b="1" i="0">
                <a:solidFill>
                  <a:srgbClr val="0A2350"/>
                </a:solidFill>
              </a:rPr>
              <a:t>Architecture du système</a:t>
            </a:r>
          </a:p>
        </p:txBody>
      </p:sp>
      <p:sp>
        <p:nvSpPr>
          <p:cNvPr id="5" name="Rectangle 4"/>
          <p:cNvSpPr/>
          <p:nvPr/>
        </p:nvSpPr>
        <p:spPr>
          <a:xfrm>
            <a:off x="1800000" y="864000"/>
            <a:ext cx="1980000" cy="72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rchitecture.png"/>
          <p:cNvPicPr>
            <a:picLocks noChangeAspect="1"/>
          </p:cNvPicPr>
          <p:nvPr/>
        </p:nvPicPr>
        <p:blipFill>
          <a:blip r:embed="rId2"/>
          <a:stretch>
            <a:fillRect/>
          </a:stretch>
        </p:blipFill>
        <p:spPr>
          <a:xfrm>
            <a:off x="1620000" y="972000"/>
            <a:ext cx="10080000" cy="5400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flipV="1">
            <a:off x="0" y="0"/>
            <a:ext cx="1512000" cy="1980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00000" y="251999"/>
            <a:ext cx="9720000" cy="684000"/>
          </a:xfrm>
          <a:prstGeom prst="rect">
            <a:avLst/>
          </a:prstGeom>
          <a:noFill/>
        </p:spPr>
        <p:txBody>
          <a:bodyPr wrap="square">
            <a:spAutoFit/>
          </a:bodyPr>
          <a:lstStyle/>
          <a:p>
            <a:pPr algn="l"/>
            <a:r>
              <a:rPr sz="2800" b="1" i="0">
                <a:solidFill>
                  <a:srgbClr val="0A2350"/>
                </a:solidFill>
              </a:rPr>
              <a:t>Méthodologie</a:t>
            </a:r>
          </a:p>
        </p:txBody>
      </p:sp>
      <p:sp>
        <p:nvSpPr>
          <p:cNvPr id="5" name="Rectangle 4"/>
          <p:cNvSpPr/>
          <p:nvPr/>
        </p:nvSpPr>
        <p:spPr>
          <a:xfrm>
            <a:off x="1800000" y="864000"/>
            <a:ext cx="1980000" cy="72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00000" y="1080000"/>
            <a:ext cx="10440000" cy="540000"/>
          </a:xfrm>
          <a:prstGeom prst="rect">
            <a:avLst/>
          </a:prstGeom>
          <a:noFill/>
        </p:spPr>
        <p:txBody>
          <a:bodyPr wrap="square">
            <a:spAutoFit/>
          </a:bodyPr>
          <a:lstStyle/>
          <a:p>
            <a:pPr algn="l"/>
            <a:r>
              <a:rPr sz="1300" b="0" i="0">
                <a:solidFill>
                  <a:srgbClr val="191919"/>
                </a:solidFill>
              </a:rPr>
              <a:t>Le projet a été réalisé selon une approche Agile basée sur des sprints, permettant un développement progressif et une validation continue des fonctionnalités.</a:t>
            </a:r>
          </a:p>
        </p:txBody>
      </p:sp>
      <p:sp>
        <p:nvSpPr>
          <p:cNvPr id="7" name="Rectangle 6"/>
          <p:cNvSpPr/>
          <p:nvPr/>
        </p:nvSpPr>
        <p:spPr>
          <a:xfrm>
            <a:off x="1800000" y="1800000"/>
            <a:ext cx="4140000" cy="720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ight Triangle 7"/>
          <p:cNvSpPr/>
          <p:nvPr/>
        </p:nvSpPr>
        <p:spPr>
          <a:xfrm flipH="1">
            <a:off x="5940000" y="1800000"/>
            <a:ext cx="540000" cy="720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88000" y="1944000"/>
            <a:ext cx="3780000" cy="432000"/>
          </a:xfrm>
          <a:prstGeom prst="rect">
            <a:avLst/>
          </a:prstGeom>
          <a:noFill/>
        </p:spPr>
        <p:txBody>
          <a:bodyPr wrap="square">
            <a:spAutoFit/>
          </a:bodyPr>
          <a:lstStyle/>
          <a:p>
            <a:pPr algn="ctr"/>
            <a:r>
              <a:rPr sz="1300" b="1" i="0">
                <a:solidFill>
                  <a:srgbClr val="FFFFFF"/>
                </a:solidFill>
              </a:rPr>
              <a:t>Sprints terminés</a:t>
            </a:r>
          </a:p>
        </p:txBody>
      </p:sp>
      <p:sp>
        <p:nvSpPr>
          <p:cNvPr id="10" name="TextBox 9"/>
          <p:cNvSpPr txBox="1"/>
          <p:nvPr/>
        </p:nvSpPr>
        <p:spPr>
          <a:xfrm>
            <a:off x="1800000" y="2808000"/>
            <a:ext cx="4500000" cy="540000"/>
          </a:xfrm>
          <a:prstGeom prst="rect">
            <a:avLst/>
          </a:prstGeom>
          <a:noFill/>
        </p:spPr>
        <p:txBody>
          <a:bodyPr wrap="square">
            <a:spAutoFit/>
          </a:bodyPr>
          <a:lstStyle/>
          <a:p>
            <a:pPr algn="l"/>
            <a:r>
              <a:rPr sz="1100" b="0" i="0">
                <a:solidFill>
                  <a:srgbClr val="191919"/>
                </a:solidFill>
              </a:rPr>
              <a:t>  •  Cadrage, architecture &amp; analyse des besoins</a:t>
            </a:r>
          </a:p>
        </p:txBody>
      </p:sp>
      <p:sp>
        <p:nvSpPr>
          <p:cNvPr id="11" name="TextBox 10"/>
          <p:cNvSpPr txBox="1"/>
          <p:nvPr/>
        </p:nvSpPr>
        <p:spPr>
          <a:xfrm>
            <a:off x="1800000" y="3384000"/>
            <a:ext cx="4500000" cy="540000"/>
          </a:xfrm>
          <a:prstGeom prst="rect">
            <a:avLst/>
          </a:prstGeom>
          <a:noFill/>
        </p:spPr>
        <p:txBody>
          <a:bodyPr wrap="square">
            <a:spAutoFit/>
          </a:bodyPr>
          <a:lstStyle/>
          <a:p>
            <a:pPr algn="l"/>
            <a:r>
              <a:rPr sz="1100" b="0" i="0">
                <a:solidFill>
                  <a:srgbClr val="191919"/>
                </a:solidFill>
              </a:rPr>
              <a:t>  •  Authentification &amp; gestion des rôles (3 profils)</a:t>
            </a:r>
          </a:p>
        </p:txBody>
      </p:sp>
      <p:sp>
        <p:nvSpPr>
          <p:cNvPr id="12" name="TextBox 11"/>
          <p:cNvSpPr txBox="1"/>
          <p:nvPr/>
        </p:nvSpPr>
        <p:spPr>
          <a:xfrm>
            <a:off x="1800000" y="3960000"/>
            <a:ext cx="4500000" cy="540000"/>
          </a:xfrm>
          <a:prstGeom prst="rect">
            <a:avLst/>
          </a:prstGeom>
          <a:noFill/>
        </p:spPr>
        <p:txBody>
          <a:bodyPr wrap="square">
            <a:spAutoFit/>
          </a:bodyPr>
          <a:lstStyle/>
          <a:p>
            <a:pPr algn="l"/>
            <a:r>
              <a:rPr sz="1100" b="0" i="0">
                <a:solidFill>
                  <a:srgbClr val="191919"/>
                </a:solidFill>
              </a:rPr>
              <a:t>  •  Pipeline NLP : extraction, parsing, structuration</a:t>
            </a:r>
          </a:p>
        </p:txBody>
      </p:sp>
      <p:sp>
        <p:nvSpPr>
          <p:cNvPr id="13" name="TextBox 12"/>
          <p:cNvSpPr txBox="1"/>
          <p:nvPr/>
        </p:nvSpPr>
        <p:spPr>
          <a:xfrm>
            <a:off x="1800000" y="4536000"/>
            <a:ext cx="4500000" cy="540000"/>
          </a:xfrm>
          <a:prstGeom prst="rect">
            <a:avLst/>
          </a:prstGeom>
          <a:noFill/>
        </p:spPr>
        <p:txBody>
          <a:bodyPr wrap="square">
            <a:spAutoFit/>
          </a:bodyPr>
          <a:lstStyle/>
          <a:p>
            <a:pPr algn="l"/>
            <a:r>
              <a:rPr sz="1100" b="0" i="0">
                <a:solidFill>
                  <a:srgbClr val="191919"/>
                </a:solidFill>
              </a:rPr>
              <a:t>  •  Intégration BGE-M3 + Cross-Encoder + ISCO-08</a:t>
            </a:r>
          </a:p>
        </p:txBody>
      </p:sp>
      <p:sp>
        <p:nvSpPr>
          <p:cNvPr id="14" name="Rectangle 13"/>
          <p:cNvSpPr/>
          <p:nvPr/>
        </p:nvSpPr>
        <p:spPr>
          <a:xfrm>
            <a:off x="6660000" y="1800000"/>
            <a:ext cx="4140000" cy="720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ight Triangle 14"/>
          <p:cNvSpPr/>
          <p:nvPr/>
        </p:nvSpPr>
        <p:spPr>
          <a:xfrm flipH="1">
            <a:off x="10800000" y="1800000"/>
            <a:ext cx="540000" cy="720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48000" y="1944000"/>
            <a:ext cx="3780000" cy="432000"/>
          </a:xfrm>
          <a:prstGeom prst="rect">
            <a:avLst/>
          </a:prstGeom>
          <a:noFill/>
        </p:spPr>
        <p:txBody>
          <a:bodyPr wrap="square">
            <a:spAutoFit/>
          </a:bodyPr>
          <a:lstStyle/>
          <a:p>
            <a:pPr algn="ctr"/>
            <a:r>
              <a:rPr sz="1300" b="1" i="0">
                <a:solidFill>
                  <a:srgbClr val="FFFFFF"/>
                </a:solidFill>
              </a:rPr>
              <a:t>Sprints en cours</a:t>
            </a:r>
          </a:p>
        </p:txBody>
      </p:sp>
      <p:sp>
        <p:nvSpPr>
          <p:cNvPr id="17" name="TextBox 16"/>
          <p:cNvSpPr txBox="1"/>
          <p:nvPr/>
        </p:nvSpPr>
        <p:spPr>
          <a:xfrm>
            <a:off x="6660000" y="2808000"/>
            <a:ext cx="4500000" cy="540000"/>
          </a:xfrm>
          <a:prstGeom prst="rect">
            <a:avLst/>
          </a:prstGeom>
          <a:noFill/>
        </p:spPr>
        <p:txBody>
          <a:bodyPr wrap="square">
            <a:spAutoFit/>
          </a:bodyPr>
          <a:lstStyle/>
          <a:p>
            <a:pPr algn="l"/>
            <a:r>
              <a:rPr sz="1100" b="0" i="0">
                <a:solidFill>
                  <a:srgbClr val="191919"/>
                </a:solidFill>
              </a:rPr>
              <a:t>  •  Amélioration du modèle de matching</a:t>
            </a:r>
          </a:p>
        </p:txBody>
      </p:sp>
      <p:sp>
        <p:nvSpPr>
          <p:cNvPr id="18" name="TextBox 17"/>
          <p:cNvSpPr txBox="1"/>
          <p:nvPr/>
        </p:nvSpPr>
        <p:spPr>
          <a:xfrm>
            <a:off x="6660000" y="3384000"/>
            <a:ext cx="4500000" cy="540000"/>
          </a:xfrm>
          <a:prstGeom prst="rect">
            <a:avLst/>
          </a:prstGeom>
          <a:noFill/>
        </p:spPr>
        <p:txBody>
          <a:bodyPr wrap="square">
            <a:spAutoFit/>
          </a:bodyPr>
          <a:lstStyle/>
          <a:p>
            <a:pPr algn="l"/>
            <a:r>
              <a:rPr sz="1100" b="0" i="0">
                <a:solidFill>
                  <a:srgbClr val="191919"/>
                </a:solidFill>
              </a:rPr>
              <a:t>  •  Tests &amp; validation du scoring calibré</a:t>
            </a:r>
          </a:p>
        </p:txBody>
      </p:sp>
      <p:sp>
        <p:nvSpPr>
          <p:cNvPr id="19" name="TextBox 18"/>
          <p:cNvSpPr txBox="1"/>
          <p:nvPr/>
        </p:nvSpPr>
        <p:spPr>
          <a:xfrm>
            <a:off x="6660000" y="3960000"/>
            <a:ext cx="4500000" cy="540000"/>
          </a:xfrm>
          <a:prstGeom prst="rect">
            <a:avLst/>
          </a:prstGeom>
          <a:noFill/>
        </p:spPr>
        <p:txBody>
          <a:bodyPr wrap="square">
            <a:spAutoFit/>
          </a:bodyPr>
          <a:lstStyle/>
          <a:p>
            <a:pPr algn="l"/>
            <a:r>
              <a:rPr sz="1100" b="0" i="0">
                <a:solidFill>
                  <a:srgbClr val="191919"/>
                </a:solidFill>
              </a:rPr>
              <a:t>  •  Déploiement Railway &amp; CI/CD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flipV="1">
            <a:off x="0" y="0"/>
            <a:ext cx="1512000" cy="1980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00000" y="251999"/>
            <a:ext cx="9720000" cy="684000"/>
          </a:xfrm>
          <a:prstGeom prst="rect">
            <a:avLst/>
          </a:prstGeom>
          <a:noFill/>
        </p:spPr>
        <p:txBody>
          <a:bodyPr wrap="square">
            <a:spAutoFit/>
          </a:bodyPr>
          <a:lstStyle/>
          <a:p>
            <a:pPr algn="l"/>
            <a:r>
              <a:rPr sz="2800" b="1" i="0">
                <a:solidFill>
                  <a:srgbClr val="0A2350"/>
                </a:solidFill>
              </a:rPr>
              <a:t>Cas d'utilisation</a:t>
            </a:r>
          </a:p>
        </p:txBody>
      </p:sp>
      <p:sp>
        <p:nvSpPr>
          <p:cNvPr id="5" name="Rectangle 4"/>
          <p:cNvSpPr/>
          <p:nvPr/>
        </p:nvSpPr>
        <p:spPr>
          <a:xfrm>
            <a:off x="1800000" y="864000"/>
            <a:ext cx="1980000" cy="72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00000" y="1080000"/>
            <a:ext cx="10440000" cy="432000"/>
          </a:xfrm>
          <a:prstGeom prst="rect">
            <a:avLst/>
          </a:prstGeom>
          <a:noFill/>
        </p:spPr>
        <p:txBody>
          <a:bodyPr wrap="square">
            <a:spAutoFit/>
          </a:bodyPr>
          <a:lstStyle/>
          <a:p>
            <a:pPr algn="l"/>
            <a:r>
              <a:rPr sz="1300" b="0" i="0">
                <a:solidFill>
                  <a:srgbClr val="191919"/>
                </a:solidFill>
              </a:rPr>
              <a:t>Trois acteurs principaux interagissent avec la plateforme TalentMatch :</a:t>
            </a:r>
          </a:p>
        </p:txBody>
      </p:sp>
      <p:sp>
        <p:nvSpPr>
          <p:cNvPr id="7" name="TextBox 6"/>
          <p:cNvSpPr txBox="1"/>
          <p:nvPr/>
        </p:nvSpPr>
        <p:spPr>
          <a:xfrm>
            <a:off x="1800000" y="1548000"/>
            <a:ext cx="1980000" cy="360000"/>
          </a:xfrm>
          <a:prstGeom prst="rect">
            <a:avLst/>
          </a:prstGeom>
          <a:noFill/>
        </p:spPr>
        <p:txBody>
          <a:bodyPr wrap="square">
            <a:spAutoFit/>
          </a:bodyPr>
          <a:lstStyle/>
          <a:p>
            <a:pPr algn="ctr"/>
            <a:r>
              <a:rPr sz="1400" b="1" i="0">
                <a:solidFill>
                  <a:srgbClr val="0A2350"/>
                </a:solidFill>
              </a:rPr>
              <a:t>Candidat</a:t>
            </a:r>
          </a:p>
        </p:txBody>
      </p:sp>
      <p:sp>
        <p:nvSpPr>
          <p:cNvPr id="8" name="Rectangle 7"/>
          <p:cNvSpPr/>
          <p:nvPr/>
        </p:nvSpPr>
        <p:spPr>
          <a:xfrm>
            <a:off x="1800000" y="1835999"/>
            <a:ext cx="1980000" cy="432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miley Face 8"/>
          <p:cNvSpPr/>
          <p:nvPr/>
        </p:nvSpPr>
        <p:spPr>
          <a:xfrm>
            <a:off x="1872001" y="1980000"/>
            <a:ext cx="1800000" cy="576000"/>
          </a:xfrm>
          <a:prstGeom prst="smileyFace">
            <a:avLst/>
          </a:prstGeom>
          <a:solidFill>
            <a:srgbClr val="E8E8E8"/>
          </a:solidFill>
          <a:ln>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980000" y="2034000"/>
            <a:ext cx="1620000" cy="468000"/>
          </a:xfrm>
          <a:prstGeom prst="rect">
            <a:avLst/>
          </a:prstGeom>
          <a:noFill/>
        </p:spPr>
        <p:txBody>
          <a:bodyPr wrap="square">
            <a:spAutoFit/>
          </a:bodyPr>
          <a:lstStyle/>
          <a:p>
            <a:pPr algn="ctr"/>
            <a:r>
              <a:rPr sz="1100" b="0" i="0">
                <a:solidFill>
                  <a:srgbClr val="191919"/>
                </a:solidFill>
              </a:rPr>
              <a:t>S'inscrire / Se connecter</a:t>
            </a:r>
          </a:p>
        </p:txBody>
      </p:sp>
      <p:sp>
        <p:nvSpPr>
          <p:cNvPr id="11" name="Smiley Face 10"/>
          <p:cNvSpPr/>
          <p:nvPr/>
        </p:nvSpPr>
        <p:spPr>
          <a:xfrm>
            <a:off x="1872001" y="2700000"/>
            <a:ext cx="1800000" cy="576000"/>
          </a:xfrm>
          <a:prstGeom prst="smileyFace">
            <a:avLst/>
          </a:prstGeom>
          <a:solidFill>
            <a:srgbClr val="E8E8E8"/>
          </a:solidFill>
          <a:ln>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980000" y="2754000"/>
            <a:ext cx="1620000" cy="468000"/>
          </a:xfrm>
          <a:prstGeom prst="rect">
            <a:avLst/>
          </a:prstGeom>
          <a:noFill/>
        </p:spPr>
        <p:txBody>
          <a:bodyPr wrap="square">
            <a:spAutoFit/>
          </a:bodyPr>
          <a:lstStyle/>
          <a:p>
            <a:pPr algn="ctr"/>
            <a:r>
              <a:rPr sz="1100" b="0" i="0">
                <a:solidFill>
                  <a:srgbClr val="191919"/>
                </a:solidFill>
              </a:rPr>
              <a:t>Uploader son CV (PDF/DOCX)</a:t>
            </a:r>
          </a:p>
        </p:txBody>
      </p:sp>
      <p:sp>
        <p:nvSpPr>
          <p:cNvPr id="13" name="Smiley Face 12"/>
          <p:cNvSpPr/>
          <p:nvPr/>
        </p:nvSpPr>
        <p:spPr>
          <a:xfrm>
            <a:off x="1872001" y="3420000"/>
            <a:ext cx="1800000" cy="576000"/>
          </a:xfrm>
          <a:prstGeom prst="smileyFace">
            <a:avLst/>
          </a:prstGeom>
          <a:solidFill>
            <a:srgbClr val="E8E8E8"/>
          </a:solidFill>
          <a:ln>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80000" y="3474000"/>
            <a:ext cx="1620000" cy="468000"/>
          </a:xfrm>
          <a:prstGeom prst="rect">
            <a:avLst/>
          </a:prstGeom>
          <a:noFill/>
        </p:spPr>
        <p:txBody>
          <a:bodyPr wrap="square">
            <a:spAutoFit/>
          </a:bodyPr>
          <a:lstStyle/>
          <a:p>
            <a:pPr algn="ctr"/>
            <a:r>
              <a:rPr sz="1100" b="0" i="0">
                <a:solidFill>
                  <a:srgbClr val="191919"/>
                </a:solidFill>
              </a:rPr>
              <a:t>Consulter les offres</a:t>
            </a:r>
          </a:p>
        </p:txBody>
      </p:sp>
      <p:sp>
        <p:nvSpPr>
          <p:cNvPr id="15" name="Smiley Face 14"/>
          <p:cNvSpPr/>
          <p:nvPr/>
        </p:nvSpPr>
        <p:spPr>
          <a:xfrm>
            <a:off x="1872001" y="4140000"/>
            <a:ext cx="1800000" cy="576000"/>
          </a:xfrm>
          <a:prstGeom prst="smileyFace">
            <a:avLst/>
          </a:prstGeom>
          <a:solidFill>
            <a:srgbClr val="E8E8E8"/>
          </a:solidFill>
          <a:ln>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980000" y="4194000"/>
            <a:ext cx="1620000" cy="468000"/>
          </a:xfrm>
          <a:prstGeom prst="rect">
            <a:avLst/>
          </a:prstGeom>
          <a:noFill/>
        </p:spPr>
        <p:txBody>
          <a:bodyPr wrap="square">
            <a:spAutoFit/>
          </a:bodyPr>
          <a:lstStyle/>
          <a:p>
            <a:pPr algn="ctr"/>
            <a:r>
              <a:rPr sz="1100" b="0" i="0">
                <a:solidFill>
                  <a:srgbClr val="191919"/>
                </a:solidFill>
              </a:rPr>
              <a:t>Suivre son score de matching</a:t>
            </a:r>
          </a:p>
        </p:txBody>
      </p:sp>
      <p:sp>
        <p:nvSpPr>
          <p:cNvPr id="17" name="TextBox 16"/>
          <p:cNvSpPr txBox="1"/>
          <p:nvPr/>
        </p:nvSpPr>
        <p:spPr>
          <a:xfrm>
            <a:off x="5400000" y="1548000"/>
            <a:ext cx="1980000" cy="360000"/>
          </a:xfrm>
          <a:prstGeom prst="rect">
            <a:avLst/>
          </a:prstGeom>
          <a:noFill/>
        </p:spPr>
        <p:txBody>
          <a:bodyPr wrap="square">
            <a:spAutoFit/>
          </a:bodyPr>
          <a:lstStyle/>
          <a:p>
            <a:pPr algn="ctr"/>
            <a:r>
              <a:rPr sz="1400" b="1" i="0">
                <a:solidFill>
                  <a:srgbClr val="0A2350"/>
                </a:solidFill>
              </a:rPr>
              <a:t>Recruteur</a:t>
            </a:r>
          </a:p>
        </p:txBody>
      </p:sp>
      <p:sp>
        <p:nvSpPr>
          <p:cNvPr id="18" name="Rectangle 17"/>
          <p:cNvSpPr/>
          <p:nvPr/>
        </p:nvSpPr>
        <p:spPr>
          <a:xfrm>
            <a:off x="5400000" y="1835999"/>
            <a:ext cx="1980000" cy="432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miley Face 18"/>
          <p:cNvSpPr/>
          <p:nvPr/>
        </p:nvSpPr>
        <p:spPr>
          <a:xfrm>
            <a:off x="5472001" y="1980000"/>
            <a:ext cx="1800000" cy="576000"/>
          </a:xfrm>
          <a:prstGeom prst="smileyFace">
            <a:avLst/>
          </a:prstGeom>
          <a:solidFill>
            <a:srgbClr val="E8E8E8"/>
          </a:solidFill>
          <a:ln>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580000" y="2034000"/>
            <a:ext cx="1620000" cy="468000"/>
          </a:xfrm>
          <a:prstGeom prst="rect">
            <a:avLst/>
          </a:prstGeom>
          <a:noFill/>
        </p:spPr>
        <p:txBody>
          <a:bodyPr wrap="square">
            <a:spAutoFit/>
          </a:bodyPr>
          <a:lstStyle/>
          <a:p>
            <a:pPr algn="ctr"/>
            <a:r>
              <a:rPr sz="1100" b="0" i="0">
                <a:solidFill>
                  <a:srgbClr val="191919"/>
                </a:solidFill>
              </a:rPr>
              <a:t>Créer une offre d'emploi</a:t>
            </a:r>
          </a:p>
        </p:txBody>
      </p:sp>
      <p:sp>
        <p:nvSpPr>
          <p:cNvPr id="21" name="Smiley Face 20"/>
          <p:cNvSpPr/>
          <p:nvPr/>
        </p:nvSpPr>
        <p:spPr>
          <a:xfrm>
            <a:off x="5472001" y="2700000"/>
            <a:ext cx="1800000" cy="576000"/>
          </a:xfrm>
          <a:prstGeom prst="smileyFace">
            <a:avLst/>
          </a:prstGeom>
          <a:solidFill>
            <a:srgbClr val="E8E8E8"/>
          </a:solidFill>
          <a:ln>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80000" y="2754000"/>
            <a:ext cx="1620000" cy="468000"/>
          </a:xfrm>
          <a:prstGeom prst="rect">
            <a:avLst/>
          </a:prstGeom>
          <a:noFill/>
        </p:spPr>
        <p:txBody>
          <a:bodyPr wrap="square">
            <a:spAutoFit/>
          </a:bodyPr>
          <a:lstStyle/>
          <a:p>
            <a:pPr algn="ctr"/>
            <a:r>
              <a:rPr sz="1100" b="0" i="0">
                <a:solidFill>
                  <a:srgbClr val="191919"/>
                </a:solidFill>
              </a:rPr>
              <a:t>Lancer le matching IA</a:t>
            </a:r>
          </a:p>
        </p:txBody>
      </p:sp>
      <p:sp>
        <p:nvSpPr>
          <p:cNvPr id="23" name="Smiley Face 22"/>
          <p:cNvSpPr/>
          <p:nvPr/>
        </p:nvSpPr>
        <p:spPr>
          <a:xfrm>
            <a:off x="5472001" y="3420000"/>
            <a:ext cx="1800000" cy="576000"/>
          </a:xfrm>
          <a:prstGeom prst="smileyFace">
            <a:avLst/>
          </a:prstGeom>
          <a:solidFill>
            <a:srgbClr val="E8E8E8"/>
          </a:solidFill>
          <a:ln>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580000" y="3474000"/>
            <a:ext cx="1620000" cy="468000"/>
          </a:xfrm>
          <a:prstGeom prst="rect">
            <a:avLst/>
          </a:prstGeom>
          <a:noFill/>
        </p:spPr>
        <p:txBody>
          <a:bodyPr wrap="square">
            <a:spAutoFit/>
          </a:bodyPr>
          <a:lstStyle/>
          <a:p>
            <a:pPr algn="ctr"/>
            <a:r>
              <a:rPr sz="1100" b="0" i="0">
                <a:solidFill>
                  <a:srgbClr val="191919"/>
                </a:solidFill>
              </a:rPr>
              <a:t>Consulter le classement</a:t>
            </a:r>
          </a:p>
        </p:txBody>
      </p:sp>
      <p:sp>
        <p:nvSpPr>
          <p:cNvPr id="25" name="Smiley Face 24"/>
          <p:cNvSpPr/>
          <p:nvPr/>
        </p:nvSpPr>
        <p:spPr>
          <a:xfrm>
            <a:off x="5472001" y="4140000"/>
            <a:ext cx="1800000" cy="576000"/>
          </a:xfrm>
          <a:prstGeom prst="smileyFace">
            <a:avLst/>
          </a:prstGeom>
          <a:solidFill>
            <a:srgbClr val="E8E8E8"/>
          </a:solidFill>
          <a:ln>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580000" y="4194000"/>
            <a:ext cx="1620000" cy="468000"/>
          </a:xfrm>
          <a:prstGeom prst="rect">
            <a:avLst/>
          </a:prstGeom>
          <a:noFill/>
        </p:spPr>
        <p:txBody>
          <a:bodyPr wrap="square">
            <a:spAutoFit/>
          </a:bodyPr>
          <a:lstStyle/>
          <a:p>
            <a:pPr algn="ctr"/>
            <a:r>
              <a:rPr sz="1100" b="0" i="0">
                <a:solidFill>
                  <a:srgbClr val="191919"/>
                </a:solidFill>
              </a:rPr>
              <a:t>Accepter / Refuser un candidat</a:t>
            </a:r>
          </a:p>
        </p:txBody>
      </p:sp>
      <p:sp>
        <p:nvSpPr>
          <p:cNvPr id="27" name="TextBox 26"/>
          <p:cNvSpPr txBox="1"/>
          <p:nvPr/>
        </p:nvSpPr>
        <p:spPr>
          <a:xfrm>
            <a:off x="9000000" y="1548000"/>
            <a:ext cx="1980000" cy="360000"/>
          </a:xfrm>
          <a:prstGeom prst="rect">
            <a:avLst/>
          </a:prstGeom>
          <a:noFill/>
        </p:spPr>
        <p:txBody>
          <a:bodyPr wrap="square">
            <a:spAutoFit/>
          </a:bodyPr>
          <a:lstStyle/>
          <a:p>
            <a:pPr algn="ctr"/>
            <a:r>
              <a:rPr sz="1400" b="1" i="0">
                <a:solidFill>
                  <a:srgbClr val="0A2350"/>
                </a:solidFill>
              </a:rPr>
              <a:t>Admin</a:t>
            </a:r>
          </a:p>
        </p:txBody>
      </p:sp>
      <p:sp>
        <p:nvSpPr>
          <p:cNvPr id="28" name="Rectangle 27"/>
          <p:cNvSpPr/>
          <p:nvPr/>
        </p:nvSpPr>
        <p:spPr>
          <a:xfrm>
            <a:off x="9000000" y="1835999"/>
            <a:ext cx="1980000" cy="432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miley Face 28"/>
          <p:cNvSpPr/>
          <p:nvPr/>
        </p:nvSpPr>
        <p:spPr>
          <a:xfrm>
            <a:off x="9072001" y="1980000"/>
            <a:ext cx="1800000" cy="576000"/>
          </a:xfrm>
          <a:prstGeom prst="smileyFace">
            <a:avLst/>
          </a:prstGeom>
          <a:solidFill>
            <a:srgbClr val="E8E8E8"/>
          </a:solidFill>
          <a:ln>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80000" y="2034000"/>
            <a:ext cx="1620000" cy="468000"/>
          </a:xfrm>
          <a:prstGeom prst="rect">
            <a:avLst/>
          </a:prstGeom>
          <a:noFill/>
        </p:spPr>
        <p:txBody>
          <a:bodyPr wrap="square">
            <a:spAutoFit/>
          </a:bodyPr>
          <a:lstStyle/>
          <a:p>
            <a:pPr algn="ctr"/>
            <a:r>
              <a:rPr sz="1100" b="0" i="0">
                <a:solidFill>
                  <a:srgbClr val="191919"/>
                </a:solidFill>
              </a:rPr>
              <a:t>Gérer les utilisateurs</a:t>
            </a:r>
          </a:p>
        </p:txBody>
      </p:sp>
      <p:sp>
        <p:nvSpPr>
          <p:cNvPr id="31" name="Smiley Face 30"/>
          <p:cNvSpPr/>
          <p:nvPr/>
        </p:nvSpPr>
        <p:spPr>
          <a:xfrm>
            <a:off x="9072001" y="2700000"/>
            <a:ext cx="1800000" cy="576000"/>
          </a:xfrm>
          <a:prstGeom prst="smileyFace">
            <a:avLst/>
          </a:prstGeom>
          <a:solidFill>
            <a:srgbClr val="E8E8E8"/>
          </a:solidFill>
          <a:ln>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80000" y="2754000"/>
            <a:ext cx="1620000" cy="468000"/>
          </a:xfrm>
          <a:prstGeom prst="rect">
            <a:avLst/>
          </a:prstGeom>
          <a:noFill/>
        </p:spPr>
        <p:txBody>
          <a:bodyPr wrap="square">
            <a:spAutoFit/>
          </a:bodyPr>
          <a:lstStyle/>
          <a:p>
            <a:pPr algn="ctr"/>
            <a:r>
              <a:rPr sz="1100" b="0" i="0">
                <a:solidFill>
                  <a:srgbClr val="191919"/>
                </a:solidFill>
              </a:rPr>
              <a:t>Superviser les offres</a:t>
            </a:r>
          </a:p>
        </p:txBody>
      </p:sp>
      <p:sp>
        <p:nvSpPr>
          <p:cNvPr id="33" name="Smiley Face 32"/>
          <p:cNvSpPr/>
          <p:nvPr/>
        </p:nvSpPr>
        <p:spPr>
          <a:xfrm>
            <a:off x="9072001" y="3420000"/>
            <a:ext cx="1800000" cy="576000"/>
          </a:xfrm>
          <a:prstGeom prst="smileyFace">
            <a:avLst/>
          </a:prstGeom>
          <a:solidFill>
            <a:srgbClr val="E8E8E8"/>
          </a:solidFill>
          <a:ln>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80000" y="3474000"/>
            <a:ext cx="1620000" cy="468000"/>
          </a:xfrm>
          <a:prstGeom prst="rect">
            <a:avLst/>
          </a:prstGeom>
          <a:noFill/>
        </p:spPr>
        <p:txBody>
          <a:bodyPr wrap="square">
            <a:spAutoFit/>
          </a:bodyPr>
          <a:lstStyle/>
          <a:p>
            <a:pPr algn="ctr"/>
            <a:r>
              <a:rPr sz="1100" b="0" i="0">
                <a:solidFill>
                  <a:srgbClr val="191919"/>
                </a:solidFill>
              </a:rPr>
              <a:t>Consulter les statistiques</a:t>
            </a:r>
          </a:p>
        </p:txBody>
      </p:sp>
      <p:sp>
        <p:nvSpPr>
          <p:cNvPr id="35" name="Smiley Face 34"/>
          <p:cNvSpPr/>
          <p:nvPr/>
        </p:nvSpPr>
        <p:spPr>
          <a:xfrm>
            <a:off x="9072001" y="4140000"/>
            <a:ext cx="1800000" cy="576000"/>
          </a:xfrm>
          <a:prstGeom prst="smileyFace">
            <a:avLst/>
          </a:prstGeom>
          <a:solidFill>
            <a:srgbClr val="E8E8E8"/>
          </a:solidFill>
          <a:ln>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80000" y="4194000"/>
            <a:ext cx="1620000" cy="468000"/>
          </a:xfrm>
          <a:prstGeom prst="rect">
            <a:avLst/>
          </a:prstGeom>
          <a:noFill/>
        </p:spPr>
        <p:txBody>
          <a:bodyPr wrap="square">
            <a:spAutoFit/>
          </a:bodyPr>
          <a:lstStyle/>
          <a:p>
            <a:pPr algn="ctr"/>
            <a:r>
              <a:rPr sz="1100" b="0" i="0">
                <a:solidFill>
                  <a:srgbClr val="191919"/>
                </a:solidFill>
              </a:rPr>
              <a:t>Attribuer les recruteurs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flipV="1">
            <a:off x="0" y="0"/>
            <a:ext cx="1512000" cy="1980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00000" y="251999"/>
            <a:ext cx="9720000" cy="684000"/>
          </a:xfrm>
          <a:prstGeom prst="rect">
            <a:avLst/>
          </a:prstGeom>
          <a:noFill/>
        </p:spPr>
        <p:txBody>
          <a:bodyPr wrap="square">
            <a:spAutoFit/>
          </a:bodyPr>
          <a:lstStyle/>
          <a:p>
            <a:pPr algn="l"/>
            <a:r>
              <a:rPr sz="2800" b="1" i="0">
                <a:solidFill>
                  <a:srgbClr val="0A2350"/>
                </a:solidFill>
              </a:rPr>
              <a:t>Technologies utilisées</a:t>
            </a:r>
          </a:p>
        </p:txBody>
      </p:sp>
      <p:sp>
        <p:nvSpPr>
          <p:cNvPr id="5" name="Rectangle 4"/>
          <p:cNvSpPr/>
          <p:nvPr/>
        </p:nvSpPr>
        <p:spPr>
          <a:xfrm>
            <a:off x="1800000" y="864000"/>
            <a:ext cx="1980000" cy="72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miley Face 5"/>
          <p:cNvSpPr/>
          <p:nvPr/>
        </p:nvSpPr>
        <p:spPr>
          <a:xfrm>
            <a:off x="1800000" y="1007999"/>
            <a:ext cx="10080000" cy="5220000"/>
          </a:xfrm>
          <a:prstGeom prst="smileyFace">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908000" y="1152000"/>
            <a:ext cx="4680000" cy="468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88000" y="1206000"/>
            <a:ext cx="4320000" cy="360000"/>
          </a:xfrm>
          <a:prstGeom prst="rect">
            <a:avLst/>
          </a:prstGeom>
          <a:noFill/>
        </p:spPr>
        <p:txBody>
          <a:bodyPr wrap="square">
            <a:spAutoFit/>
          </a:bodyPr>
          <a:lstStyle/>
          <a:p>
            <a:pPr algn="ctr"/>
            <a:r>
              <a:rPr sz="1400" b="1" i="0">
                <a:solidFill>
                  <a:srgbClr val="FFFFFF"/>
                </a:solidFill>
              </a:rPr>
              <a:t>Frontend</a:t>
            </a:r>
          </a:p>
        </p:txBody>
      </p:sp>
      <p:sp>
        <p:nvSpPr>
          <p:cNvPr id="9" name="TextBox 8"/>
          <p:cNvSpPr txBox="1"/>
          <p:nvPr/>
        </p:nvSpPr>
        <p:spPr>
          <a:xfrm>
            <a:off x="2088000" y="1692000"/>
            <a:ext cx="4320000" cy="396000"/>
          </a:xfrm>
          <a:prstGeom prst="rect">
            <a:avLst/>
          </a:prstGeom>
          <a:noFill/>
        </p:spPr>
        <p:txBody>
          <a:bodyPr wrap="square">
            <a:spAutoFit/>
          </a:bodyPr>
          <a:lstStyle/>
          <a:p>
            <a:pPr algn="l"/>
            <a:r>
              <a:rPr sz="1200" b="1" i="0">
                <a:solidFill>
                  <a:srgbClr val="191919"/>
                </a:solidFill>
              </a:rPr>
              <a:t>  •  React 18 + Vite 5</a:t>
            </a:r>
          </a:p>
        </p:txBody>
      </p:sp>
      <p:sp>
        <p:nvSpPr>
          <p:cNvPr id="10" name="TextBox 9"/>
          <p:cNvSpPr txBox="1"/>
          <p:nvPr/>
        </p:nvSpPr>
        <p:spPr>
          <a:xfrm>
            <a:off x="2088000" y="2124000"/>
            <a:ext cx="4320000" cy="396000"/>
          </a:xfrm>
          <a:prstGeom prst="rect">
            <a:avLst/>
          </a:prstGeom>
          <a:noFill/>
        </p:spPr>
        <p:txBody>
          <a:bodyPr wrap="square">
            <a:spAutoFit/>
          </a:bodyPr>
          <a:lstStyle/>
          <a:p>
            <a:pPr algn="l"/>
            <a:r>
              <a:rPr sz="1200" b="1" i="0">
                <a:solidFill>
                  <a:srgbClr val="191919"/>
                </a:solidFill>
              </a:rPr>
              <a:t>  •  React Router 6</a:t>
            </a:r>
          </a:p>
        </p:txBody>
      </p:sp>
      <p:sp>
        <p:nvSpPr>
          <p:cNvPr id="11" name="TextBox 10"/>
          <p:cNvSpPr txBox="1"/>
          <p:nvPr/>
        </p:nvSpPr>
        <p:spPr>
          <a:xfrm>
            <a:off x="2088000" y="2556000"/>
            <a:ext cx="4320000" cy="396000"/>
          </a:xfrm>
          <a:prstGeom prst="rect">
            <a:avLst/>
          </a:prstGeom>
          <a:noFill/>
        </p:spPr>
        <p:txBody>
          <a:bodyPr wrap="square">
            <a:spAutoFit/>
          </a:bodyPr>
          <a:lstStyle/>
          <a:p>
            <a:pPr algn="l"/>
            <a:r>
              <a:rPr sz="1200" b="1" i="0">
                <a:solidFill>
                  <a:srgbClr val="191919"/>
                </a:solidFill>
              </a:rPr>
              <a:t>  •  Tailwind CSS</a:t>
            </a:r>
          </a:p>
        </p:txBody>
      </p:sp>
      <p:sp>
        <p:nvSpPr>
          <p:cNvPr id="12" name="Rectangle 11"/>
          <p:cNvSpPr/>
          <p:nvPr/>
        </p:nvSpPr>
        <p:spPr>
          <a:xfrm>
            <a:off x="6948000" y="1152000"/>
            <a:ext cx="4680000" cy="468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28000" y="1206000"/>
            <a:ext cx="4320000" cy="360000"/>
          </a:xfrm>
          <a:prstGeom prst="rect">
            <a:avLst/>
          </a:prstGeom>
          <a:noFill/>
        </p:spPr>
        <p:txBody>
          <a:bodyPr wrap="square">
            <a:spAutoFit/>
          </a:bodyPr>
          <a:lstStyle/>
          <a:p>
            <a:pPr algn="ctr"/>
            <a:r>
              <a:rPr sz="1400" b="1" i="0">
                <a:solidFill>
                  <a:srgbClr val="FFFFFF"/>
                </a:solidFill>
              </a:rPr>
              <a:t>Backend</a:t>
            </a:r>
          </a:p>
        </p:txBody>
      </p:sp>
      <p:sp>
        <p:nvSpPr>
          <p:cNvPr id="14" name="TextBox 13"/>
          <p:cNvSpPr txBox="1"/>
          <p:nvPr/>
        </p:nvSpPr>
        <p:spPr>
          <a:xfrm>
            <a:off x="7128000" y="1692000"/>
            <a:ext cx="4320000" cy="396000"/>
          </a:xfrm>
          <a:prstGeom prst="rect">
            <a:avLst/>
          </a:prstGeom>
          <a:noFill/>
        </p:spPr>
        <p:txBody>
          <a:bodyPr wrap="square">
            <a:spAutoFit/>
          </a:bodyPr>
          <a:lstStyle/>
          <a:p>
            <a:pPr algn="l"/>
            <a:r>
              <a:rPr sz="1200" b="1" i="0">
                <a:solidFill>
                  <a:srgbClr val="191919"/>
                </a:solidFill>
              </a:rPr>
              <a:t>  •  FastAPI (Python)</a:t>
            </a:r>
          </a:p>
        </p:txBody>
      </p:sp>
      <p:sp>
        <p:nvSpPr>
          <p:cNvPr id="15" name="TextBox 14"/>
          <p:cNvSpPr txBox="1"/>
          <p:nvPr/>
        </p:nvSpPr>
        <p:spPr>
          <a:xfrm>
            <a:off x="7128000" y="2124000"/>
            <a:ext cx="4320000" cy="396000"/>
          </a:xfrm>
          <a:prstGeom prst="rect">
            <a:avLst/>
          </a:prstGeom>
          <a:noFill/>
        </p:spPr>
        <p:txBody>
          <a:bodyPr wrap="square">
            <a:spAutoFit/>
          </a:bodyPr>
          <a:lstStyle/>
          <a:p>
            <a:pPr algn="l"/>
            <a:r>
              <a:rPr sz="1200" b="1" i="0">
                <a:solidFill>
                  <a:srgbClr val="191919"/>
                </a:solidFill>
              </a:rPr>
              <a:t>  •  SQLAlchemy 2 + Alembic</a:t>
            </a:r>
          </a:p>
        </p:txBody>
      </p:sp>
      <p:sp>
        <p:nvSpPr>
          <p:cNvPr id="16" name="TextBox 15"/>
          <p:cNvSpPr txBox="1"/>
          <p:nvPr/>
        </p:nvSpPr>
        <p:spPr>
          <a:xfrm>
            <a:off x="7128000" y="2556000"/>
            <a:ext cx="4320000" cy="396000"/>
          </a:xfrm>
          <a:prstGeom prst="rect">
            <a:avLst/>
          </a:prstGeom>
          <a:noFill/>
        </p:spPr>
        <p:txBody>
          <a:bodyPr wrap="square">
            <a:spAutoFit/>
          </a:bodyPr>
          <a:lstStyle/>
          <a:p>
            <a:pPr algn="l"/>
            <a:r>
              <a:rPr sz="1200" b="1" i="0">
                <a:solidFill>
                  <a:srgbClr val="191919"/>
                </a:solidFill>
              </a:rPr>
              <a:t>  •  PostgreSQL 16</a:t>
            </a:r>
          </a:p>
        </p:txBody>
      </p:sp>
      <p:sp>
        <p:nvSpPr>
          <p:cNvPr id="17" name="Rectangle 16"/>
          <p:cNvSpPr/>
          <p:nvPr/>
        </p:nvSpPr>
        <p:spPr>
          <a:xfrm>
            <a:off x="1908000" y="3600000"/>
            <a:ext cx="4680000" cy="468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88000" y="3654000"/>
            <a:ext cx="4320000" cy="360000"/>
          </a:xfrm>
          <a:prstGeom prst="rect">
            <a:avLst/>
          </a:prstGeom>
          <a:noFill/>
        </p:spPr>
        <p:txBody>
          <a:bodyPr wrap="square">
            <a:spAutoFit/>
          </a:bodyPr>
          <a:lstStyle/>
          <a:p>
            <a:pPr algn="ctr"/>
            <a:r>
              <a:rPr sz="1400" b="1" i="0">
                <a:solidFill>
                  <a:srgbClr val="FFFFFF"/>
                </a:solidFill>
              </a:rPr>
              <a:t>Modèles IA</a:t>
            </a:r>
          </a:p>
        </p:txBody>
      </p:sp>
      <p:sp>
        <p:nvSpPr>
          <p:cNvPr id="19" name="TextBox 18"/>
          <p:cNvSpPr txBox="1"/>
          <p:nvPr/>
        </p:nvSpPr>
        <p:spPr>
          <a:xfrm>
            <a:off x="2088000" y="4140000"/>
            <a:ext cx="4320000" cy="396000"/>
          </a:xfrm>
          <a:prstGeom prst="rect">
            <a:avLst/>
          </a:prstGeom>
          <a:noFill/>
        </p:spPr>
        <p:txBody>
          <a:bodyPr wrap="square">
            <a:spAutoFit/>
          </a:bodyPr>
          <a:lstStyle/>
          <a:p>
            <a:pPr algn="l"/>
            <a:r>
              <a:rPr sz="1200" b="1" i="0">
                <a:solidFill>
                  <a:srgbClr val="191919"/>
                </a:solidFill>
              </a:rPr>
              <a:t>  •  BGE-M3 (bi-encoder, 570M)</a:t>
            </a:r>
          </a:p>
        </p:txBody>
      </p:sp>
      <p:sp>
        <p:nvSpPr>
          <p:cNvPr id="20" name="TextBox 19"/>
          <p:cNvSpPr txBox="1"/>
          <p:nvPr/>
        </p:nvSpPr>
        <p:spPr>
          <a:xfrm>
            <a:off x="2088000" y="4572000"/>
            <a:ext cx="4320000" cy="396000"/>
          </a:xfrm>
          <a:prstGeom prst="rect">
            <a:avLst/>
          </a:prstGeom>
          <a:noFill/>
        </p:spPr>
        <p:txBody>
          <a:bodyPr wrap="square">
            <a:spAutoFit/>
          </a:bodyPr>
          <a:lstStyle/>
          <a:p>
            <a:pPr algn="l"/>
            <a:r>
              <a:rPr sz="1200" b="1" i="0">
                <a:solidFill>
                  <a:srgbClr val="191919"/>
                </a:solidFill>
              </a:rPr>
              <a:t>  •  Cross-Encoder Reranker</a:t>
            </a:r>
          </a:p>
        </p:txBody>
      </p:sp>
      <p:sp>
        <p:nvSpPr>
          <p:cNvPr id="21" name="TextBox 20"/>
          <p:cNvSpPr txBox="1"/>
          <p:nvPr/>
        </p:nvSpPr>
        <p:spPr>
          <a:xfrm>
            <a:off x="2088000" y="5004000"/>
            <a:ext cx="4320000" cy="396000"/>
          </a:xfrm>
          <a:prstGeom prst="rect">
            <a:avLst/>
          </a:prstGeom>
          <a:noFill/>
        </p:spPr>
        <p:txBody>
          <a:bodyPr wrap="square">
            <a:spAutoFit/>
          </a:bodyPr>
          <a:lstStyle/>
          <a:p>
            <a:pPr algn="l"/>
            <a:r>
              <a:rPr sz="1200" b="1" i="0">
                <a:solidFill>
                  <a:srgbClr val="191919"/>
                </a:solidFill>
              </a:rPr>
              <a:t>  •  spaCy · ISCO-08 (53 domaines)</a:t>
            </a:r>
          </a:p>
        </p:txBody>
      </p:sp>
      <p:sp>
        <p:nvSpPr>
          <p:cNvPr id="22" name="Rectangle 21"/>
          <p:cNvSpPr/>
          <p:nvPr/>
        </p:nvSpPr>
        <p:spPr>
          <a:xfrm>
            <a:off x="6948000" y="3600000"/>
            <a:ext cx="4680000" cy="468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28000" y="3654000"/>
            <a:ext cx="4320000" cy="360000"/>
          </a:xfrm>
          <a:prstGeom prst="rect">
            <a:avLst/>
          </a:prstGeom>
          <a:noFill/>
        </p:spPr>
        <p:txBody>
          <a:bodyPr wrap="square">
            <a:spAutoFit/>
          </a:bodyPr>
          <a:lstStyle/>
          <a:p>
            <a:pPr algn="ctr"/>
            <a:r>
              <a:rPr sz="1400" b="1" i="0">
                <a:solidFill>
                  <a:srgbClr val="FFFFFF"/>
                </a:solidFill>
              </a:rPr>
              <a:t>Déploiement</a:t>
            </a:r>
          </a:p>
        </p:txBody>
      </p:sp>
      <p:sp>
        <p:nvSpPr>
          <p:cNvPr id="24" name="TextBox 23"/>
          <p:cNvSpPr txBox="1"/>
          <p:nvPr/>
        </p:nvSpPr>
        <p:spPr>
          <a:xfrm>
            <a:off x="7128000" y="4140000"/>
            <a:ext cx="4320000" cy="396000"/>
          </a:xfrm>
          <a:prstGeom prst="rect">
            <a:avLst/>
          </a:prstGeom>
          <a:noFill/>
        </p:spPr>
        <p:txBody>
          <a:bodyPr wrap="square">
            <a:spAutoFit/>
          </a:bodyPr>
          <a:lstStyle/>
          <a:p>
            <a:pPr algn="l"/>
            <a:r>
              <a:rPr sz="1200" b="1" i="0">
                <a:solidFill>
                  <a:srgbClr val="191919"/>
                </a:solidFill>
              </a:rPr>
              <a:t>  •  Railway (Docker)</a:t>
            </a:r>
          </a:p>
        </p:txBody>
      </p:sp>
      <p:sp>
        <p:nvSpPr>
          <p:cNvPr id="25" name="TextBox 24"/>
          <p:cNvSpPr txBox="1"/>
          <p:nvPr/>
        </p:nvSpPr>
        <p:spPr>
          <a:xfrm>
            <a:off x="7128000" y="4572000"/>
            <a:ext cx="4320000" cy="396000"/>
          </a:xfrm>
          <a:prstGeom prst="rect">
            <a:avLst/>
          </a:prstGeom>
          <a:noFill/>
        </p:spPr>
        <p:txBody>
          <a:bodyPr wrap="square">
            <a:spAutoFit/>
          </a:bodyPr>
          <a:lstStyle/>
          <a:p>
            <a:pPr algn="l"/>
            <a:r>
              <a:rPr sz="1200" b="1" i="0">
                <a:solidFill>
                  <a:srgbClr val="191919"/>
                </a:solidFill>
              </a:rPr>
              <a:t>  •  GitHub (versioning)</a:t>
            </a:r>
          </a:p>
        </p:txBody>
      </p:sp>
      <p:sp>
        <p:nvSpPr>
          <p:cNvPr id="26" name="TextBox 25"/>
          <p:cNvSpPr txBox="1"/>
          <p:nvPr/>
        </p:nvSpPr>
        <p:spPr>
          <a:xfrm>
            <a:off x="7128000" y="5004000"/>
            <a:ext cx="4320000" cy="396000"/>
          </a:xfrm>
          <a:prstGeom prst="rect">
            <a:avLst/>
          </a:prstGeom>
          <a:noFill/>
        </p:spPr>
        <p:txBody>
          <a:bodyPr wrap="square">
            <a:spAutoFit/>
          </a:bodyPr>
          <a:lstStyle/>
          <a:p>
            <a:pPr algn="l"/>
            <a:r>
              <a:rPr sz="1200" b="1" i="0">
                <a:solidFill>
                  <a:srgbClr val="191919"/>
                </a:solidFill>
              </a:rPr>
              <a:t>  •  Vite Build + CI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flipV="1">
            <a:off x="0" y="0"/>
            <a:ext cx="1512000" cy="1980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00000" y="251999"/>
            <a:ext cx="9720000" cy="684000"/>
          </a:xfrm>
          <a:prstGeom prst="rect">
            <a:avLst/>
          </a:prstGeom>
          <a:noFill/>
        </p:spPr>
        <p:txBody>
          <a:bodyPr wrap="square">
            <a:spAutoFit/>
          </a:bodyPr>
          <a:lstStyle/>
          <a:p>
            <a:pPr algn="l"/>
            <a:r>
              <a:rPr sz="2800" b="1" i="0">
                <a:solidFill>
                  <a:srgbClr val="0A2350"/>
                </a:solidFill>
              </a:rPr>
              <a:t>Avancement actuel</a:t>
            </a:r>
          </a:p>
        </p:txBody>
      </p:sp>
      <p:sp>
        <p:nvSpPr>
          <p:cNvPr id="5" name="Rectangle 4"/>
          <p:cNvSpPr/>
          <p:nvPr/>
        </p:nvSpPr>
        <p:spPr>
          <a:xfrm>
            <a:off x="1800000" y="864000"/>
            <a:ext cx="1980000" cy="72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miley Face 5"/>
          <p:cNvSpPr/>
          <p:nvPr/>
        </p:nvSpPr>
        <p:spPr>
          <a:xfrm>
            <a:off x="1800000" y="1188000"/>
            <a:ext cx="4860000" cy="2160000"/>
          </a:xfrm>
          <a:prstGeom prst="smileyFace">
            <a:avLst/>
          </a:prstGeom>
          <a:solidFill>
            <a:srgbClr val="E8E8E8"/>
          </a:solidFill>
          <a:ln>
            <a:solidFill>
              <a:srgbClr val="0A23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00000" y="1188000"/>
            <a:ext cx="4860000" cy="432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08000" y="1242000"/>
            <a:ext cx="4680000" cy="324000"/>
          </a:xfrm>
          <a:prstGeom prst="rect">
            <a:avLst/>
          </a:prstGeom>
          <a:noFill/>
        </p:spPr>
        <p:txBody>
          <a:bodyPr wrap="square">
            <a:spAutoFit/>
          </a:bodyPr>
          <a:lstStyle/>
          <a:p>
            <a:pPr algn="l"/>
            <a:r>
              <a:rPr sz="1200" b="1" i="0">
                <a:solidFill>
                  <a:srgbClr val="FFFFFF"/>
                </a:solidFill>
              </a:rPr>
              <a:t>Dashboard recruteur</a:t>
            </a:r>
          </a:p>
        </p:txBody>
      </p:sp>
      <p:sp>
        <p:nvSpPr>
          <p:cNvPr id="9" name="TextBox 8"/>
          <p:cNvSpPr txBox="1"/>
          <p:nvPr/>
        </p:nvSpPr>
        <p:spPr>
          <a:xfrm>
            <a:off x="1980000" y="1728000"/>
            <a:ext cx="4500000" cy="1440000"/>
          </a:xfrm>
          <a:prstGeom prst="rect">
            <a:avLst/>
          </a:prstGeom>
          <a:noFill/>
        </p:spPr>
        <p:txBody>
          <a:bodyPr wrap="square">
            <a:spAutoFit/>
          </a:bodyPr>
          <a:lstStyle/>
          <a:p>
            <a:pPr algn="ctr"/>
            <a:r>
              <a:rPr sz="1100" b="0" i="1">
                <a:solidFill>
                  <a:srgbClr val="A0A0A0"/>
                </a:solidFill>
              </a:rPr>
              <a:t>[ Capture d'écran ]
Classement IA des candidats (93.7% → 5.3%)</a:t>
            </a:r>
          </a:p>
        </p:txBody>
      </p:sp>
      <p:sp>
        <p:nvSpPr>
          <p:cNvPr id="10" name="Smiley Face 9"/>
          <p:cNvSpPr/>
          <p:nvPr/>
        </p:nvSpPr>
        <p:spPr>
          <a:xfrm>
            <a:off x="7380000" y="1188000"/>
            <a:ext cx="4860000" cy="2160000"/>
          </a:xfrm>
          <a:prstGeom prst="smileyFace">
            <a:avLst/>
          </a:prstGeom>
          <a:solidFill>
            <a:srgbClr val="E8E8E8"/>
          </a:solidFill>
          <a:ln>
            <a:solidFill>
              <a:srgbClr val="0A23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80000" y="1188000"/>
            <a:ext cx="4860000" cy="432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88000" y="1242000"/>
            <a:ext cx="4680000" cy="324000"/>
          </a:xfrm>
          <a:prstGeom prst="rect">
            <a:avLst/>
          </a:prstGeom>
          <a:noFill/>
        </p:spPr>
        <p:txBody>
          <a:bodyPr wrap="square">
            <a:spAutoFit/>
          </a:bodyPr>
          <a:lstStyle/>
          <a:p>
            <a:pPr algn="l"/>
            <a:r>
              <a:rPr sz="1200" b="1" i="0">
                <a:solidFill>
                  <a:srgbClr val="FFFFFF"/>
                </a:solidFill>
              </a:rPr>
              <a:t>Rapport de matching</a:t>
            </a:r>
          </a:p>
        </p:txBody>
      </p:sp>
      <p:sp>
        <p:nvSpPr>
          <p:cNvPr id="13" name="TextBox 12"/>
          <p:cNvSpPr txBox="1"/>
          <p:nvPr/>
        </p:nvSpPr>
        <p:spPr>
          <a:xfrm>
            <a:off x="7560000" y="1728000"/>
            <a:ext cx="4500000" cy="1440000"/>
          </a:xfrm>
          <a:prstGeom prst="rect">
            <a:avLst/>
          </a:prstGeom>
          <a:noFill/>
        </p:spPr>
        <p:txBody>
          <a:bodyPr wrap="square">
            <a:spAutoFit/>
          </a:bodyPr>
          <a:lstStyle/>
          <a:p>
            <a:pPr algn="ctr"/>
            <a:r>
              <a:rPr sz="1100" b="0" i="1">
                <a:solidFill>
                  <a:srgbClr val="A0A0A0"/>
                </a:solidFill>
              </a:rPr>
              <a:t>[ Capture d'écran ]
Score détaillé : Comp. / Sémantique / Exp. / Form.</a:t>
            </a:r>
          </a:p>
        </p:txBody>
      </p:sp>
      <p:sp>
        <p:nvSpPr>
          <p:cNvPr id="14" name="Smiley Face 13"/>
          <p:cNvSpPr/>
          <p:nvPr/>
        </p:nvSpPr>
        <p:spPr>
          <a:xfrm>
            <a:off x="1800000" y="3816000"/>
            <a:ext cx="4860000" cy="2160000"/>
          </a:xfrm>
          <a:prstGeom prst="smileyFace">
            <a:avLst/>
          </a:prstGeom>
          <a:solidFill>
            <a:srgbClr val="E8E8E8"/>
          </a:solidFill>
          <a:ln>
            <a:solidFill>
              <a:srgbClr val="0A23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800000" y="3816000"/>
            <a:ext cx="4860000" cy="432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908000" y="3870000"/>
            <a:ext cx="4680000" cy="324000"/>
          </a:xfrm>
          <a:prstGeom prst="rect">
            <a:avLst/>
          </a:prstGeom>
          <a:noFill/>
        </p:spPr>
        <p:txBody>
          <a:bodyPr wrap="square">
            <a:spAutoFit/>
          </a:bodyPr>
          <a:lstStyle/>
          <a:p>
            <a:pPr algn="l"/>
            <a:r>
              <a:rPr sz="1200" b="1" i="0">
                <a:solidFill>
                  <a:srgbClr val="FFFFFF"/>
                </a:solidFill>
              </a:rPr>
              <a:t>Interface candidat</a:t>
            </a:r>
          </a:p>
        </p:txBody>
      </p:sp>
      <p:sp>
        <p:nvSpPr>
          <p:cNvPr id="17" name="TextBox 16"/>
          <p:cNvSpPr txBox="1"/>
          <p:nvPr/>
        </p:nvSpPr>
        <p:spPr>
          <a:xfrm>
            <a:off x="1980000" y="4356000"/>
            <a:ext cx="4500000" cy="1440000"/>
          </a:xfrm>
          <a:prstGeom prst="rect">
            <a:avLst/>
          </a:prstGeom>
          <a:noFill/>
        </p:spPr>
        <p:txBody>
          <a:bodyPr wrap="square">
            <a:spAutoFit/>
          </a:bodyPr>
          <a:lstStyle/>
          <a:p>
            <a:pPr algn="ctr"/>
            <a:r>
              <a:rPr sz="1100" b="0" i="1">
                <a:solidFill>
                  <a:srgbClr val="A0A0A0"/>
                </a:solidFill>
              </a:rPr>
              <a:t>[ Capture d'écran ]
Upload CV · RGPD · Suivi du statut</a:t>
            </a:r>
          </a:p>
        </p:txBody>
      </p:sp>
      <p:sp>
        <p:nvSpPr>
          <p:cNvPr id="18" name="Smiley Face 17"/>
          <p:cNvSpPr/>
          <p:nvPr/>
        </p:nvSpPr>
        <p:spPr>
          <a:xfrm>
            <a:off x="7380000" y="3816000"/>
            <a:ext cx="4860000" cy="2160000"/>
          </a:xfrm>
          <a:prstGeom prst="smileyFace">
            <a:avLst/>
          </a:prstGeom>
          <a:solidFill>
            <a:srgbClr val="E8E8E8"/>
          </a:solidFill>
          <a:ln>
            <a:solidFill>
              <a:srgbClr val="0A23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80000" y="3816000"/>
            <a:ext cx="4860000" cy="432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88000" y="3870000"/>
            <a:ext cx="4680000" cy="324000"/>
          </a:xfrm>
          <a:prstGeom prst="rect">
            <a:avLst/>
          </a:prstGeom>
          <a:noFill/>
        </p:spPr>
        <p:txBody>
          <a:bodyPr wrap="square">
            <a:spAutoFit/>
          </a:bodyPr>
          <a:lstStyle/>
          <a:p>
            <a:pPr algn="l"/>
            <a:r>
              <a:rPr sz="1200" b="1" i="0">
                <a:solidFill>
                  <a:srgbClr val="FFFFFF"/>
                </a:solidFill>
              </a:rPr>
              <a:t>Pipeline NLP</a:t>
            </a:r>
          </a:p>
        </p:txBody>
      </p:sp>
      <p:sp>
        <p:nvSpPr>
          <p:cNvPr id="21" name="TextBox 20"/>
          <p:cNvSpPr txBox="1"/>
          <p:nvPr/>
        </p:nvSpPr>
        <p:spPr>
          <a:xfrm>
            <a:off x="7560000" y="4356000"/>
            <a:ext cx="4500000" cy="1440000"/>
          </a:xfrm>
          <a:prstGeom prst="rect">
            <a:avLst/>
          </a:prstGeom>
          <a:noFill/>
        </p:spPr>
        <p:txBody>
          <a:bodyPr wrap="square">
            <a:spAutoFit/>
          </a:bodyPr>
          <a:lstStyle/>
          <a:p>
            <a:pPr algn="ctr"/>
            <a:r>
              <a:rPr sz="1100" b="0" i="1">
                <a:solidFill>
                  <a:srgbClr val="A0A0A0"/>
                </a:solidFill>
              </a:rPr>
              <a:t>[ Capture d'écran ]
Extraction · Parsing · Scoring BGE-M3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520000"/>
            <a:ext cx="12192000" cy="1620000"/>
          </a:xfrm>
          <a:prstGeom prst="rect">
            <a:avLst/>
          </a:prstGeom>
          <a:noFill/>
        </p:spPr>
        <p:txBody>
          <a:bodyPr wrap="square">
            <a:spAutoFit/>
          </a:bodyPr>
          <a:lstStyle/>
          <a:p>
            <a:pPr algn="ctr"/>
            <a:r>
              <a:rPr sz="5400" b="1" i="0">
                <a:solidFill>
                  <a:srgbClr val="FFFFFF"/>
                </a:solidFill>
              </a:rPr>
              <a:t>Conclusion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