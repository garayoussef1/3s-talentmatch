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m'appelle Youssef Gara, etudiant en Licence Genie Logiciel a l'ESPRIT.</a:t>
            </a:r>
          </a:p>
          <a:p>
            <a:r>
              <a:t>Je vais vous presenter aujourd'hui mon projet de stage de fin d'etudes realise au sein de la societe 3S, intitule TalentMatch.</a:t>
            </a:r>
          </a:p>
          <a:p>
            <a:r>
              <a:t>Il s'agit d'une plateforme intelligente de recrutement basee sur l'intelligence artificielle.</a:t>
            </a:r>
          </a:p>
          <a:p>
            <a:r>
              <a:t>Ce stage d'une duree de 6 mois, de fevrier a aout 2026, est encadre academiquement par Madame Loujayne Bouzrati et au sein de l'entreprise par Madame Sirine Nasri.</a:t>
            </a:r>
          </a:p>
          <a:p>
            <a:r>
              <a:t>Je vous remercie de l'attention que vous portez a cette premiere restitution.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presentation se deroulera en sept parties.</a:t>
            </a:r>
          </a:p>
          <a:p>
            <a:r>
              <a:t>Je commencerai par vous presenter le contexte et l'entreprise 3S, puis j'aborderai le cadre du projet en expliquant la problematique et l'etude de l'existant.</a:t>
            </a:r>
          </a:p>
          <a:p>
            <a:r>
              <a:t>Ensuite viendra l'analyse des besoins, l'architecture technique retenue, la methodologie de developpement suivie sous forme de 6 sprints d'un mois.</a:t>
            </a:r>
          </a:p>
          <a:p>
            <a:r>
              <a:t>Je vous montrerai ensuite l'etat d'avancement actuel du projet avec une demonstration du systeme.</a:t>
            </a:r>
          </a:p>
          <a:p>
            <a:r>
              <a:t>Je terminerai par la conclusion et les perspectives pour les deux mois restants.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3S est une entreprise tunisienne specialisee dans l'integration des infrastructures IT, fondee en 1988.</a:t>
            </a:r>
          </a:p>
          <a:p>
            <a:r>
              <a:t>Avec plus de 35 ans d'expertise, elle compte aujourd'hui plus de 300 employes et plus de 450 certifications professionnelles cumulees.</a:t>
            </a:r>
          </a:p>
          <a:p>
            <a:r>
              <a:t>Elle sert plus de 2000 clients dans des secteurs varies — aussi bien des grands groupes que des PME.</a:t>
            </a:r>
          </a:p>
          <a:p>
            <a:r>
              <a:t>Elle a obtenu deux certifications internationales : l'ISO 9001 version 2015 pour la qualite de gestion, et l'ISO 27001 version 2013 pour la securite de l'information, ce qui en fait le premier integrateur IT tunisien certifie sur ce second referentiel.</a:t>
            </a:r>
          </a:p>
          <a:p>
            <a:r>
              <a:t>En 2019, elle a etendu ses activites en ouvrant une filiale a Abidjan pour le marche ivoirien.</a:t>
            </a:r>
          </a:p>
          <a:p>
            <a:r>
              <a:t>C'est dans ce contexte que ma mission de stage a ete definie : concevoir et developper une plateforme intelligente permettant d'automatiser le matching entre les CVs des candidats et les offres d'emploi.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probleme que j'ai identifie est le suivant : chez 3S, comme dans beaucoup d'entreprises, le tri des CVs se fait encore manuellement.</a:t>
            </a:r>
          </a:p>
          <a:p>
            <a:r>
              <a:t>Cela prend beaucoup de temps, introduit des biais humains, et ne passe pas a l'echelle quand le volume de candidatures augmente.</a:t>
            </a:r>
          </a:p>
          <a:p>
            <a:r>
              <a:t>En etudiant les solutions existantes sur le marche, j'ai constate que des outils comme LinkedIn Recruiter ou Workday sont tres couteux et ne proposent pas un vrai traitement du langage naturel en francais.</a:t>
            </a:r>
          </a:p>
          <a:p>
            <a:r>
              <a:t>Les systemes de tri par simples mots-cles manquent la semantique : un candidat qui ecrit "developpement logiciel" ne sera pas retrouve si l'offre dit "software development".</a:t>
            </a:r>
          </a:p>
          <a:p>
            <a:r>
              <a:t>Notre solution, TalentMatch, repond a ces limites en proposant un matching semantique base sur BERT, adapte au marche tunisien, multilingue francais-anglais et entierement personnalisable.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solution que j'ai developpee est une plateforme web complete avec trois niveaux d'acces.</a:t>
            </a:r>
          </a:p>
          <a:p>
            <a:r>
              <a:t>Le candidat peut s'inscrire, uploader son CV et suivre en temps reel l'etat de ses candidatures.</a:t>
            </a:r>
          </a:p>
          <a:p>
            <a:r>
              <a:t>Le recruteur cree des offres d'emploi et recoit automatiquement les candidats classes par un score d'intelligence artificielle, avec le detail des competences matchees.</a:t>
            </a:r>
          </a:p>
          <a:p>
            <a:r>
              <a:t>L'administrateur gere les utilisateurs, cree les comptes recruteurs et supervise les logs d'acces pour la conformite RGPD.</a:t>
            </a:r>
          </a:p>
          <a:p>
            <a:r>
              <a:t>Tout le processus est automatise : des qu'un CV est uploade, il est analyse, parse par notre pipeline NLP, et un score de matching est calcule automatiquement par rapport a l'offre concernee.</a:t>
            </a:r>
          </a:p>
          <a:p>
            <a:r>
              <a:t>Le recruteur n'a plus qu'a consulter le classement et prendre sa decision en un clic.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termes de besoins fonctionnels, j'ai identifie les fonctionnalites essentielles pour chaque acteur du systeme.</a:t>
            </a:r>
          </a:p>
          <a:p>
            <a:r>
              <a:t>Pour le candidat : s'inscrire via email ou via OAuth Google et LinkedIn, uploader son CV dans les formats PDF, DOCX ou image, consulter les offres disponibles et postuler, puis recevoir des notifications sur l'evolution de sa candidature.</a:t>
            </a:r>
          </a:p>
          <a:p>
            <a:r>
              <a:t>Pour le recruteur : creer et gerer les offres d'emploi, lancer le matching IA pour une offre donnee, consulter les candidats classes par score et modifier les statuts selon ses decisions.</a:t>
            </a:r>
          </a:p>
          <a:p>
            <a:r>
              <a:t>Pour l'administrateur : gerer l'ensemble des comptes utilisateurs, creer des comptes recruteurs, consulter les logs d'acces pour la conformite RGPD et avoir une vue globale du systeme via un tableau de bord.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Au-dela des fonctionnalites, le systeme doit respecter des contraintes non fonctionnelles importantes que j'ai organisees en six axes.</a:t>
            </a:r>
          </a:p>
          <a:p>
            <a:r>
              <a:t>La securite : toutes les communications sont protegees par JWT avec refresh token, les mots de passe sont haches en bcrypt, et l'OAuth garantit une authentification fiable via des fournisseurs tiers.</a:t>
            </a:r>
          </a:p>
          <a:p>
            <a:r>
              <a:t>La performance : le modele BERT est charge en memoire au demarrage du serveur pour eviter les delais — le score est calcule en moins de 2 secondes par candidat.</a:t>
            </a:r>
          </a:p>
          <a:p>
            <a:r>
              <a:t>La conformite RGPD : chaque acces aux donnees est trace avec l'identite de l'utilisateur, l'action effectuee et l'horodatage, accessible uniquement par l'administrateur.</a:t>
            </a:r>
          </a:p>
          <a:p>
            <a:r>
              <a:t>La maintenabilite : l'architecture est modulaire, les moteurs IA sont interchangeables et l'API est documentee automatiquement via Swagger.</a:t>
            </a:r>
          </a:p>
          <a:p>
            <a:r>
              <a:t>Enfin, l'extensibilite permet d'ajouter un nouveau moteur IA en un seul fichier sans modifier le reste du systeme.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L'architecture technique retenue est une architecture 3 tiers standard.</a:t>
            </a:r>
          </a:p>
          <a:p>
            <a:r>
              <a:t>La couche frontend est developpee en React avec Vite : elle expose les interfaces des trois types d'utilisateurs et communique avec le backend via des appels HTTP REST securises par JWT.</a:t>
            </a:r>
          </a:p>
          <a:p>
            <a:r>
              <a:t>La couche backend est developpee en FastAPI Python : elle expose l'ensemble des endpoints de l'API, gere la logique metier, l'authentification, et orchestre le pipeline d'intelligence artificielle.</a:t>
            </a:r>
          </a:p>
          <a:p>
            <a:r>
              <a:t>La base de donnees est PostgreSQL, geree via SQLAlchemy comme ORM et Alembic pour le versionnage des migrations.</a:t>
            </a:r>
          </a:p>
          <a:p>
            <a:r>
              <a:t>La couche IA repose sur notre modele TalentMatch-BERT v2.0, un modele multilingual MiniLM fine-tune sur des CVs reels, assiste de spaCy pour le parsing NLP en francais.</a:t>
            </a:r>
          </a:p>
          <a:p>
            <a:r>
              <a:t>Ces quatre couches communiquent de maniere securisee via CORS configure et JWT Bearer token.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coeur technique du projet est le pipeline de matching IA qui se deroulant en cinq etapes.</a:t>
            </a:r>
          </a:p>
          <a:p>
            <a:r>
              <a:t>Premiere etape, l'extraction du texte brut : pour un PDF textuel on utilise PyMuPDF, pour un DOCX on utilise python-docx, et pour les PDFs scannes ou les images on fait appel a l'OCR Tesseract.</a:t>
            </a:r>
          </a:p>
          <a:p>
            <a:r>
              <a:t>Deuxieme etape, le NLP Parser base sur spaCy analyse ce texte et extrait les competences, les experiences professionnelles, les formations et les informations de contact du candidat.</a:t>
            </a:r>
          </a:p>
          <a:p>
            <a:r>
              <a:t>Troisieme etape, le modele TalentMatch-BERT v2.0 encode semantiquement le texte du CV et le texte de l'offre pour calculer une similarite vectorielle.</a:t>
            </a:r>
          </a:p>
          <a:p>
            <a:r>
              <a:t>Quatrieme etape, un reseau de neurones MLP combine cinq dimensions : la similarite semantique, le taux de competences requises matchees, le score d'experience, le niveau de formation et le taux de competences appreciees.</a:t>
            </a:r>
          </a:p>
          <a:p>
            <a:r>
              <a:t>Cinquieme etape, un score final de 0 a 100 pourcent est produit avec une decision automatique : Excellent candidat, Bon profil, A evaluer ou Non adapte.</a:t>
            </a:r>
          </a:p>
          <a:p>
            <a:r>
              <a:t>Pour eviter les faux positifs, un systeme de plafonnement par domaine metier est applique : si le candidat est dans un domaine totalement different de l'offre, son score est plafonne automatiquement.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organiser le developpement sur 6 mois, j'ai adopte une methodologie Agile Scrum avec 6 sprints d'un mois chacun.</a:t>
            </a:r>
          </a:p>
          <a:p>
            <a:r>
              <a:t>Le Sprint 1, en fevrier, a ete consacre a la phase de conception : cahier des charges, diagrammes UML, architecture technique et mise en place de l'environnement de developpement.</a:t>
            </a:r>
          </a:p>
          <a:p>
            <a:r>
              <a:t>Le Sprint 2, en mars, a porte sur l'extraction des CVs : upload multi-format PDF et DOCX, integration de l'OCR EasyOCR pour les documents scannes, et stockage en base de donnees.</a:t>
            </a:r>
          </a:p>
          <a:p>
            <a:r>
              <a:t>Le Sprint 3, en avril, a ete dedie au pipeline NLP avec spaCy pour extraire automatiquement les competences, les experiences et les formations a partir du texte brut des CVs.</a:t>
            </a:r>
          </a:p>
          <a:p>
            <a:r>
              <a:t>Nous sommes actuellement dans le Sprint 4, en mai, qui integre le modele BERT, developpe le module de matching candidat-offre et construit le tableau de bord RH. C'est l'etat que je vous presente aujourd'hui dans cette premiere restitution.</a:t>
            </a:r>
          </a:p>
          <a:p>
            <a:r>
              <a:t>Les Sprints 5 et 6, de juin a aout, couvriront la securite, les tests d'integration, les ameliorations UX, la documentation et la preparation de la soutenance finale.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ce stade de la premiere restitution, l'ensemble des fonctionnalites principales sont developpees et operationnelles.</a:t>
            </a:r>
          </a:p>
          <a:p>
            <a:r>
              <a:t>Le systeme d'authentification est complet avec JWT, OAuth Google et LinkedIn, verification par email et trois niveaux de roles.</a:t>
            </a:r>
          </a:p>
          <a:p>
            <a:r>
              <a:t>L'extraction de CVs fonctionne pour les trois formats : PDF textuel, DOCX, et PDF scanne via OCR.</a:t>
            </a:r>
          </a:p>
          <a:p>
            <a:r>
              <a:t>Le NLP Parser analyse les CVs en francais et en anglais pour extraire competences, experiences et formations.</a:t>
            </a:r>
          </a:p>
          <a:p>
            <a:r>
              <a:t>Le moteur de matching IA TalentMatch-BERT v2.0 est entraine et operationnel : il produit un score de 0 a 100 pourcent avec une decision automatique en quatre niveaux.</a:t>
            </a:r>
          </a:p>
          <a:p>
            <a:r>
              <a:t>Le systeme de notifications envoie des emails aux candidats lors de l'acceptation ou du refus de leur candidature.</a:t>
            </a:r>
          </a:p>
          <a:p>
            <a:r>
              <a:t>L'interface React est complete pour les trois profils utilisateurs : candidat, recruteur et administrateur.</a:t>
            </a:r>
          </a:p>
          <a:p>
            <a:r>
              <a:t>Au total, le systeme a ete valide sur plus de 80 CVs reels en test, couvrant 14 domaines metiers differents.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vais maintenant vous montrer le parcours type d'utilisation de la plateforme en quatre etapes.</a:t>
            </a:r>
          </a:p>
          <a:p>
            <a:r>
              <a:t>Premiere etape : le candidat uploade son CV depuis son espace personnel. L'extraction du texte et le parsing NLP se font automatiquement en quelques secondes — les competences, experiences et formations sont detectees sans aucune intervention manuelle.</a:t>
            </a:r>
          </a:p>
          <a:p>
            <a:r>
              <a:t>Deuxieme etape : le recruteur acceede a son offre et clique sur "Lancer le matching". Le systeme calcule les scores BERT pour tous les candidats ayant postule et les classe du meilleur au moins bon.</a:t>
            </a:r>
          </a:p>
          <a:p>
            <a:r>
              <a:t>Troisieme etape : les resultats s'affichent avec pour chaque candidat son score en pourcentage, sa decision automatique — Excellent, Bon profil, A evaluer ou Non adapte — et le detail des competences matchees.</a:t>
            </a:r>
          </a:p>
          <a:p>
            <a:r>
              <a:t>Quatrieme etape : le recruteur accepte ou refuse d'un clic. Le candidat recoit immediatement un email de notification et la cloche in-app se met a jour en temps reel.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cette premiere restitution, TalentMatch repond concretement au besoin identifie chez 3S : automatiser et objectiver le processus de recrutement.</a:t>
            </a:r>
          </a:p>
          <a:p>
            <a:r>
              <a:t>Le projet apporte un pipeline IA complet de bout en bout, depuis l'upload du CV jusqu'a la decision automatique, avec un modele BERT fine-tune sur des donnees reelles en francais et en anglais.</a:t>
            </a:r>
          </a:p>
          <a:p>
            <a:r>
              <a:t>Sur le plan technique, ce stage m'a permis d'acquerir des competences solides en traitement du langage naturel, en fine-tuning de modeles Transformers, en developpement d'API REST avec FastAPI, et en developpement frontend React avec gestion d'etat et authentification.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les deux mois restants du stage, les priorites sont bien definies selon trois horizons.</a:t>
            </a:r>
          </a:p>
          <a:p>
            <a:r>
              <a:t>A court terme, nous allons completer le flux de recrutement de bout en bout avec la planification des entretiens, ameliorer l'interface candidat pour lui afficher son score detaille et les competences manquantes, et finaliser les notifications email cote recruteur.</a:t>
            </a:r>
          </a:p>
          <a:p>
            <a:r>
              <a:t>A moyen terme, nous mettrons en place une boucle de feedback : les decisions du recruteur — embauche ou refuse — seront stockees et utilisees pour re-entrainer le modele BERT periodiquement, afin d'ameliorer continuellement la qualite du matching sur les donnees reelles de 3S.</a:t>
            </a:r>
          </a:p>
          <a:p>
            <a:r>
              <a:t>A long terme, le projet sera packague avec Docker Compose pour permettre un deploiement en production en une seule commande, et une suite de tests automatises sera mise en place pour garantir la maintenabilite du systeme sur la duree.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vous remercie pour votre attention tout au long de cette presentation.</a:t>
            </a:r>
          </a:p>
          <a:p>
            <a:r>
              <a:t>Je reste disponible pour repondre a vos questions concernant les choix techniques du projet, le fonctionnement du modele BERT, l'architecture du systeme ou les perspectives d'evolution pour la suite du stage.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0"/>
            <a:ext cx="12188952" cy="21031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63440"/>
            <a:ext cx="12188952" cy="76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3s.png"/>
          <p:cNvPicPr>
            <a:picLocks noChangeAspect="1"/>
          </p:cNvPicPr>
          <p:nvPr/>
        </p:nvPicPr>
        <p:blipFill>
          <a:blip r:embed="rId2"/>
          <a:stretch>
            <a:fillRect/>
          </a:stretch>
        </p:blipFill>
        <p:spPr>
          <a:xfrm>
            <a:off x="457200" y="274320"/>
            <a:ext cx="2594919" cy="1371600"/>
          </a:xfrm>
          <a:prstGeom prst="rect">
            <a:avLst/>
          </a:prstGeom>
        </p:spPr>
      </p:pic>
      <p:pic>
        <p:nvPicPr>
          <p:cNvPr id="6" name="Picture 5" descr="esprit.png"/>
          <p:cNvPicPr>
            <a:picLocks noChangeAspect="1"/>
          </p:cNvPicPr>
          <p:nvPr/>
        </p:nvPicPr>
        <p:blipFill>
          <a:blip r:embed="rId3"/>
          <a:stretch>
            <a:fillRect/>
          </a:stretch>
        </p:blipFill>
        <p:spPr>
          <a:xfrm>
            <a:off x="10332720" y="137160"/>
            <a:ext cx="1554480" cy="1554480"/>
          </a:xfrm>
          <a:prstGeom prst="rect">
            <a:avLst/>
          </a:prstGeom>
        </p:spPr>
      </p:pic>
      <p:sp>
        <p:nvSpPr>
          <p:cNvPr id="7" name="TextBox 6"/>
          <p:cNvSpPr txBox="1"/>
          <p:nvPr/>
        </p:nvSpPr>
        <p:spPr>
          <a:xfrm>
            <a:off x="2286000" y="914400"/>
            <a:ext cx="8229600" cy="1280160"/>
          </a:xfrm>
          <a:prstGeom prst="rect">
            <a:avLst/>
          </a:prstGeom>
          <a:noFill/>
        </p:spPr>
        <p:txBody>
          <a:bodyPr wrap="square"/>
          <a:lstStyle/>
          <a:p>
            <a:pPr algn="ctr"/>
            <a:r>
              <a:rPr sz="6000" b="1" i="0">
                <a:solidFill>
                  <a:srgbClr val="FFFFFF"/>
                </a:solidFill>
                <a:latin typeface="Calibri"/>
              </a:rPr>
              <a:t>TalentMatch</a:t>
            </a:r>
          </a:p>
        </p:txBody>
      </p:sp>
      <p:sp>
        <p:nvSpPr>
          <p:cNvPr id="8" name="TextBox 7"/>
          <p:cNvSpPr txBox="1"/>
          <p:nvPr/>
        </p:nvSpPr>
        <p:spPr>
          <a:xfrm>
            <a:off x="1371600" y="2194560"/>
            <a:ext cx="9418320" cy="640080"/>
          </a:xfrm>
          <a:prstGeom prst="rect">
            <a:avLst/>
          </a:prstGeom>
          <a:noFill/>
        </p:spPr>
        <p:txBody>
          <a:bodyPr wrap="square"/>
          <a:lstStyle/>
          <a:p>
            <a:pPr algn="ctr"/>
            <a:r>
              <a:rPr sz="2000" b="0" i="1">
                <a:solidFill>
                  <a:srgbClr val="BBCCEE"/>
                </a:solidFill>
                <a:latin typeface="Calibri"/>
              </a:rPr>
              <a:t>Plateforme intelligente de recrutement par IA sémantique</a:t>
            </a:r>
          </a:p>
        </p:txBody>
      </p:sp>
      <p:sp>
        <p:nvSpPr>
          <p:cNvPr id="9" name="Rectangle 8"/>
          <p:cNvSpPr/>
          <p:nvPr/>
        </p:nvSpPr>
        <p:spPr>
          <a:xfrm>
            <a:off x="4114800" y="2880360"/>
            <a:ext cx="3931920" cy="508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0" y="3200400"/>
            <a:ext cx="12188952" cy="457200"/>
          </a:xfrm>
          <a:prstGeom prst="rect">
            <a:avLst/>
          </a:prstGeom>
          <a:noFill/>
        </p:spPr>
        <p:txBody>
          <a:bodyPr wrap="square"/>
          <a:lstStyle/>
          <a:p>
            <a:pPr algn="ctr"/>
            <a:r>
              <a:rPr sz="1800" b="1" i="0">
                <a:solidFill>
                  <a:srgbClr val="FFFFFF"/>
                </a:solidFill>
                <a:latin typeface="Calibri"/>
              </a:rPr>
              <a:t>Youssef GARA</a:t>
            </a:r>
          </a:p>
        </p:txBody>
      </p:sp>
      <p:sp>
        <p:nvSpPr>
          <p:cNvPr id="11" name="TextBox 10"/>
          <p:cNvSpPr txBox="1"/>
          <p:nvPr/>
        </p:nvSpPr>
        <p:spPr>
          <a:xfrm>
            <a:off x="0" y="3657600"/>
            <a:ext cx="12188952" cy="411480"/>
          </a:xfrm>
          <a:prstGeom prst="rect">
            <a:avLst/>
          </a:prstGeom>
          <a:noFill/>
        </p:spPr>
        <p:txBody>
          <a:bodyPr wrap="square"/>
          <a:lstStyle/>
          <a:p>
            <a:pPr algn="ctr"/>
            <a:r>
              <a:rPr sz="1400" b="0" i="0">
                <a:solidFill>
                  <a:srgbClr val="AABBDD"/>
                </a:solidFill>
                <a:latin typeface="Calibri"/>
              </a:rPr>
              <a:t>Licence en Genie Logiciel  —  ESPRIT  |  Stage PFE 6 mois</a:t>
            </a:r>
          </a:p>
        </p:txBody>
      </p:sp>
      <p:sp>
        <p:nvSpPr>
          <p:cNvPr id="12" name="TextBox 11"/>
          <p:cNvSpPr txBox="1"/>
          <p:nvPr/>
        </p:nvSpPr>
        <p:spPr>
          <a:xfrm>
            <a:off x="0" y="4069080"/>
            <a:ext cx="12188952" cy="411480"/>
          </a:xfrm>
          <a:prstGeom prst="rect">
            <a:avLst/>
          </a:prstGeom>
          <a:noFill/>
        </p:spPr>
        <p:txBody>
          <a:bodyPr wrap="square"/>
          <a:lstStyle/>
          <a:p>
            <a:pPr algn="ctr"/>
            <a:r>
              <a:rPr sz="1300" b="0" i="0">
                <a:solidFill>
                  <a:srgbClr val="AABBDD"/>
                </a:solidFill>
                <a:latin typeface="Calibri"/>
              </a:rPr>
              <a:t>Enc. académique : Mme Loujayne Bouzrati   •   Enc. société : Mme Sirine Nasri</a:t>
            </a:r>
          </a:p>
        </p:txBody>
      </p:sp>
      <p:sp>
        <p:nvSpPr>
          <p:cNvPr id="13" name="TextBox 12"/>
          <p:cNvSpPr txBox="1"/>
          <p:nvPr/>
        </p:nvSpPr>
        <p:spPr>
          <a:xfrm>
            <a:off x="0" y="5303520"/>
            <a:ext cx="12188952" cy="411480"/>
          </a:xfrm>
          <a:prstGeom prst="rect">
            <a:avLst/>
          </a:prstGeom>
          <a:noFill/>
        </p:spPr>
        <p:txBody>
          <a:bodyPr wrap="square"/>
          <a:lstStyle/>
          <a:p>
            <a:pPr algn="ctr"/>
            <a:r>
              <a:rPr sz="1300" b="0" i="0">
                <a:solidFill>
                  <a:srgbClr val="88AACC"/>
                </a:solidFill>
                <a:latin typeface="Calibri"/>
              </a:rPr>
              <a:t>Fevrier 2026 — Aout 2026</a:t>
            </a:r>
          </a:p>
        </p:txBody>
      </p:sp>
      <p:sp>
        <p:nvSpPr>
          <p:cNvPr id="14" name="Rectangle 13"/>
          <p:cNvSpPr/>
          <p:nvPr/>
        </p:nvSpPr>
        <p:spPr>
          <a:xfrm>
            <a:off x="10515600" y="320040"/>
            <a:ext cx="1371600" cy="6400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0" y="393192"/>
            <a:ext cx="1371600" cy="457200"/>
          </a:xfrm>
          <a:prstGeom prst="rect">
            <a:avLst/>
          </a:prstGeom>
          <a:noFill/>
        </p:spPr>
        <p:txBody>
          <a:bodyPr wrap="square"/>
          <a:lstStyle/>
          <a:p>
            <a:pPr algn="ctr"/>
            <a:r>
              <a:rPr sz="1200" b="1" i="0">
                <a:solidFill>
                  <a:srgbClr val="FFFFFF"/>
                </a:solidFill>
                <a:latin typeface="Calibri"/>
              </a:rPr>
              <a:t>🤖 IA / NLP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Plan de la présentation</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2 / 15</a:t>
            </a:r>
          </a:p>
        </p:txBody>
      </p:sp>
      <p:sp>
        <p:nvSpPr>
          <p:cNvPr id="11" name="Rectangle 10"/>
          <p:cNvSpPr/>
          <p:nvPr/>
        </p:nvSpPr>
        <p:spPr>
          <a:xfrm>
            <a:off x="365760" y="153619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3619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40680" y="161239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80" y="1637792"/>
            <a:ext cx="502920" cy="330200"/>
          </a:xfrm>
          <a:prstGeom prst="rect">
            <a:avLst/>
          </a:prstGeom>
          <a:noFill/>
        </p:spPr>
        <p:txBody>
          <a:bodyPr wrap="square"/>
          <a:lstStyle/>
          <a:p>
            <a:pPr algn="ctr"/>
            <a:r>
              <a:rPr sz="1300" b="1" i="0">
                <a:solidFill>
                  <a:srgbClr val="FFFFFF"/>
                </a:solidFill>
                <a:latin typeface="Calibri"/>
              </a:rPr>
              <a:t>03</a:t>
            </a:r>
          </a:p>
        </p:txBody>
      </p:sp>
      <p:sp>
        <p:nvSpPr>
          <p:cNvPr id="15" name="TextBox 14"/>
          <p:cNvSpPr txBox="1"/>
          <p:nvPr/>
        </p:nvSpPr>
        <p:spPr>
          <a:xfrm>
            <a:off x="566928" y="1688592"/>
            <a:ext cx="4754880" cy="330200"/>
          </a:xfrm>
          <a:prstGeom prst="rect">
            <a:avLst/>
          </a:prstGeom>
          <a:noFill/>
        </p:spPr>
        <p:txBody>
          <a:bodyPr wrap="square"/>
          <a:lstStyle/>
          <a:p>
            <a:pPr algn="l"/>
            <a:r>
              <a:rPr sz="1500" b="1" i="0">
                <a:solidFill>
                  <a:srgbClr val="1A1A2E"/>
                </a:solidFill>
                <a:latin typeface="Calibri"/>
              </a:rPr>
              <a:t>Introduction</a:t>
            </a:r>
          </a:p>
        </p:txBody>
      </p:sp>
      <p:sp>
        <p:nvSpPr>
          <p:cNvPr id="16" name="TextBox 15"/>
          <p:cNvSpPr txBox="1"/>
          <p:nvPr/>
        </p:nvSpPr>
        <p:spPr>
          <a:xfrm>
            <a:off x="566928" y="2069592"/>
            <a:ext cx="4754880" cy="330200"/>
          </a:xfrm>
          <a:prstGeom prst="rect">
            <a:avLst/>
          </a:prstGeom>
          <a:noFill/>
        </p:spPr>
        <p:txBody>
          <a:bodyPr wrap="square"/>
          <a:lstStyle/>
          <a:p>
            <a:pPr algn="l"/>
            <a:r>
              <a:rPr sz="1100" b="0" i="0">
                <a:solidFill>
                  <a:srgbClr val="6B7280"/>
                </a:solidFill>
                <a:latin typeface="Calibri"/>
              </a:rPr>
              <a:t>Presentation de 3S, contexte, chiffres cles</a:t>
            </a:r>
          </a:p>
        </p:txBody>
      </p:sp>
      <p:sp>
        <p:nvSpPr>
          <p:cNvPr id="17" name="Rectangle 16"/>
          <p:cNvSpPr/>
          <p:nvPr/>
        </p:nvSpPr>
        <p:spPr>
          <a:xfrm>
            <a:off x="365760" y="272491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272491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80" y="280111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40680" y="2826512"/>
            <a:ext cx="502920" cy="330200"/>
          </a:xfrm>
          <a:prstGeom prst="rect">
            <a:avLst/>
          </a:prstGeom>
          <a:noFill/>
        </p:spPr>
        <p:txBody>
          <a:bodyPr wrap="square"/>
          <a:lstStyle/>
          <a:p>
            <a:pPr algn="ctr"/>
            <a:r>
              <a:rPr sz="1300" b="1" i="0">
                <a:solidFill>
                  <a:srgbClr val="FFFFFF"/>
                </a:solidFill>
                <a:latin typeface="Calibri"/>
              </a:rPr>
              <a:t>04</a:t>
            </a:r>
          </a:p>
        </p:txBody>
      </p:sp>
      <p:sp>
        <p:nvSpPr>
          <p:cNvPr id="21" name="TextBox 20"/>
          <p:cNvSpPr txBox="1"/>
          <p:nvPr/>
        </p:nvSpPr>
        <p:spPr>
          <a:xfrm>
            <a:off x="566928" y="2877312"/>
            <a:ext cx="4754880" cy="330200"/>
          </a:xfrm>
          <a:prstGeom prst="rect">
            <a:avLst/>
          </a:prstGeom>
          <a:noFill/>
        </p:spPr>
        <p:txBody>
          <a:bodyPr wrap="square"/>
          <a:lstStyle/>
          <a:p>
            <a:pPr algn="l"/>
            <a:r>
              <a:rPr sz="1500" b="1" i="0">
                <a:solidFill>
                  <a:srgbClr val="1A1A2E"/>
                </a:solidFill>
                <a:latin typeface="Calibri"/>
              </a:rPr>
              <a:t>Cadre du projet</a:t>
            </a:r>
          </a:p>
        </p:txBody>
      </p:sp>
      <p:sp>
        <p:nvSpPr>
          <p:cNvPr id="22" name="TextBox 21"/>
          <p:cNvSpPr txBox="1"/>
          <p:nvPr/>
        </p:nvSpPr>
        <p:spPr>
          <a:xfrm>
            <a:off x="566928" y="3258312"/>
            <a:ext cx="4754880" cy="330200"/>
          </a:xfrm>
          <a:prstGeom prst="rect">
            <a:avLst/>
          </a:prstGeom>
          <a:noFill/>
        </p:spPr>
        <p:txBody>
          <a:bodyPr wrap="square"/>
          <a:lstStyle/>
          <a:p>
            <a:pPr algn="l"/>
            <a:r>
              <a:rPr sz="1100" b="0" i="0">
                <a:solidFill>
                  <a:srgbClr val="6B7280"/>
                </a:solidFill>
                <a:latin typeface="Calibri"/>
              </a:rPr>
              <a:t>Problematique, etude existant, solution</a:t>
            </a:r>
          </a:p>
        </p:txBody>
      </p:sp>
      <p:sp>
        <p:nvSpPr>
          <p:cNvPr id="23" name="Rectangle 22"/>
          <p:cNvSpPr/>
          <p:nvPr/>
        </p:nvSpPr>
        <p:spPr>
          <a:xfrm>
            <a:off x="365760" y="391363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91363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40680" y="398983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40680" y="4015232"/>
            <a:ext cx="502920" cy="330200"/>
          </a:xfrm>
          <a:prstGeom prst="rect">
            <a:avLst/>
          </a:prstGeom>
          <a:noFill/>
        </p:spPr>
        <p:txBody>
          <a:bodyPr wrap="square"/>
          <a:lstStyle/>
          <a:p>
            <a:pPr algn="ctr"/>
            <a:r>
              <a:rPr sz="1300" b="1" i="0">
                <a:solidFill>
                  <a:srgbClr val="FFFFFF"/>
                </a:solidFill>
                <a:latin typeface="Calibri"/>
              </a:rPr>
              <a:t>06</a:t>
            </a:r>
          </a:p>
        </p:txBody>
      </p:sp>
      <p:sp>
        <p:nvSpPr>
          <p:cNvPr id="27" name="TextBox 26"/>
          <p:cNvSpPr txBox="1"/>
          <p:nvPr/>
        </p:nvSpPr>
        <p:spPr>
          <a:xfrm>
            <a:off x="566928" y="4066032"/>
            <a:ext cx="4754880" cy="330200"/>
          </a:xfrm>
          <a:prstGeom prst="rect">
            <a:avLst/>
          </a:prstGeom>
          <a:noFill/>
        </p:spPr>
        <p:txBody>
          <a:bodyPr wrap="square"/>
          <a:lstStyle/>
          <a:p>
            <a:pPr algn="l"/>
            <a:r>
              <a:rPr sz="1500" b="1" i="0">
                <a:solidFill>
                  <a:srgbClr val="1A1A2E"/>
                </a:solidFill>
                <a:latin typeface="Calibri"/>
              </a:rPr>
              <a:t>Analyse des besoins</a:t>
            </a:r>
          </a:p>
        </p:txBody>
      </p:sp>
      <p:sp>
        <p:nvSpPr>
          <p:cNvPr id="28" name="TextBox 27"/>
          <p:cNvSpPr txBox="1"/>
          <p:nvPr/>
        </p:nvSpPr>
        <p:spPr>
          <a:xfrm>
            <a:off x="566928" y="4447032"/>
            <a:ext cx="4754880" cy="330200"/>
          </a:xfrm>
          <a:prstGeom prst="rect">
            <a:avLst/>
          </a:prstGeom>
          <a:noFill/>
        </p:spPr>
        <p:txBody>
          <a:bodyPr wrap="square"/>
          <a:lstStyle/>
          <a:p>
            <a:pPr algn="l"/>
            <a:r>
              <a:rPr sz="1100" b="0" i="0">
                <a:solidFill>
                  <a:srgbClr val="6B7280"/>
                </a:solidFill>
                <a:latin typeface="Calibri"/>
              </a:rPr>
              <a:t>Besoins fonctionnels &amp; non fonctionnels</a:t>
            </a:r>
          </a:p>
        </p:txBody>
      </p:sp>
      <p:sp>
        <p:nvSpPr>
          <p:cNvPr id="29" name="Rectangle 28"/>
          <p:cNvSpPr/>
          <p:nvPr/>
        </p:nvSpPr>
        <p:spPr>
          <a:xfrm>
            <a:off x="365760" y="510235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510235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40680" y="517855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40680" y="5203952"/>
            <a:ext cx="502920" cy="330200"/>
          </a:xfrm>
          <a:prstGeom prst="rect">
            <a:avLst/>
          </a:prstGeom>
          <a:noFill/>
        </p:spPr>
        <p:txBody>
          <a:bodyPr wrap="square"/>
          <a:lstStyle/>
          <a:p>
            <a:pPr algn="ctr"/>
            <a:r>
              <a:rPr sz="1300" b="1" i="0">
                <a:solidFill>
                  <a:srgbClr val="FFFFFF"/>
                </a:solidFill>
                <a:latin typeface="Calibri"/>
              </a:rPr>
              <a:t>08</a:t>
            </a:r>
          </a:p>
        </p:txBody>
      </p:sp>
      <p:sp>
        <p:nvSpPr>
          <p:cNvPr id="33" name="TextBox 32"/>
          <p:cNvSpPr txBox="1"/>
          <p:nvPr/>
        </p:nvSpPr>
        <p:spPr>
          <a:xfrm>
            <a:off x="566928" y="5254752"/>
            <a:ext cx="4754880" cy="330200"/>
          </a:xfrm>
          <a:prstGeom prst="rect">
            <a:avLst/>
          </a:prstGeom>
          <a:noFill/>
        </p:spPr>
        <p:txBody>
          <a:bodyPr wrap="square"/>
          <a:lstStyle/>
          <a:p>
            <a:pPr algn="l"/>
            <a:r>
              <a:rPr sz="1500" b="1" i="0">
                <a:solidFill>
                  <a:srgbClr val="1A1A2E"/>
                </a:solidFill>
                <a:latin typeface="Calibri"/>
              </a:rPr>
              <a:t>Architectures</a:t>
            </a:r>
          </a:p>
        </p:txBody>
      </p:sp>
      <p:sp>
        <p:nvSpPr>
          <p:cNvPr id="34" name="TextBox 33"/>
          <p:cNvSpPr txBox="1"/>
          <p:nvPr/>
        </p:nvSpPr>
        <p:spPr>
          <a:xfrm>
            <a:off x="566928" y="5635752"/>
            <a:ext cx="4754880" cy="330200"/>
          </a:xfrm>
          <a:prstGeom prst="rect">
            <a:avLst/>
          </a:prstGeom>
          <a:noFill/>
        </p:spPr>
        <p:txBody>
          <a:bodyPr wrap="square"/>
          <a:lstStyle/>
          <a:p>
            <a:pPr algn="l"/>
            <a:r>
              <a:rPr sz="1100" b="0" i="0">
                <a:solidFill>
                  <a:srgbClr val="6B7280"/>
                </a:solidFill>
                <a:latin typeface="Calibri"/>
              </a:rPr>
              <a:t>Stack 3 tiers : React / FastAPI / PostgreSQL</a:t>
            </a:r>
          </a:p>
        </p:txBody>
      </p:sp>
      <p:sp>
        <p:nvSpPr>
          <p:cNvPr id="35" name="Rectangle 34"/>
          <p:cNvSpPr/>
          <p:nvPr/>
        </p:nvSpPr>
        <p:spPr>
          <a:xfrm>
            <a:off x="6263640" y="153619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63640" y="1536192"/>
            <a:ext cx="76200" cy="10515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1338560" y="1612392"/>
            <a:ext cx="502920" cy="4114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338560" y="1637792"/>
            <a:ext cx="502920" cy="330200"/>
          </a:xfrm>
          <a:prstGeom prst="rect">
            <a:avLst/>
          </a:prstGeom>
          <a:noFill/>
        </p:spPr>
        <p:txBody>
          <a:bodyPr wrap="square"/>
          <a:lstStyle/>
          <a:p>
            <a:pPr algn="ctr"/>
            <a:r>
              <a:rPr sz="1300" b="1" i="0">
                <a:solidFill>
                  <a:srgbClr val="FFFFFF"/>
                </a:solidFill>
                <a:latin typeface="Calibri"/>
              </a:rPr>
              <a:t>10</a:t>
            </a:r>
          </a:p>
        </p:txBody>
      </p:sp>
      <p:sp>
        <p:nvSpPr>
          <p:cNvPr id="39" name="TextBox 38"/>
          <p:cNvSpPr txBox="1"/>
          <p:nvPr/>
        </p:nvSpPr>
        <p:spPr>
          <a:xfrm>
            <a:off x="6464808" y="1688592"/>
            <a:ext cx="4754880" cy="330200"/>
          </a:xfrm>
          <a:prstGeom prst="rect">
            <a:avLst/>
          </a:prstGeom>
          <a:noFill/>
        </p:spPr>
        <p:txBody>
          <a:bodyPr wrap="square"/>
          <a:lstStyle/>
          <a:p>
            <a:pPr algn="l"/>
            <a:r>
              <a:rPr sz="1500" b="1" i="0">
                <a:solidFill>
                  <a:srgbClr val="1A1A2E"/>
                </a:solidFill>
                <a:latin typeface="Calibri"/>
              </a:rPr>
              <a:t>Methodologie</a:t>
            </a:r>
          </a:p>
        </p:txBody>
      </p:sp>
      <p:sp>
        <p:nvSpPr>
          <p:cNvPr id="40" name="TextBox 39"/>
          <p:cNvSpPr txBox="1"/>
          <p:nvPr/>
        </p:nvSpPr>
        <p:spPr>
          <a:xfrm>
            <a:off x="6464808" y="2069592"/>
            <a:ext cx="4754880" cy="330200"/>
          </a:xfrm>
          <a:prstGeom prst="rect">
            <a:avLst/>
          </a:prstGeom>
          <a:noFill/>
        </p:spPr>
        <p:txBody>
          <a:bodyPr wrap="square"/>
          <a:lstStyle/>
          <a:p>
            <a:pPr algn="l"/>
            <a:r>
              <a:rPr sz="1100" b="0" i="0">
                <a:solidFill>
                  <a:srgbClr val="6B7280"/>
                </a:solidFill>
                <a:latin typeface="Calibri"/>
              </a:rPr>
              <a:t>Agile Scrum — 6 Sprints d'1 mois</a:t>
            </a:r>
          </a:p>
        </p:txBody>
      </p:sp>
      <p:sp>
        <p:nvSpPr>
          <p:cNvPr id="41" name="Rectangle 40"/>
          <p:cNvSpPr/>
          <p:nvPr/>
        </p:nvSpPr>
        <p:spPr>
          <a:xfrm>
            <a:off x="6263640" y="272491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63640" y="2724912"/>
            <a:ext cx="76200" cy="10515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1338560" y="2801112"/>
            <a:ext cx="502920" cy="4114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338560" y="2826512"/>
            <a:ext cx="502920" cy="330200"/>
          </a:xfrm>
          <a:prstGeom prst="rect">
            <a:avLst/>
          </a:prstGeom>
          <a:noFill/>
        </p:spPr>
        <p:txBody>
          <a:bodyPr wrap="square"/>
          <a:lstStyle/>
          <a:p>
            <a:pPr algn="ctr"/>
            <a:r>
              <a:rPr sz="1300" b="1" i="0">
                <a:solidFill>
                  <a:srgbClr val="FFFFFF"/>
                </a:solidFill>
                <a:latin typeface="Calibri"/>
              </a:rPr>
              <a:t>11</a:t>
            </a:r>
          </a:p>
        </p:txBody>
      </p:sp>
      <p:sp>
        <p:nvSpPr>
          <p:cNvPr id="45" name="TextBox 44"/>
          <p:cNvSpPr txBox="1"/>
          <p:nvPr/>
        </p:nvSpPr>
        <p:spPr>
          <a:xfrm>
            <a:off x="6464808" y="2877312"/>
            <a:ext cx="4754880" cy="330200"/>
          </a:xfrm>
          <a:prstGeom prst="rect">
            <a:avLst/>
          </a:prstGeom>
          <a:noFill/>
        </p:spPr>
        <p:txBody>
          <a:bodyPr wrap="square"/>
          <a:lstStyle/>
          <a:p>
            <a:pPr algn="l"/>
            <a:r>
              <a:rPr sz="1500" b="1" i="0">
                <a:solidFill>
                  <a:srgbClr val="1A1A2E"/>
                </a:solidFill>
                <a:latin typeface="Calibri"/>
              </a:rPr>
              <a:t>Avancement actuel</a:t>
            </a:r>
          </a:p>
        </p:txBody>
      </p:sp>
      <p:sp>
        <p:nvSpPr>
          <p:cNvPr id="46" name="TextBox 45"/>
          <p:cNvSpPr txBox="1"/>
          <p:nvPr/>
        </p:nvSpPr>
        <p:spPr>
          <a:xfrm>
            <a:off x="6464808" y="3258312"/>
            <a:ext cx="4754880" cy="330200"/>
          </a:xfrm>
          <a:prstGeom prst="rect">
            <a:avLst/>
          </a:prstGeom>
          <a:noFill/>
        </p:spPr>
        <p:txBody>
          <a:bodyPr wrap="square"/>
          <a:lstStyle/>
          <a:p>
            <a:pPr algn="l"/>
            <a:r>
              <a:rPr sz="1100" b="0" i="0">
                <a:solidFill>
                  <a:srgbClr val="6B7280"/>
                </a:solidFill>
                <a:latin typeface="Calibri"/>
              </a:rPr>
              <a:t>Fonctionnalites livrees + demonstration</a:t>
            </a:r>
          </a:p>
        </p:txBody>
      </p:sp>
      <p:sp>
        <p:nvSpPr>
          <p:cNvPr id="47" name="Rectangle 46"/>
          <p:cNvSpPr/>
          <p:nvPr/>
        </p:nvSpPr>
        <p:spPr>
          <a:xfrm>
            <a:off x="6263640" y="391363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63640" y="3913632"/>
            <a:ext cx="76200" cy="10515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338560" y="3989832"/>
            <a:ext cx="502920" cy="4114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338560" y="4015232"/>
            <a:ext cx="502920" cy="330200"/>
          </a:xfrm>
          <a:prstGeom prst="rect">
            <a:avLst/>
          </a:prstGeom>
          <a:noFill/>
        </p:spPr>
        <p:txBody>
          <a:bodyPr wrap="square"/>
          <a:lstStyle/>
          <a:p>
            <a:pPr algn="ctr"/>
            <a:r>
              <a:rPr sz="1300" b="1" i="0">
                <a:solidFill>
                  <a:srgbClr val="FFFFFF"/>
                </a:solidFill>
                <a:latin typeface="Calibri"/>
              </a:rPr>
              <a:t>13</a:t>
            </a:r>
          </a:p>
        </p:txBody>
      </p:sp>
      <p:sp>
        <p:nvSpPr>
          <p:cNvPr id="51" name="TextBox 50"/>
          <p:cNvSpPr txBox="1"/>
          <p:nvPr/>
        </p:nvSpPr>
        <p:spPr>
          <a:xfrm>
            <a:off x="6464808" y="4066032"/>
            <a:ext cx="4754880" cy="330200"/>
          </a:xfrm>
          <a:prstGeom prst="rect">
            <a:avLst/>
          </a:prstGeom>
          <a:noFill/>
        </p:spPr>
        <p:txBody>
          <a:bodyPr wrap="square"/>
          <a:lstStyle/>
          <a:p>
            <a:pPr algn="l"/>
            <a:r>
              <a:rPr sz="1500" b="1" i="0">
                <a:solidFill>
                  <a:srgbClr val="1A1A2E"/>
                </a:solidFill>
                <a:latin typeface="Calibri"/>
              </a:rPr>
              <a:t>Conclusion &amp; Perspectives</a:t>
            </a:r>
          </a:p>
        </p:txBody>
      </p:sp>
      <p:sp>
        <p:nvSpPr>
          <p:cNvPr id="52" name="TextBox 51"/>
          <p:cNvSpPr txBox="1"/>
          <p:nvPr/>
        </p:nvSpPr>
        <p:spPr>
          <a:xfrm>
            <a:off x="6464808" y="4447032"/>
            <a:ext cx="4754880" cy="330200"/>
          </a:xfrm>
          <a:prstGeom prst="rect">
            <a:avLst/>
          </a:prstGeom>
          <a:noFill/>
        </p:spPr>
        <p:txBody>
          <a:bodyPr wrap="square"/>
          <a:lstStyle/>
          <a:p>
            <a:pPr algn="l"/>
            <a:r>
              <a:rPr sz="1100" b="0" i="0">
                <a:solidFill>
                  <a:srgbClr val="6B7280"/>
                </a:solidFill>
                <a:latin typeface="Calibri"/>
              </a:rPr>
              <a:t>Bilan technique, acquis, evolutions futures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Introduction</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Presentation de 3S Tunisie — Contexte &amp; enjeux du projet</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3 / 15</a:t>
            </a:r>
          </a:p>
        </p:txBody>
      </p:sp>
      <p:sp>
        <p:nvSpPr>
          <p:cNvPr id="12" name="Rectangle 11"/>
          <p:cNvSpPr/>
          <p:nvPr/>
        </p:nvSpPr>
        <p:spPr>
          <a:xfrm>
            <a:off x="27432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1508760"/>
            <a:ext cx="2240280" cy="355600"/>
          </a:xfrm>
          <a:prstGeom prst="rect">
            <a:avLst/>
          </a:prstGeom>
          <a:noFill/>
        </p:spPr>
        <p:txBody>
          <a:bodyPr wrap="square"/>
          <a:lstStyle/>
          <a:p>
            <a:pPr algn="ctr"/>
            <a:r>
              <a:rPr sz="2200" b="1" i="0">
                <a:solidFill>
                  <a:srgbClr val="E88710"/>
                </a:solidFill>
                <a:latin typeface="Calibri"/>
              </a:rPr>
              <a:t>1988</a:t>
            </a:r>
          </a:p>
        </p:txBody>
      </p:sp>
      <p:sp>
        <p:nvSpPr>
          <p:cNvPr id="14" name="TextBox 13"/>
          <p:cNvSpPr txBox="1"/>
          <p:nvPr/>
        </p:nvSpPr>
        <p:spPr>
          <a:xfrm>
            <a:off x="274320" y="1810512"/>
            <a:ext cx="2240280" cy="254000"/>
          </a:xfrm>
          <a:prstGeom prst="rect">
            <a:avLst/>
          </a:prstGeom>
          <a:noFill/>
        </p:spPr>
        <p:txBody>
          <a:bodyPr wrap="square"/>
          <a:lstStyle/>
          <a:p>
            <a:pPr algn="ctr"/>
            <a:r>
              <a:rPr sz="1000" b="0" i="0">
                <a:solidFill>
                  <a:srgbClr val="AABBDD"/>
                </a:solidFill>
                <a:latin typeface="Calibri"/>
              </a:rPr>
              <a:t>Annee de fondation</a:t>
            </a:r>
          </a:p>
        </p:txBody>
      </p:sp>
      <p:sp>
        <p:nvSpPr>
          <p:cNvPr id="15" name="Rectangle 14"/>
          <p:cNvSpPr/>
          <p:nvPr/>
        </p:nvSpPr>
        <p:spPr>
          <a:xfrm>
            <a:off x="265176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51760" y="1508760"/>
            <a:ext cx="2240280" cy="355600"/>
          </a:xfrm>
          <a:prstGeom prst="rect">
            <a:avLst/>
          </a:prstGeom>
          <a:noFill/>
        </p:spPr>
        <p:txBody>
          <a:bodyPr wrap="square"/>
          <a:lstStyle/>
          <a:p>
            <a:pPr algn="ctr"/>
            <a:r>
              <a:rPr sz="2200" b="1" i="0">
                <a:solidFill>
                  <a:srgbClr val="E88710"/>
                </a:solidFill>
                <a:latin typeface="Calibri"/>
              </a:rPr>
              <a:t>35+</a:t>
            </a:r>
          </a:p>
        </p:txBody>
      </p:sp>
      <p:sp>
        <p:nvSpPr>
          <p:cNvPr id="17" name="TextBox 16"/>
          <p:cNvSpPr txBox="1"/>
          <p:nvPr/>
        </p:nvSpPr>
        <p:spPr>
          <a:xfrm>
            <a:off x="2651760" y="1810512"/>
            <a:ext cx="2240280" cy="254000"/>
          </a:xfrm>
          <a:prstGeom prst="rect">
            <a:avLst/>
          </a:prstGeom>
          <a:noFill/>
        </p:spPr>
        <p:txBody>
          <a:bodyPr wrap="square"/>
          <a:lstStyle/>
          <a:p>
            <a:pPr algn="ctr"/>
            <a:r>
              <a:rPr sz="1000" b="0" i="0">
                <a:solidFill>
                  <a:srgbClr val="AABBDD"/>
                </a:solidFill>
                <a:latin typeface="Calibri"/>
              </a:rPr>
              <a:t>Ans d'expertise IT</a:t>
            </a:r>
          </a:p>
        </p:txBody>
      </p:sp>
      <p:sp>
        <p:nvSpPr>
          <p:cNvPr id="18" name="Rectangle 17"/>
          <p:cNvSpPr/>
          <p:nvPr/>
        </p:nvSpPr>
        <p:spPr>
          <a:xfrm>
            <a:off x="502920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0" y="1508760"/>
            <a:ext cx="2240280" cy="355600"/>
          </a:xfrm>
          <a:prstGeom prst="rect">
            <a:avLst/>
          </a:prstGeom>
          <a:noFill/>
        </p:spPr>
        <p:txBody>
          <a:bodyPr wrap="square"/>
          <a:lstStyle/>
          <a:p>
            <a:pPr algn="ctr"/>
            <a:r>
              <a:rPr sz="2200" b="1" i="0">
                <a:solidFill>
                  <a:srgbClr val="E88710"/>
                </a:solidFill>
                <a:latin typeface="Calibri"/>
              </a:rPr>
              <a:t>300+</a:t>
            </a:r>
          </a:p>
        </p:txBody>
      </p:sp>
      <p:sp>
        <p:nvSpPr>
          <p:cNvPr id="20" name="TextBox 19"/>
          <p:cNvSpPr txBox="1"/>
          <p:nvPr/>
        </p:nvSpPr>
        <p:spPr>
          <a:xfrm>
            <a:off x="5029200" y="1810512"/>
            <a:ext cx="2240280" cy="254000"/>
          </a:xfrm>
          <a:prstGeom prst="rect">
            <a:avLst/>
          </a:prstGeom>
          <a:noFill/>
        </p:spPr>
        <p:txBody>
          <a:bodyPr wrap="square"/>
          <a:lstStyle/>
          <a:p>
            <a:pPr algn="ctr"/>
            <a:r>
              <a:rPr sz="1000" b="0" i="0">
                <a:solidFill>
                  <a:srgbClr val="AABBDD"/>
                </a:solidFill>
                <a:latin typeface="Calibri"/>
              </a:rPr>
              <a:t>Employes</a:t>
            </a:r>
          </a:p>
        </p:txBody>
      </p:sp>
      <p:sp>
        <p:nvSpPr>
          <p:cNvPr id="21" name="Rectangle 20"/>
          <p:cNvSpPr/>
          <p:nvPr/>
        </p:nvSpPr>
        <p:spPr>
          <a:xfrm>
            <a:off x="740664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1508760"/>
            <a:ext cx="2240280" cy="355600"/>
          </a:xfrm>
          <a:prstGeom prst="rect">
            <a:avLst/>
          </a:prstGeom>
          <a:noFill/>
        </p:spPr>
        <p:txBody>
          <a:bodyPr wrap="square"/>
          <a:lstStyle/>
          <a:p>
            <a:pPr algn="ctr"/>
            <a:r>
              <a:rPr sz="2200" b="1" i="0">
                <a:solidFill>
                  <a:srgbClr val="E88710"/>
                </a:solidFill>
                <a:latin typeface="Calibri"/>
              </a:rPr>
              <a:t>450+</a:t>
            </a:r>
          </a:p>
        </p:txBody>
      </p:sp>
      <p:sp>
        <p:nvSpPr>
          <p:cNvPr id="23" name="TextBox 22"/>
          <p:cNvSpPr txBox="1"/>
          <p:nvPr/>
        </p:nvSpPr>
        <p:spPr>
          <a:xfrm>
            <a:off x="7406640" y="1810512"/>
            <a:ext cx="2240280" cy="254000"/>
          </a:xfrm>
          <a:prstGeom prst="rect">
            <a:avLst/>
          </a:prstGeom>
          <a:noFill/>
        </p:spPr>
        <p:txBody>
          <a:bodyPr wrap="square"/>
          <a:lstStyle/>
          <a:p>
            <a:pPr algn="ctr"/>
            <a:r>
              <a:rPr sz="1000" b="0" i="0">
                <a:solidFill>
                  <a:srgbClr val="AABBDD"/>
                </a:solidFill>
                <a:latin typeface="Calibri"/>
              </a:rPr>
              <a:t>Certifications</a:t>
            </a:r>
          </a:p>
        </p:txBody>
      </p:sp>
      <p:sp>
        <p:nvSpPr>
          <p:cNvPr id="24" name="Rectangle 23"/>
          <p:cNvSpPr/>
          <p:nvPr/>
        </p:nvSpPr>
        <p:spPr>
          <a:xfrm>
            <a:off x="978408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1508760"/>
            <a:ext cx="2240280" cy="355600"/>
          </a:xfrm>
          <a:prstGeom prst="rect">
            <a:avLst/>
          </a:prstGeom>
          <a:noFill/>
        </p:spPr>
        <p:txBody>
          <a:bodyPr wrap="square"/>
          <a:lstStyle/>
          <a:p>
            <a:pPr algn="ctr"/>
            <a:r>
              <a:rPr sz="2200" b="1" i="0">
                <a:solidFill>
                  <a:srgbClr val="E88710"/>
                </a:solidFill>
                <a:latin typeface="Calibri"/>
              </a:rPr>
              <a:t>2 000+</a:t>
            </a:r>
          </a:p>
        </p:txBody>
      </p:sp>
      <p:sp>
        <p:nvSpPr>
          <p:cNvPr id="26" name="TextBox 25"/>
          <p:cNvSpPr txBox="1"/>
          <p:nvPr/>
        </p:nvSpPr>
        <p:spPr>
          <a:xfrm>
            <a:off x="9784080" y="1810512"/>
            <a:ext cx="2240280" cy="254000"/>
          </a:xfrm>
          <a:prstGeom prst="rect">
            <a:avLst/>
          </a:prstGeom>
          <a:noFill/>
        </p:spPr>
        <p:txBody>
          <a:bodyPr wrap="square"/>
          <a:lstStyle/>
          <a:p>
            <a:pPr algn="ctr"/>
            <a:r>
              <a:rPr sz="1000" b="0" i="0">
                <a:solidFill>
                  <a:srgbClr val="AABBDD"/>
                </a:solidFill>
                <a:latin typeface="Calibri"/>
              </a:rPr>
              <a:t>Clients satisfaits</a:t>
            </a:r>
          </a:p>
        </p:txBody>
      </p:sp>
      <p:sp>
        <p:nvSpPr>
          <p:cNvPr id="27" name="Rectangle 26"/>
          <p:cNvSpPr/>
          <p:nvPr/>
        </p:nvSpPr>
        <p:spPr>
          <a:xfrm>
            <a:off x="365760" y="2514600"/>
            <a:ext cx="539496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2514600"/>
            <a:ext cx="76200" cy="2377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2578608"/>
            <a:ext cx="5029200" cy="330200"/>
          </a:xfrm>
          <a:prstGeom prst="rect">
            <a:avLst/>
          </a:prstGeom>
          <a:noFill/>
        </p:spPr>
        <p:txBody>
          <a:bodyPr wrap="square"/>
          <a:lstStyle/>
          <a:p>
            <a:pPr algn="l"/>
            <a:r>
              <a:rPr sz="1400" b="1" i="0">
                <a:solidFill>
                  <a:srgbClr val="1E5CAA"/>
                </a:solidFill>
                <a:latin typeface="Calibri"/>
              </a:rPr>
              <a:t>L'entreprise — 3S Tunisie</a:t>
            </a:r>
          </a:p>
        </p:txBody>
      </p:sp>
      <p:sp>
        <p:nvSpPr>
          <p:cNvPr id="30" name="TextBox 29"/>
          <p:cNvSpPr txBox="1"/>
          <p:nvPr/>
        </p:nvSpPr>
        <p:spPr>
          <a:xfrm>
            <a:off x="548640" y="2907792"/>
            <a:ext cx="5029200" cy="1828800"/>
          </a:xfrm>
          <a:prstGeom prst="rect">
            <a:avLst/>
          </a:prstGeom>
          <a:noFill/>
        </p:spPr>
        <p:txBody>
          <a:bodyPr wrap="square">
            <a:spAutoFit/>
          </a:bodyPr>
          <a:lstStyle/>
          <a:p>
            <a:pPr algn="l"/>
            <a:r>
              <a:rPr sz="1200">
                <a:solidFill>
                  <a:srgbClr val="1A1A2E"/>
                </a:solidFill>
                <a:latin typeface="Calibri"/>
              </a:rPr>
              <a:t>  ›  Fondee en 1988, leader tunisien de l'integration IT</a:t>
            </a:r>
          </a:p>
          <a:p>
            <a:pPr algn="l"/>
            <a:r>
              <a:rPr sz="1200">
                <a:solidFill>
                  <a:srgbClr val="1A1A2E"/>
                </a:solidFill>
                <a:latin typeface="Calibri"/>
              </a:rPr>
              <a:t>  ›  Specialiste : infrastructures reseaux, cybersecurite,</a:t>
            </a:r>
          </a:p>
          <a:p>
            <a:pPr algn="l"/>
            <a:r>
              <a:rPr sz="1200">
                <a:solidFill>
                  <a:srgbClr val="1A1A2E"/>
                </a:solidFill>
                <a:latin typeface="Calibri"/>
              </a:rPr>
              <a:t>  ›    data centers, cloud, espaces de travail numeriques</a:t>
            </a:r>
          </a:p>
          <a:p>
            <a:pPr algn="l"/>
            <a:r>
              <a:rPr sz="1200">
                <a:solidFill>
                  <a:srgbClr val="1A1A2E"/>
                </a:solidFill>
                <a:latin typeface="Calibri"/>
              </a:rPr>
              <a:t>  ›  ISO 9001:2015 (Qualite) + ISO 27001:2013 (Securite)</a:t>
            </a:r>
          </a:p>
          <a:p>
            <a:pPr algn="l"/>
            <a:r>
              <a:rPr sz="1200">
                <a:solidFill>
                  <a:srgbClr val="1A1A2E"/>
                </a:solidFill>
                <a:latin typeface="Calibri"/>
              </a:rPr>
              <a:t>  ›  1er integrateur IT tunisien certifie ISO 27001</a:t>
            </a:r>
          </a:p>
          <a:p>
            <a:pPr algn="l"/>
            <a:r>
              <a:rPr sz="1200">
                <a:solidFill>
                  <a:srgbClr val="1A1A2E"/>
                </a:solidFill>
                <a:latin typeface="Calibri"/>
              </a:rPr>
              <a:t>  ›  Expansion : filiale a Abidjan (Cote d'Ivoire) en 2019</a:t>
            </a:r>
          </a:p>
          <a:p>
            <a:pPr algn="l"/>
            <a:r>
              <a:rPr sz="1200">
                <a:solidFill>
                  <a:srgbClr val="1A1A2E"/>
                </a:solidFill>
                <a:latin typeface="Calibri"/>
              </a:rPr>
              <a:t>  ›  Partenaire strategique de la transformation numerique</a:t>
            </a:r>
          </a:p>
        </p:txBody>
      </p:sp>
      <p:sp>
        <p:nvSpPr>
          <p:cNvPr id="31" name="Rectangle 30"/>
          <p:cNvSpPr/>
          <p:nvPr/>
        </p:nvSpPr>
        <p:spPr>
          <a:xfrm>
            <a:off x="6400800" y="2514600"/>
            <a:ext cx="539496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0" y="2514600"/>
            <a:ext cx="76200" cy="237744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2578608"/>
            <a:ext cx="5029200" cy="330200"/>
          </a:xfrm>
          <a:prstGeom prst="rect">
            <a:avLst/>
          </a:prstGeom>
          <a:noFill/>
        </p:spPr>
        <p:txBody>
          <a:bodyPr wrap="square"/>
          <a:lstStyle/>
          <a:p>
            <a:pPr algn="l"/>
            <a:r>
              <a:rPr sz="1400" b="1" i="0">
                <a:solidFill>
                  <a:srgbClr val="E88710"/>
                </a:solidFill>
                <a:latin typeface="Calibri"/>
              </a:rPr>
              <a:t>Contexte du stage</a:t>
            </a:r>
          </a:p>
        </p:txBody>
      </p:sp>
      <p:sp>
        <p:nvSpPr>
          <p:cNvPr id="34" name="TextBox 33"/>
          <p:cNvSpPr txBox="1"/>
          <p:nvPr/>
        </p:nvSpPr>
        <p:spPr>
          <a:xfrm>
            <a:off x="6583680" y="2907792"/>
            <a:ext cx="5029200" cy="1828800"/>
          </a:xfrm>
          <a:prstGeom prst="rect">
            <a:avLst/>
          </a:prstGeom>
          <a:noFill/>
        </p:spPr>
        <p:txBody>
          <a:bodyPr wrap="square">
            <a:spAutoFit/>
          </a:bodyPr>
          <a:lstStyle/>
          <a:p>
            <a:pPr algn="l"/>
            <a:r>
              <a:rPr sz="1200">
                <a:solidFill>
                  <a:srgbClr val="1A1A2E"/>
                </a:solidFill>
                <a:latin typeface="Calibri"/>
              </a:rPr>
              <a:t>  ›  Stage de fin d'etudes — Licence Genie Logiciel, ESPRIT</a:t>
            </a:r>
          </a:p>
          <a:p>
            <a:pPr algn="l"/>
            <a:r>
              <a:rPr sz="1200">
                <a:solidFill>
                  <a:srgbClr val="1A1A2E"/>
                </a:solidFill>
                <a:latin typeface="Calibri"/>
              </a:rPr>
              <a:t>  ›  Duree : 6 mois (Fevrier 2026 -&gt; Aout 2026)</a:t>
            </a:r>
          </a:p>
          <a:p>
            <a:pPr algn="l"/>
            <a:r>
              <a:rPr sz="1200">
                <a:solidFill>
                  <a:srgbClr val="1A1A2E"/>
                </a:solidFill>
                <a:latin typeface="Calibri"/>
              </a:rPr>
              <a:t>  ›  Enc. academique : Mme Loujayne Bouzrati (ESPRIT)</a:t>
            </a:r>
          </a:p>
          <a:p>
            <a:pPr algn="l"/>
            <a:r>
              <a:rPr sz="1200">
                <a:solidFill>
                  <a:srgbClr val="1A1A2E"/>
                </a:solidFill>
                <a:latin typeface="Calibri"/>
              </a:rPr>
              <a:t>  ›  Enc. societe : Mme Sirine Nasri (3S)</a:t>
            </a:r>
          </a:p>
          <a:p>
            <a:pPr algn="l"/>
            <a:r>
              <a:rPr sz="1200">
                <a:solidFill>
                  <a:srgbClr val="1A1A2E"/>
                </a:solidFill>
                <a:latin typeface="Calibri"/>
              </a:rPr>
              <a:t>  ›  Mission : concevoir une plateforme IA de recrutement</a:t>
            </a:r>
          </a:p>
          <a:p>
            <a:pPr algn="l"/>
            <a:r>
              <a:rPr sz="1200">
                <a:solidFill>
                  <a:srgbClr val="1A1A2E"/>
                </a:solidFill>
                <a:latin typeface="Calibri"/>
              </a:rPr>
              <a:t>  ›  Objectif : automatiser le matching CV &lt;-&gt; offres d'emploi</a:t>
            </a:r>
          </a:p>
        </p:txBody>
      </p:sp>
      <p:sp>
        <p:nvSpPr>
          <p:cNvPr id="35" name="Rectangle 34"/>
          <p:cNvSpPr/>
          <p:nvPr/>
        </p:nvSpPr>
        <p:spPr>
          <a:xfrm>
            <a:off x="365760" y="5029200"/>
            <a:ext cx="11430000" cy="10972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102352"/>
            <a:ext cx="4572000" cy="304800"/>
          </a:xfrm>
          <a:prstGeom prst="rect">
            <a:avLst/>
          </a:prstGeom>
          <a:noFill/>
        </p:spPr>
        <p:txBody>
          <a:bodyPr wrap="square"/>
          <a:lstStyle/>
          <a:p>
            <a:pPr algn="l"/>
            <a:r>
              <a:rPr sz="1300" b="1" i="0">
                <a:solidFill>
                  <a:srgbClr val="E88710"/>
                </a:solidFill>
                <a:latin typeface="Calibri"/>
              </a:rPr>
              <a:t>Besoin identifie chez 3S</a:t>
            </a:r>
          </a:p>
        </p:txBody>
      </p:sp>
      <p:sp>
        <p:nvSpPr>
          <p:cNvPr id="37" name="TextBox 36"/>
          <p:cNvSpPr txBox="1"/>
          <p:nvPr/>
        </p:nvSpPr>
        <p:spPr>
          <a:xfrm>
            <a:off x="548640" y="5376672"/>
            <a:ext cx="10972800" cy="685800"/>
          </a:xfrm>
          <a:prstGeom prst="rect">
            <a:avLst/>
          </a:prstGeom>
          <a:noFill/>
        </p:spPr>
        <p:txBody>
          <a:bodyPr wrap="square">
            <a:spAutoFit/>
          </a:bodyPr>
          <a:lstStyle/>
          <a:p>
            <a:pPr algn="l"/>
            <a:r>
              <a:rPr sz="1200">
                <a:solidFill>
                  <a:srgbClr val="FFFFFF"/>
                </a:solidFill>
                <a:latin typeface="Calibri"/>
              </a:rPr>
              <a:t>  -&gt;  Le tri manuel des CVs est chronophage, subjectif et non scalable</a:t>
            </a:r>
          </a:p>
          <a:p>
            <a:pPr algn="l"/>
            <a:r>
              <a:rPr sz="1200">
                <a:solidFill>
                  <a:srgbClr val="FFFFFF"/>
                </a:solidFill>
                <a:latin typeface="Calibri"/>
              </a:rPr>
              <a:t>  -&gt;  Besoin d'un outil interne intelligent : score automatique, multi-domaines, expliquable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Cadre du projet — Problematique &amp; Etude de l'existant</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Pourquoi ce projet ? Que font les autres ? Quelle est notre reponse ?</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4 / 15</a:t>
            </a:r>
          </a:p>
        </p:txBody>
      </p:sp>
      <p:sp>
        <p:nvSpPr>
          <p:cNvPr id="12" name="Rectangle 11"/>
          <p:cNvSpPr/>
          <p:nvPr/>
        </p:nvSpPr>
        <p:spPr>
          <a:xfrm>
            <a:off x="365760" y="1508760"/>
            <a:ext cx="411480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508760"/>
            <a:ext cx="63500" cy="4663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600200"/>
            <a:ext cx="3840480" cy="365760"/>
          </a:xfrm>
          <a:prstGeom prst="rect">
            <a:avLst/>
          </a:prstGeom>
          <a:noFill/>
        </p:spPr>
        <p:txBody>
          <a:bodyPr wrap="square"/>
          <a:lstStyle/>
          <a:p>
            <a:pPr algn="l"/>
            <a:r>
              <a:rPr sz="1400" b="1" i="0">
                <a:solidFill>
                  <a:srgbClr val="EF4444"/>
                </a:solidFill>
                <a:latin typeface="Calibri"/>
              </a:rPr>
              <a:t>❌  Problème actuel</a:t>
            </a:r>
          </a:p>
        </p:txBody>
      </p:sp>
      <p:sp>
        <p:nvSpPr>
          <p:cNvPr id="15" name="TextBox 14"/>
          <p:cNvSpPr txBox="1"/>
          <p:nvPr/>
        </p:nvSpPr>
        <p:spPr>
          <a:xfrm>
            <a:off x="548640" y="2011680"/>
            <a:ext cx="3840480" cy="3840480"/>
          </a:xfrm>
          <a:prstGeom prst="rect">
            <a:avLst/>
          </a:prstGeom>
          <a:noFill/>
        </p:spPr>
        <p:txBody>
          <a:bodyPr wrap="square">
            <a:spAutoFit/>
          </a:bodyPr>
          <a:lstStyle/>
          <a:p>
            <a:pPr algn="l"/>
            <a:r>
              <a:rPr sz="1300">
                <a:solidFill>
                  <a:srgbClr val="1A1A2E"/>
                </a:solidFill>
                <a:latin typeface="Calibri"/>
              </a:rPr>
              <a:t>  ›  Tri manuel des CVs : lent et subjectif</a:t>
            </a:r>
          </a:p>
          <a:p>
            <a:pPr algn="l"/>
            <a:r>
              <a:rPr sz="1300">
                <a:solidFill>
                  <a:srgbClr val="1A1A2E"/>
                </a:solidFill>
                <a:latin typeface="Calibri"/>
              </a:rPr>
              <a:t>  ›  Mots-clés insuffisants : manque la sémantique</a:t>
            </a:r>
          </a:p>
          <a:p>
            <a:pPr algn="l"/>
            <a:r>
              <a:rPr sz="1300">
                <a:solidFill>
                  <a:srgbClr val="1A1A2E"/>
                </a:solidFill>
                <a:latin typeface="Calibri"/>
              </a:rPr>
              <a:t>  ›  Aucun retour au candidat sur son profil</a:t>
            </a:r>
          </a:p>
          <a:p>
            <a:pPr algn="l"/>
            <a:r>
              <a:rPr sz="1300">
                <a:solidFill>
                  <a:srgbClr val="1A1A2E"/>
                </a:solidFill>
                <a:latin typeface="Calibri"/>
              </a:rPr>
              <a:t>  ›  Pas d'apprentissage des décisions passées</a:t>
            </a:r>
          </a:p>
          <a:p>
            <a:pPr algn="l"/>
            <a:r>
              <a:rPr sz="1300">
                <a:solidFill>
                  <a:srgbClr val="1A1A2E"/>
                </a:solidFill>
                <a:latin typeface="Calibri"/>
              </a:rPr>
              <a:t>  ›  Outils existants trop génériques ou trop coûteux</a:t>
            </a:r>
          </a:p>
        </p:txBody>
      </p:sp>
      <p:sp>
        <p:nvSpPr>
          <p:cNvPr id="16" name="Rectangle 15"/>
          <p:cNvSpPr/>
          <p:nvPr/>
        </p:nvSpPr>
        <p:spPr>
          <a:xfrm>
            <a:off x="4754880" y="1508760"/>
            <a:ext cx="704088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54880" y="1508760"/>
            <a:ext cx="7040880" cy="635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0" y="1600200"/>
            <a:ext cx="6675120" cy="365760"/>
          </a:xfrm>
          <a:prstGeom prst="rect">
            <a:avLst/>
          </a:prstGeom>
          <a:noFill/>
        </p:spPr>
        <p:txBody>
          <a:bodyPr wrap="square"/>
          <a:lstStyle/>
          <a:p>
            <a:pPr algn="l"/>
            <a:r>
              <a:rPr sz="1400" b="1" i="0">
                <a:solidFill>
                  <a:srgbClr val="1E5CAA"/>
                </a:solidFill>
                <a:latin typeface="Calibri"/>
              </a:rPr>
              <a:t>🔍  Comparaison des solutions existantes</a:t>
            </a:r>
          </a:p>
        </p:txBody>
      </p:sp>
      <p:sp>
        <p:nvSpPr>
          <p:cNvPr id="19" name="Rectangle 18"/>
          <p:cNvSpPr/>
          <p:nvPr/>
        </p:nvSpPr>
        <p:spPr>
          <a:xfrm>
            <a:off x="4800600" y="2011680"/>
            <a:ext cx="201168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400" y="2113280"/>
            <a:ext cx="2011680" cy="530352"/>
          </a:xfrm>
          <a:prstGeom prst="rect">
            <a:avLst/>
          </a:prstGeom>
          <a:noFill/>
        </p:spPr>
        <p:txBody>
          <a:bodyPr wrap="square"/>
          <a:lstStyle/>
          <a:p>
            <a:pPr algn="l"/>
            <a:r>
              <a:rPr sz="1100" b="1" i="0">
                <a:solidFill>
                  <a:srgbClr val="FFFFFF"/>
                </a:solidFill>
                <a:latin typeface="Calibri"/>
              </a:rPr>
              <a:t>Solution</a:t>
            </a:r>
          </a:p>
        </p:txBody>
      </p:sp>
      <p:sp>
        <p:nvSpPr>
          <p:cNvPr id="21" name="Rectangle 20"/>
          <p:cNvSpPr/>
          <p:nvPr/>
        </p:nvSpPr>
        <p:spPr>
          <a:xfrm>
            <a:off x="6812280" y="2011680"/>
            <a:ext cx="137160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63080" y="2113280"/>
            <a:ext cx="1371600" cy="530352"/>
          </a:xfrm>
          <a:prstGeom prst="rect">
            <a:avLst/>
          </a:prstGeom>
          <a:noFill/>
        </p:spPr>
        <p:txBody>
          <a:bodyPr wrap="square"/>
          <a:lstStyle/>
          <a:p>
            <a:pPr algn="l"/>
            <a:r>
              <a:rPr sz="1100" b="1" i="0">
                <a:solidFill>
                  <a:srgbClr val="FFFFFF"/>
                </a:solidFill>
                <a:latin typeface="Calibri"/>
              </a:rPr>
              <a:t>Matching sémantique</a:t>
            </a:r>
          </a:p>
        </p:txBody>
      </p:sp>
      <p:sp>
        <p:nvSpPr>
          <p:cNvPr id="23" name="Rectangle 22"/>
          <p:cNvSpPr/>
          <p:nvPr/>
        </p:nvSpPr>
        <p:spPr>
          <a:xfrm>
            <a:off x="8183879" y="2011680"/>
            <a:ext cx="118872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4679" y="2113280"/>
            <a:ext cx="1188720" cy="530352"/>
          </a:xfrm>
          <a:prstGeom prst="rect">
            <a:avLst/>
          </a:prstGeom>
          <a:noFill/>
        </p:spPr>
        <p:txBody>
          <a:bodyPr wrap="square"/>
          <a:lstStyle/>
          <a:p>
            <a:pPr algn="l"/>
            <a:r>
              <a:rPr sz="1100" b="1" i="0">
                <a:solidFill>
                  <a:srgbClr val="FFFFFF"/>
                </a:solidFill>
                <a:latin typeface="Calibri"/>
              </a:rPr>
              <a:t>NLP Français</a:t>
            </a:r>
          </a:p>
        </p:txBody>
      </p:sp>
      <p:sp>
        <p:nvSpPr>
          <p:cNvPr id="25" name="Rectangle 24"/>
          <p:cNvSpPr/>
          <p:nvPr/>
        </p:nvSpPr>
        <p:spPr>
          <a:xfrm>
            <a:off x="9372600" y="2011680"/>
            <a:ext cx="100584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23400" y="2113280"/>
            <a:ext cx="1005840" cy="530352"/>
          </a:xfrm>
          <a:prstGeom prst="rect">
            <a:avLst/>
          </a:prstGeom>
          <a:noFill/>
        </p:spPr>
        <p:txBody>
          <a:bodyPr wrap="square"/>
          <a:lstStyle/>
          <a:p>
            <a:pPr algn="l"/>
            <a:r>
              <a:rPr sz="1100" b="1" i="0">
                <a:solidFill>
                  <a:srgbClr val="FFFFFF"/>
                </a:solidFill>
                <a:latin typeface="Calibri"/>
              </a:rPr>
              <a:t>Coût</a:t>
            </a:r>
          </a:p>
        </p:txBody>
      </p:sp>
      <p:sp>
        <p:nvSpPr>
          <p:cNvPr id="27" name="Rectangle 26"/>
          <p:cNvSpPr/>
          <p:nvPr/>
        </p:nvSpPr>
        <p:spPr>
          <a:xfrm>
            <a:off x="10378440" y="2011680"/>
            <a:ext cx="137160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29240" y="2113280"/>
            <a:ext cx="1371600" cy="530352"/>
          </a:xfrm>
          <a:prstGeom prst="rect">
            <a:avLst/>
          </a:prstGeom>
          <a:noFill/>
        </p:spPr>
        <p:txBody>
          <a:bodyPr wrap="square"/>
          <a:lstStyle/>
          <a:p>
            <a:pPr algn="l"/>
            <a:r>
              <a:rPr sz="1100" b="1" i="0">
                <a:solidFill>
                  <a:srgbClr val="FFFFFF"/>
                </a:solidFill>
                <a:latin typeface="Calibri"/>
              </a:rPr>
              <a:t>Personnalisable</a:t>
            </a:r>
          </a:p>
        </p:txBody>
      </p:sp>
      <p:sp>
        <p:nvSpPr>
          <p:cNvPr id="29" name="Rectangle 28"/>
          <p:cNvSpPr/>
          <p:nvPr/>
        </p:nvSpPr>
        <p:spPr>
          <a:xfrm>
            <a:off x="4800600" y="2542032"/>
            <a:ext cx="201168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51400" y="2618232"/>
            <a:ext cx="2011680" cy="530352"/>
          </a:xfrm>
          <a:prstGeom prst="rect">
            <a:avLst/>
          </a:prstGeom>
          <a:noFill/>
        </p:spPr>
        <p:txBody>
          <a:bodyPr wrap="square"/>
          <a:lstStyle/>
          <a:p>
            <a:pPr algn="l"/>
            <a:r>
              <a:rPr sz="1100" b="0" i="0">
                <a:solidFill>
                  <a:srgbClr val="1A1A2E"/>
                </a:solidFill>
                <a:latin typeface="Calibri"/>
              </a:rPr>
              <a:t>LinkedIn Recruiter</a:t>
            </a:r>
          </a:p>
        </p:txBody>
      </p:sp>
      <p:sp>
        <p:nvSpPr>
          <p:cNvPr id="31" name="Rectangle 30"/>
          <p:cNvSpPr/>
          <p:nvPr/>
        </p:nvSpPr>
        <p:spPr>
          <a:xfrm>
            <a:off x="6812280" y="2542032"/>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63080" y="2618232"/>
            <a:ext cx="1371600" cy="530352"/>
          </a:xfrm>
          <a:prstGeom prst="rect">
            <a:avLst/>
          </a:prstGeom>
          <a:noFill/>
        </p:spPr>
        <p:txBody>
          <a:bodyPr wrap="square"/>
          <a:lstStyle/>
          <a:p>
            <a:pPr algn="l"/>
            <a:r>
              <a:rPr sz="1100" b="0" i="0">
                <a:solidFill>
                  <a:srgbClr val="1A1A2E"/>
                </a:solidFill>
                <a:latin typeface="Calibri"/>
              </a:rPr>
              <a:t>✅</a:t>
            </a:r>
          </a:p>
        </p:txBody>
      </p:sp>
      <p:sp>
        <p:nvSpPr>
          <p:cNvPr id="33" name="Rectangle 32"/>
          <p:cNvSpPr/>
          <p:nvPr/>
        </p:nvSpPr>
        <p:spPr>
          <a:xfrm>
            <a:off x="8183879" y="2542032"/>
            <a:ext cx="118872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4679" y="2618232"/>
            <a:ext cx="1188720" cy="530352"/>
          </a:xfrm>
          <a:prstGeom prst="rect">
            <a:avLst/>
          </a:prstGeom>
          <a:noFill/>
        </p:spPr>
        <p:txBody>
          <a:bodyPr wrap="square"/>
          <a:lstStyle/>
          <a:p>
            <a:pPr algn="l"/>
            <a:r>
              <a:rPr sz="1100" b="0" i="0">
                <a:solidFill>
                  <a:srgbClr val="1A1A2E"/>
                </a:solidFill>
                <a:latin typeface="Calibri"/>
              </a:rPr>
              <a:t>Partiel</a:t>
            </a:r>
          </a:p>
        </p:txBody>
      </p:sp>
      <p:sp>
        <p:nvSpPr>
          <p:cNvPr id="35" name="Rectangle 34"/>
          <p:cNvSpPr/>
          <p:nvPr/>
        </p:nvSpPr>
        <p:spPr>
          <a:xfrm>
            <a:off x="9372600" y="2542032"/>
            <a:ext cx="100584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23400" y="2618232"/>
            <a:ext cx="1005840" cy="530352"/>
          </a:xfrm>
          <a:prstGeom prst="rect">
            <a:avLst/>
          </a:prstGeom>
          <a:noFill/>
        </p:spPr>
        <p:txBody>
          <a:bodyPr wrap="square"/>
          <a:lstStyle/>
          <a:p>
            <a:pPr algn="l"/>
            <a:r>
              <a:rPr sz="1100" b="0" i="0">
                <a:solidFill>
                  <a:srgbClr val="1A1A2E"/>
                </a:solidFill>
                <a:latin typeface="Calibri"/>
              </a:rPr>
              <a:t>💰💰💰</a:t>
            </a:r>
          </a:p>
        </p:txBody>
      </p:sp>
      <p:sp>
        <p:nvSpPr>
          <p:cNvPr id="37" name="Rectangle 36"/>
          <p:cNvSpPr/>
          <p:nvPr/>
        </p:nvSpPr>
        <p:spPr>
          <a:xfrm>
            <a:off x="10378440" y="2542032"/>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9240" y="2618232"/>
            <a:ext cx="1371600" cy="530352"/>
          </a:xfrm>
          <a:prstGeom prst="rect">
            <a:avLst/>
          </a:prstGeom>
          <a:noFill/>
        </p:spPr>
        <p:txBody>
          <a:bodyPr wrap="square"/>
          <a:lstStyle/>
          <a:p>
            <a:pPr algn="l"/>
            <a:r>
              <a:rPr sz="1100" b="0" i="0">
                <a:solidFill>
                  <a:srgbClr val="1A1A2E"/>
                </a:solidFill>
                <a:latin typeface="Calibri"/>
              </a:rPr>
              <a:t>❌</a:t>
            </a:r>
          </a:p>
        </p:txBody>
      </p:sp>
      <p:sp>
        <p:nvSpPr>
          <p:cNvPr id="39" name="Rectangle 38"/>
          <p:cNvSpPr/>
          <p:nvPr/>
        </p:nvSpPr>
        <p:spPr>
          <a:xfrm>
            <a:off x="4800600" y="3072384"/>
            <a:ext cx="201168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51400" y="3148584"/>
            <a:ext cx="2011680" cy="530352"/>
          </a:xfrm>
          <a:prstGeom prst="rect">
            <a:avLst/>
          </a:prstGeom>
          <a:noFill/>
        </p:spPr>
        <p:txBody>
          <a:bodyPr wrap="square"/>
          <a:lstStyle/>
          <a:p>
            <a:pPr algn="l"/>
            <a:r>
              <a:rPr sz="1100" b="0" i="0">
                <a:solidFill>
                  <a:srgbClr val="1A1A2E"/>
                </a:solidFill>
                <a:latin typeface="Calibri"/>
              </a:rPr>
              <a:t>Workday / Taleo</a:t>
            </a:r>
          </a:p>
        </p:txBody>
      </p:sp>
      <p:sp>
        <p:nvSpPr>
          <p:cNvPr id="41" name="Rectangle 40"/>
          <p:cNvSpPr/>
          <p:nvPr/>
        </p:nvSpPr>
        <p:spPr>
          <a:xfrm>
            <a:off x="6812280" y="3072384"/>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63080" y="3148584"/>
            <a:ext cx="1371600" cy="530352"/>
          </a:xfrm>
          <a:prstGeom prst="rect">
            <a:avLst/>
          </a:prstGeom>
          <a:noFill/>
        </p:spPr>
        <p:txBody>
          <a:bodyPr wrap="square"/>
          <a:lstStyle/>
          <a:p>
            <a:pPr algn="l"/>
            <a:r>
              <a:rPr sz="1100" b="0" i="0">
                <a:solidFill>
                  <a:srgbClr val="1A1A2E"/>
                </a:solidFill>
                <a:latin typeface="Calibri"/>
              </a:rPr>
              <a:t>Partiel</a:t>
            </a:r>
          </a:p>
        </p:txBody>
      </p:sp>
      <p:sp>
        <p:nvSpPr>
          <p:cNvPr id="43" name="Rectangle 42"/>
          <p:cNvSpPr/>
          <p:nvPr/>
        </p:nvSpPr>
        <p:spPr>
          <a:xfrm>
            <a:off x="8183879" y="3072384"/>
            <a:ext cx="118872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34679" y="3148584"/>
            <a:ext cx="1188720" cy="530352"/>
          </a:xfrm>
          <a:prstGeom prst="rect">
            <a:avLst/>
          </a:prstGeom>
          <a:noFill/>
        </p:spPr>
        <p:txBody>
          <a:bodyPr wrap="square"/>
          <a:lstStyle/>
          <a:p>
            <a:pPr algn="l"/>
            <a:r>
              <a:rPr sz="1100" b="0" i="0">
                <a:solidFill>
                  <a:srgbClr val="1A1A2E"/>
                </a:solidFill>
                <a:latin typeface="Calibri"/>
              </a:rPr>
              <a:t>❌</a:t>
            </a:r>
          </a:p>
        </p:txBody>
      </p:sp>
      <p:sp>
        <p:nvSpPr>
          <p:cNvPr id="45" name="Rectangle 44"/>
          <p:cNvSpPr/>
          <p:nvPr/>
        </p:nvSpPr>
        <p:spPr>
          <a:xfrm>
            <a:off x="9372600" y="3072384"/>
            <a:ext cx="100584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23400" y="3148584"/>
            <a:ext cx="1005840" cy="530352"/>
          </a:xfrm>
          <a:prstGeom prst="rect">
            <a:avLst/>
          </a:prstGeom>
          <a:noFill/>
        </p:spPr>
        <p:txBody>
          <a:bodyPr wrap="square"/>
          <a:lstStyle/>
          <a:p>
            <a:pPr algn="l"/>
            <a:r>
              <a:rPr sz="1100" b="0" i="0">
                <a:solidFill>
                  <a:srgbClr val="1A1A2E"/>
                </a:solidFill>
                <a:latin typeface="Calibri"/>
              </a:rPr>
              <a:t>💰💰💰</a:t>
            </a:r>
          </a:p>
        </p:txBody>
      </p:sp>
      <p:sp>
        <p:nvSpPr>
          <p:cNvPr id="47" name="Rectangle 46"/>
          <p:cNvSpPr/>
          <p:nvPr/>
        </p:nvSpPr>
        <p:spPr>
          <a:xfrm>
            <a:off x="10378440" y="3072384"/>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29240" y="3148584"/>
            <a:ext cx="1371600" cy="530352"/>
          </a:xfrm>
          <a:prstGeom prst="rect">
            <a:avLst/>
          </a:prstGeom>
          <a:noFill/>
        </p:spPr>
        <p:txBody>
          <a:bodyPr wrap="square"/>
          <a:lstStyle/>
          <a:p>
            <a:pPr algn="l"/>
            <a:r>
              <a:rPr sz="1100" b="0" i="0">
                <a:solidFill>
                  <a:srgbClr val="1A1A2E"/>
                </a:solidFill>
                <a:latin typeface="Calibri"/>
              </a:rPr>
              <a:t>Partiel</a:t>
            </a:r>
          </a:p>
        </p:txBody>
      </p:sp>
      <p:sp>
        <p:nvSpPr>
          <p:cNvPr id="49" name="Rectangle 48"/>
          <p:cNvSpPr/>
          <p:nvPr/>
        </p:nvSpPr>
        <p:spPr>
          <a:xfrm>
            <a:off x="4800600" y="3602736"/>
            <a:ext cx="201168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51400" y="3678936"/>
            <a:ext cx="2011680" cy="530352"/>
          </a:xfrm>
          <a:prstGeom prst="rect">
            <a:avLst/>
          </a:prstGeom>
          <a:noFill/>
        </p:spPr>
        <p:txBody>
          <a:bodyPr wrap="square"/>
          <a:lstStyle/>
          <a:p>
            <a:pPr algn="l"/>
            <a:r>
              <a:rPr sz="1100" b="0" i="0">
                <a:solidFill>
                  <a:srgbClr val="1A1A2E"/>
                </a:solidFill>
                <a:latin typeface="Calibri"/>
              </a:rPr>
              <a:t>Jobology / Flatchr</a:t>
            </a:r>
          </a:p>
        </p:txBody>
      </p:sp>
      <p:sp>
        <p:nvSpPr>
          <p:cNvPr id="51" name="Rectangle 50"/>
          <p:cNvSpPr/>
          <p:nvPr/>
        </p:nvSpPr>
        <p:spPr>
          <a:xfrm>
            <a:off x="6812280" y="3602736"/>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63080" y="3678936"/>
            <a:ext cx="1371600" cy="530352"/>
          </a:xfrm>
          <a:prstGeom prst="rect">
            <a:avLst/>
          </a:prstGeom>
          <a:noFill/>
        </p:spPr>
        <p:txBody>
          <a:bodyPr wrap="square"/>
          <a:lstStyle/>
          <a:p>
            <a:pPr algn="l"/>
            <a:r>
              <a:rPr sz="1100" b="0" i="0">
                <a:solidFill>
                  <a:srgbClr val="1A1A2E"/>
                </a:solidFill>
                <a:latin typeface="Calibri"/>
              </a:rPr>
              <a:t>Partiel</a:t>
            </a:r>
          </a:p>
        </p:txBody>
      </p:sp>
      <p:sp>
        <p:nvSpPr>
          <p:cNvPr id="53" name="Rectangle 52"/>
          <p:cNvSpPr/>
          <p:nvPr/>
        </p:nvSpPr>
        <p:spPr>
          <a:xfrm>
            <a:off x="8183879" y="3602736"/>
            <a:ext cx="118872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34679" y="3678936"/>
            <a:ext cx="1188720" cy="530352"/>
          </a:xfrm>
          <a:prstGeom prst="rect">
            <a:avLst/>
          </a:prstGeom>
          <a:noFill/>
        </p:spPr>
        <p:txBody>
          <a:bodyPr wrap="square"/>
          <a:lstStyle/>
          <a:p>
            <a:pPr algn="l"/>
            <a:r>
              <a:rPr sz="1100" b="0" i="0">
                <a:solidFill>
                  <a:srgbClr val="1A1A2E"/>
                </a:solidFill>
                <a:latin typeface="Calibri"/>
              </a:rPr>
              <a:t>✅</a:t>
            </a:r>
          </a:p>
        </p:txBody>
      </p:sp>
      <p:sp>
        <p:nvSpPr>
          <p:cNvPr id="55" name="Rectangle 54"/>
          <p:cNvSpPr/>
          <p:nvPr/>
        </p:nvSpPr>
        <p:spPr>
          <a:xfrm>
            <a:off x="9372600" y="3602736"/>
            <a:ext cx="100584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423400" y="3678936"/>
            <a:ext cx="1005840" cy="530352"/>
          </a:xfrm>
          <a:prstGeom prst="rect">
            <a:avLst/>
          </a:prstGeom>
          <a:noFill/>
        </p:spPr>
        <p:txBody>
          <a:bodyPr wrap="square"/>
          <a:lstStyle/>
          <a:p>
            <a:pPr algn="l"/>
            <a:r>
              <a:rPr sz="1100" b="0" i="0">
                <a:solidFill>
                  <a:srgbClr val="1A1A2E"/>
                </a:solidFill>
                <a:latin typeface="Calibri"/>
              </a:rPr>
              <a:t>💰💰</a:t>
            </a:r>
          </a:p>
        </p:txBody>
      </p:sp>
      <p:sp>
        <p:nvSpPr>
          <p:cNvPr id="57" name="Rectangle 56"/>
          <p:cNvSpPr/>
          <p:nvPr/>
        </p:nvSpPr>
        <p:spPr>
          <a:xfrm>
            <a:off x="10378440" y="3602736"/>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429240" y="3678936"/>
            <a:ext cx="1371600" cy="530352"/>
          </a:xfrm>
          <a:prstGeom prst="rect">
            <a:avLst/>
          </a:prstGeom>
          <a:noFill/>
        </p:spPr>
        <p:txBody>
          <a:bodyPr wrap="square"/>
          <a:lstStyle/>
          <a:p>
            <a:pPr algn="l"/>
            <a:r>
              <a:rPr sz="1100" b="0" i="0">
                <a:solidFill>
                  <a:srgbClr val="1A1A2E"/>
                </a:solidFill>
                <a:latin typeface="Calibri"/>
              </a:rPr>
              <a:t>Partiel</a:t>
            </a:r>
          </a:p>
        </p:txBody>
      </p:sp>
      <p:sp>
        <p:nvSpPr>
          <p:cNvPr id="59" name="Rectangle 58"/>
          <p:cNvSpPr/>
          <p:nvPr/>
        </p:nvSpPr>
        <p:spPr>
          <a:xfrm>
            <a:off x="4800600" y="4133088"/>
            <a:ext cx="201168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851400" y="4209288"/>
            <a:ext cx="2011680" cy="530352"/>
          </a:xfrm>
          <a:prstGeom prst="rect">
            <a:avLst/>
          </a:prstGeom>
          <a:noFill/>
        </p:spPr>
        <p:txBody>
          <a:bodyPr wrap="square"/>
          <a:lstStyle/>
          <a:p>
            <a:pPr algn="l"/>
            <a:r>
              <a:rPr sz="1100" b="0" i="0">
                <a:solidFill>
                  <a:srgbClr val="1A1A2E"/>
                </a:solidFill>
                <a:latin typeface="Calibri"/>
              </a:rPr>
              <a:t>CVthèque Excel</a:t>
            </a:r>
          </a:p>
        </p:txBody>
      </p:sp>
      <p:sp>
        <p:nvSpPr>
          <p:cNvPr id="61" name="Rectangle 60"/>
          <p:cNvSpPr/>
          <p:nvPr/>
        </p:nvSpPr>
        <p:spPr>
          <a:xfrm>
            <a:off x="6812280" y="4133088"/>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63080" y="4209288"/>
            <a:ext cx="1371600" cy="530352"/>
          </a:xfrm>
          <a:prstGeom prst="rect">
            <a:avLst/>
          </a:prstGeom>
          <a:noFill/>
        </p:spPr>
        <p:txBody>
          <a:bodyPr wrap="square"/>
          <a:lstStyle/>
          <a:p>
            <a:pPr algn="l"/>
            <a:r>
              <a:rPr sz="1100" b="0" i="0">
                <a:solidFill>
                  <a:srgbClr val="1A1A2E"/>
                </a:solidFill>
                <a:latin typeface="Calibri"/>
              </a:rPr>
              <a:t>❌</a:t>
            </a:r>
          </a:p>
        </p:txBody>
      </p:sp>
      <p:sp>
        <p:nvSpPr>
          <p:cNvPr id="63" name="Rectangle 62"/>
          <p:cNvSpPr/>
          <p:nvPr/>
        </p:nvSpPr>
        <p:spPr>
          <a:xfrm>
            <a:off x="8183879" y="4133088"/>
            <a:ext cx="118872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234679" y="4209288"/>
            <a:ext cx="1188720" cy="530352"/>
          </a:xfrm>
          <a:prstGeom prst="rect">
            <a:avLst/>
          </a:prstGeom>
          <a:noFill/>
        </p:spPr>
        <p:txBody>
          <a:bodyPr wrap="square"/>
          <a:lstStyle/>
          <a:p>
            <a:pPr algn="l"/>
            <a:r>
              <a:rPr sz="1100" b="0" i="0">
                <a:solidFill>
                  <a:srgbClr val="1A1A2E"/>
                </a:solidFill>
                <a:latin typeface="Calibri"/>
              </a:rPr>
              <a:t>❌</a:t>
            </a:r>
          </a:p>
        </p:txBody>
      </p:sp>
      <p:sp>
        <p:nvSpPr>
          <p:cNvPr id="65" name="Rectangle 64"/>
          <p:cNvSpPr/>
          <p:nvPr/>
        </p:nvSpPr>
        <p:spPr>
          <a:xfrm>
            <a:off x="9372600" y="4133088"/>
            <a:ext cx="100584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423400" y="4209288"/>
            <a:ext cx="1005840" cy="530352"/>
          </a:xfrm>
          <a:prstGeom prst="rect">
            <a:avLst/>
          </a:prstGeom>
          <a:noFill/>
        </p:spPr>
        <p:txBody>
          <a:bodyPr wrap="square"/>
          <a:lstStyle/>
          <a:p>
            <a:pPr algn="l"/>
            <a:r>
              <a:rPr sz="1100" b="0" i="0">
                <a:solidFill>
                  <a:srgbClr val="1A1A2E"/>
                </a:solidFill>
                <a:latin typeface="Calibri"/>
              </a:rPr>
              <a:t>Gratuit</a:t>
            </a:r>
          </a:p>
        </p:txBody>
      </p:sp>
      <p:sp>
        <p:nvSpPr>
          <p:cNvPr id="67" name="Rectangle 66"/>
          <p:cNvSpPr/>
          <p:nvPr/>
        </p:nvSpPr>
        <p:spPr>
          <a:xfrm>
            <a:off x="10378440" y="4133088"/>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429240" y="4209288"/>
            <a:ext cx="1371600" cy="530352"/>
          </a:xfrm>
          <a:prstGeom prst="rect">
            <a:avLst/>
          </a:prstGeom>
          <a:noFill/>
        </p:spPr>
        <p:txBody>
          <a:bodyPr wrap="square"/>
          <a:lstStyle/>
          <a:p>
            <a:pPr algn="l"/>
            <a:r>
              <a:rPr sz="1100" b="0" i="0">
                <a:solidFill>
                  <a:srgbClr val="1A1A2E"/>
                </a:solidFill>
                <a:latin typeface="Calibri"/>
              </a:rPr>
              <a:t>❌</a:t>
            </a:r>
          </a:p>
        </p:txBody>
      </p:sp>
      <p:sp>
        <p:nvSpPr>
          <p:cNvPr id="69" name="Rectangle 68"/>
          <p:cNvSpPr/>
          <p:nvPr/>
        </p:nvSpPr>
        <p:spPr>
          <a:xfrm>
            <a:off x="4800600" y="4663440"/>
            <a:ext cx="201168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851400" y="4739640"/>
            <a:ext cx="2011680" cy="530352"/>
          </a:xfrm>
          <a:prstGeom prst="rect">
            <a:avLst/>
          </a:prstGeom>
          <a:noFill/>
        </p:spPr>
        <p:txBody>
          <a:bodyPr wrap="square"/>
          <a:lstStyle/>
          <a:p>
            <a:pPr algn="l"/>
            <a:r>
              <a:rPr sz="1100" b="0" i="0">
                <a:solidFill>
                  <a:srgbClr val="10B981"/>
                </a:solidFill>
                <a:latin typeface="Calibri"/>
              </a:rPr>
              <a:t>3S TalentMatch ✨</a:t>
            </a:r>
          </a:p>
        </p:txBody>
      </p:sp>
      <p:sp>
        <p:nvSpPr>
          <p:cNvPr id="71" name="Rectangle 70"/>
          <p:cNvSpPr/>
          <p:nvPr/>
        </p:nvSpPr>
        <p:spPr>
          <a:xfrm>
            <a:off x="6812280" y="4663440"/>
            <a:ext cx="137160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863080" y="4739640"/>
            <a:ext cx="1371600" cy="530352"/>
          </a:xfrm>
          <a:prstGeom prst="rect">
            <a:avLst/>
          </a:prstGeom>
          <a:noFill/>
        </p:spPr>
        <p:txBody>
          <a:bodyPr wrap="square"/>
          <a:lstStyle/>
          <a:p>
            <a:pPr algn="l"/>
            <a:r>
              <a:rPr sz="1100" b="0" i="0">
                <a:solidFill>
                  <a:srgbClr val="10B981"/>
                </a:solidFill>
                <a:latin typeface="Calibri"/>
              </a:rPr>
              <a:t>✅ BERT</a:t>
            </a:r>
          </a:p>
        </p:txBody>
      </p:sp>
      <p:sp>
        <p:nvSpPr>
          <p:cNvPr id="73" name="Rectangle 72"/>
          <p:cNvSpPr/>
          <p:nvPr/>
        </p:nvSpPr>
        <p:spPr>
          <a:xfrm>
            <a:off x="8183879" y="4663440"/>
            <a:ext cx="118872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234679" y="4739640"/>
            <a:ext cx="1188720" cy="530352"/>
          </a:xfrm>
          <a:prstGeom prst="rect">
            <a:avLst/>
          </a:prstGeom>
          <a:noFill/>
        </p:spPr>
        <p:txBody>
          <a:bodyPr wrap="square"/>
          <a:lstStyle/>
          <a:p>
            <a:pPr algn="l"/>
            <a:r>
              <a:rPr sz="1100" b="0" i="0">
                <a:solidFill>
                  <a:srgbClr val="10B981"/>
                </a:solidFill>
                <a:latin typeface="Calibri"/>
              </a:rPr>
              <a:t>✅ spaCy FR</a:t>
            </a:r>
          </a:p>
        </p:txBody>
      </p:sp>
      <p:sp>
        <p:nvSpPr>
          <p:cNvPr id="75" name="Rectangle 74"/>
          <p:cNvSpPr/>
          <p:nvPr/>
        </p:nvSpPr>
        <p:spPr>
          <a:xfrm>
            <a:off x="9372600" y="4663440"/>
            <a:ext cx="100584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423400" y="4739640"/>
            <a:ext cx="1005840" cy="530352"/>
          </a:xfrm>
          <a:prstGeom prst="rect">
            <a:avLst/>
          </a:prstGeom>
          <a:noFill/>
        </p:spPr>
        <p:txBody>
          <a:bodyPr wrap="square"/>
          <a:lstStyle/>
          <a:p>
            <a:pPr algn="l"/>
            <a:r>
              <a:rPr sz="1100" b="0" i="0">
                <a:solidFill>
                  <a:srgbClr val="10B981"/>
                </a:solidFill>
                <a:latin typeface="Calibri"/>
              </a:rPr>
              <a:t>Gratuit</a:t>
            </a:r>
          </a:p>
        </p:txBody>
      </p:sp>
      <p:sp>
        <p:nvSpPr>
          <p:cNvPr id="77" name="Rectangle 76"/>
          <p:cNvSpPr/>
          <p:nvPr/>
        </p:nvSpPr>
        <p:spPr>
          <a:xfrm>
            <a:off x="10378440" y="4663440"/>
            <a:ext cx="137160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429240" y="4739640"/>
            <a:ext cx="1371600" cy="530352"/>
          </a:xfrm>
          <a:prstGeom prst="rect">
            <a:avLst/>
          </a:prstGeom>
          <a:noFill/>
        </p:spPr>
        <p:txBody>
          <a:bodyPr wrap="square"/>
          <a:lstStyle/>
          <a:p>
            <a:pPr algn="l"/>
            <a:r>
              <a:rPr sz="1100" b="0" i="0">
                <a:solidFill>
                  <a:srgbClr val="10B981"/>
                </a:solidFill>
                <a:latin typeface="Calibri"/>
              </a:rPr>
              <a:t>✅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Solution proposée — 3S TalentMatch</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Une plateforme end-to-end : upload CV → score IA → décision recruteur</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5 / 15</a:t>
            </a:r>
          </a:p>
        </p:txBody>
      </p:sp>
      <p:sp>
        <p:nvSpPr>
          <p:cNvPr id="12" name="Rectangle 11"/>
          <p:cNvSpPr/>
          <p:nvPr/>
        </p:nvSpPr>
        <p:spPr>
          <a:xfrm>
            <a:off x="365760" y="1508760"/>
            <a:ext cx="3749039"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508760"/>
            <a:ext cx="3749039" cy="762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600200"/>
            <a:ext cx="3474720" cy="411480"/>
          </a:xfrm>
          <a:prstGeom prst="rect">
            <a:avLst/>
          </a:prstGeom>
          <a:noFill/>
        </p:spPr>
        <p:txBody>
          <a:bodyPr wrap="square"/>
          <a:lstStyle/>
          <a:p>
            <a:pPr algn="l"/>
            <a:r>
              <a:rPr sz="1400" b="1" i="0">
                <a:solidFill>
                  <a:srgbClr val="1E5CAA"/>
                </a:solidFill>
                <a:latin typeface="Calibri"/>
              </a:rPr>
              <a:t>👤 Candidat</a:t>
            </a:r>
          </a:p>
        </p:txBody>
      </p:sp>
      <p:sp>
        <p:nvSpPr>
          <p:cNvPr id="15" name="TextBox 14"/>
          <p:cNvSpPr txBox="1"/>
          <p:nvPr/>
        </p:nvSpPr>
        <p:spPr>
          <a:xfrm>
            <a:off x="457200" y="2057400"/>
            <a:ext cx="3566160" cy="1737360"/>
          </a:xfrm>
          <a:prstGeom prst="rect">
            <a:avLst/>
          </a:prstGeom>
          <a:noFill/>
        </p:spPr>
        <p:txBody>
          <a:bodyPr wrap="square">
            <a:spAutoFit/>
          </a:bodyPr>
          <a:lstStyle/>
          <a:p>
            <a:pPr algn="l"/>
            <a:r>
              <a:rPr sz="1200">
                <a:solidFill>
                  <a:srgbClr val="1A1A2E"/>
                </a:solidFill>
                <a:latin typeface="Calibri"/>
              </a:rPr>
              <a:t>  ›  S'inscrit &amp; dépose son CV (PDF/DOCX)</a:t>
            </a:r>
          </a:p>
          <a:p>
            <a:pPr algn="l"/>
            <a:r>
              <a:rPr sz="1200">
                <a:solidFill>
                  <a:srgbClr val="1A1A2E"/>
                </a:solidFill>
                <a:latin typeface="Calibri"/>
              </a:rPr>
              <a:t>  ›  Postule aux offres disponibles</a:t>
            </a:r>
          </a:p>
          <a:p>
            <a:pPr algn="l"/>
            <a:r>
              <a:rPr sz="1200">
                <a:solidFill>
                  <a:srgbClr val="1A1A2E"/>
                </a:solidFill>
                <a:latin typeface="Calibri"/>
              </a:rPr>
              <a:t>  ›  Reçoit feedback : accepté / refusé</a:t>
            </a:r>
          </a:p>
          <a:p>
            <a:pPr algn="l"/>
            <a:r>
              <a:rPr sz="1200">
                <a:solidFill>
                  <a:srgbClr val="1A1A2E"/>
                </a:solidFill>
                <a:latin typeface="Calibri"/>
              </a:rPr>
              <a:t>  ›  Consulte son score de matching</a:t>
            </a:r>
          </a:p>
        </p:txBody>
      </p:sp>
      <p:sp>
        <p:nvSpPr>
          <p:cNvPr id="16" name="Rectangle 15"/>
          <p:cNvSpPr/>
          <p:nvPr/>
        </p:nvSpPr>
        <p:spPr>
          <a:xfrm>
            <a:off x="4297680" y="1508760"/>
            <a:ext cx="3749039"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1508760"/>
            <a:ext cx="3749039" cy="76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1600200"/>
            <a:ext cx="3474720" cy="411480"/>
          </a:xfrm>
          <a:prstGeom prst="rect">
            <a:avLst/>
          </a:prstGeom>
          <a:noFill/>
        </p:spPr>
        <p:txBody>
          <a:bodyPr wrap="square"/>
          <a:lstStyle/>
          <a:p>
            <a:pPr algn="l"/>
            <a:r>
              <a:rPr sz="1400" b="1" i="0">
                <a:solidFill>
                  <a:srgbClr val="E88710"/>
                </a:solidFill>
                <a:latin typeface="Calibri"/>
              </a:rPr>
              <a:t>🧑‍💼 Recruteur</a:t>
            </a:r>
          </a:p>
        </p:txBody>
      </p:sp>
      <p:sp>
        <p:nvSpPr>
          <p:cNvPr id="19" name="TextBox 18"/>
          <p:cNvSpPr txBox="1"/>
          <p:nvPr/>
        </p:nvSpPr>
        <p:spPr>
          <a:xfrm>
            <a:off x="4389120" y="2057400"/>
            <a:ext cx="3566160" cy="1737360"/>
          </a:xfrm>
          <a:prstGeom prst="rect">
            <a:avLst/>
          </a:prstGeom>
          <a:noFill/>
        </p:spPr>
        <p:txBody>
          <a:bodyPr wrap="square">
            <a:spAutoFit/>
          </a:bodyPr>
          <a:lstStyle/>
          <a:p>
            <a:pPr algn="l"/>
            <a:r>
              <a:rPr sz="1200">
                <a:solidFill>
                  <a:srgbClr val="1A1A2E"/>
                </a:solidFill>
                <a:latin typeface="Calibri"/>
              </a:rPr>
              <a:t>  ›  Crée et publie des offres d'emploi</a:t>
            </a:r>
          </a:p>
          <a:p>
            <a:pPr algn="l"/>
            <a:r>
              <a:rPr sz="1200">
                <a:solidFill>
                  <a:srgbClr val="1A1A2E"/>
                </a:solidFill>
                <a:latin typeface="Calibri"/>
              </a:rPr>
              <a:t>  ›  Reçoit les candidats classés par l'IA</a:t>
            </a:r>
          </a:p>
          <a:p>
            <a:pPr algn="l"/>
            <a:r>
              <a:rPr sz="1200">
                <a:solidFill>
                  <a:srgbClr val="1A1A2E"/>
                </a:solidFill>
                <a:latin typeface="Calibri"/>
              </a:rPr>
              <a:t>  ›  Accepte / refuse en un clic</a:t>
            </a:r>
          </a:p>
          <a:p>
            <a:pPr algn="l"/>
            <a:r>
              <a:rPr sz="1200">
                <a:solidFill>
                  <a:srgbClr val="1A1A2E"/>
                </a:solidFill>
                <a:latin typeface="Calibri"/>
              </a:rPr>
              <a:t>  ›  Suit les candidatures en temps réel</a:t>
            </a:r>
          </a:p>
        </p:txBody>
      </p:sp>
      <p:sp>
        <p:nvSpPr>
          <p:cNvPr id="20" name="Rectangle 19"/>
          <p:cNvSpPr/>
          <p:nvPr/>
        </p:nvSpPr>
        <p:spPr>
          <a:xfrm>
            <a:off x="8229600" y="1508760"/>
            <a:ext cx="3749039"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1508760"/>
            <a:ext cx="3749039" cy="76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1600200"/>
            <a:ext cx="3474720" cy="411480"/>
          </a:xfrm>
          <a:prstGeom prst="rect">
            <a:avLst/>
          </a:prstGeom>
          <a:noFill/>
        </p:spPr>
        <p:txBody>
          <a:bodyPr wrap="square"/>
          <a:lstStyle/>
          <a:p>
            <a:pPr algn="l"/>
            <a:r>
              <a:rPr sz="1400" b="1" i="0">
                <a:solidFill>
                  <a:srgbClr val="0D1B3E"/>
                </a:solidFill>
                <a:latin typeface="Calibri"/>
              </a:rPr>
              <a:t>⚙️  Administrateur</a:t>
            </a:r>
          </a:p>
        </p:txBody>
      </p:sp>
      <p:sp>
        <p:nvSpPr>
          <p:cNvPr id="23" name="TextBox 22"/>
          <p:cNvSpPr txBox="1"/>
          <p:nvPr/>
        </p:nvSpPr>
        <p:spPr>
          <a:xfrm>
            <a:off x="8321040" y="2057400"/>
            <a:ext cx="3566160" cy="1737360"/>
          </a:xfrm>
          <a:prstGeom prst="rect">
            <a:avLst/>
          </a:prstGeom>
          <a:noFill/>
        </p:spPr>
        <p:txBody>
          <a:bodyPr wrap="square">
            <a:spAutoFit/>
          </a:bodyPr>
          <a:lstStyle/>
          <a:p>
            <a:pPr algn="l"/>
            <a:r>
              <a:rPr sz="1200">
                <a:solidFill>
                  <a:srgbClr val="1A1A2E"/>
                </a:solidFill>
                <a:latin typeface="Calibri"/>
              </a:rPr>
              <a:t>  ›  Gère les utilisateurs &amp; recruteurs</a:t>
            </a:r>
          </a:p>
          <a:p>
            <a:pPr algn="l"/>
            <a:r>
              <a:rPr sz="1200">
                <a:solidFill>
                  <a:srgbClr val="1A1A2E"/>
                </a:solidFill>
                <a:latin typeface="Calibri"/>
              </a:rPr>
              <a:t>  ›  Consulte les logs d'accès (RGPD)</a:t>
            </a:r>
          </a:p>
          <a:p>
            <a:pPr algn="l"/>
            <a:r>
              <a:rPr sz="1200">
                <a:solidFill>
                  <a:srgbClr val="1A1A2E"/>
                </a:solidFill>
                <a:latin typeface="Calibri"/>
              </a:rPr>
              <a:t>  ›  Surveille les métriques IA</a:t>
            </a:r>
          </a:p>
          <a:p>
            <a:pPr algn="l"/>
            <a:r>
              <a:rPr sz="1200">
                <a:solidFill>
                  <a:srgbClr val="1A1A2E"/>
                </a:solidFill>
                <a:latin typeface="Calibri"/>
              </a:rPr>
              <a:t>  ›  Vue globale du système</a:t>
            </a:r>
          </a:p>
        </p:txBody>
      </p:sp>
      <p:sp>
        <p:nvSpPr>
          <p:cNvPr id="24" name="Rectangle 23"/>
          <p:cNvSpPr/>
          <p:nvPr/>
        </p:nvSpPr>
        <p:spPr>
          <a:xfrm>
            <a:off x="365760" y="4069080"/>
            <a:ext cx="1143000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4069080"/>
            <a:ext cx="11430000" cy="635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160520"/>
            <a:ext cx="4572000" cy="365760"/>
          </a:xfrm>
          <a:prstGeom prst="rect">
            <a:avLst/>
          </a:prstGeom>
          <a:noFill/>
        </p:spPr>
        <p:txBody>
          <a:bodyPr wrap="square"/>
          <a:lstStyle/>
          <a:p>
            <a:pPr algn="l"/>
            <a:r>
              <a:rPr sz="1400" b="1" i="0">
                <a:solidFill>
                  <a:srgbClr val="10B981"/>
                </a:solidFill>
                <a:latin typeface="Calibri"/>
              </a:rPr>
              <a:t>🔄  Flux automatisé</a:t>
            </a:r>
          </a:p>
        </p:txBody>
      </p:sp>
      <p:sp>
        <p:nvSpPr>
          <p:cNvPr id="27" name="Rectangle 26"/>
          <p:cNvSpPr/>
          <p:nvPr/>
        </p:nvSpPr>
        <p:spPr>
          <a:xfrm>
            <a:off x="45720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3400" y="4617720"/>
            <a:ext cx="1737360" cy="279400"/>
          </a:xfrm>
          <a:prstGeom prst="rect">
            <a:avLst/>
          </a:prstGeom>
          <a:noFill/>
        </p:spPr>
        <p:txBody>
          <a:bodyPr wrap="square"/>
          <a:lstStyle/>
          <a:p>
            <a:pPr algn="l"/>
            <a:r>
              <a:rPr sz="1100" b="1" i="0">
                <a:solidFill>
                  <a:srgbClr val="1E5CAA"/>
                </a:solidFill>
                <a:latin typeface="Calibri"/>
              </a:rPr>
              <a:t>1. Upload CV</a:t>
            </a:r>
          </a:p>
        </p:txBody>
      </p:sp>
      <p:sp>
        <p:nvSpPr>
          <p:cNvPr id="29" name="TextBox 28"/>
          <p:cNvSpPr txBox="1"/>
          <p:nvPr/>
        </p:nvSpPr>
        <p:spPr>
          <a:xfrm>
            <a:off x="533400" y="4846320"/>
            <a:ext cx="1737360" cy="279400"/>
          </a:xfrm>
          <a:prstGeom prst="rect">
            <a:avLst/>
          </a:prstGeom>
          <a:noFill/>
        </p:spPr>
        <p:txBody>
          <a:bodyPr wrap="square"/>
          <a:lstStyle/>
          <a:p>
            <a:pPr algn="l"/>
            <a:r>
              <a:rPr sz="1000" b="0" i="0">
                <a:solidFill>
                  <a:srgbClr val="6B7280"/>
                </a:solidFill>
                <a:latin typeface="Calibri"/>
              </a:rPr>
              <a:t>PDF/DOCX/Image</a:t>
            </a:r>
          </a:p>
        </p:txBody>
      </p:sp>
      <p:sp>
        <p:nvSpPr>
          <p:cNvPr id="30" name="TextBox 29"/>
          <p:cNvSpPr txBox="1"/>
          <p:nvPr/>
        </p:nvSpPr>
        <p:spPr>
          <a:xfrm>
            <a:off x="2286000" y="4663440"/>
            <a:ext cx="381000" cy="381000"/>
          </a:xfrm>
          <a:prstGeom prst="rect">
            <a:avLst/>
          </a:prstGeom>
          <a:noFill/>
        </p:spPr>
        <p:txBody>
          <a:bodyPr wrap="square"/>
          <a:lstStyle/>
          <a:p>
            <a:pPr algn="l"/>
            <a:r>
              <a:rPr sz="1800" b="1" i="0">
                <a:solidFill>
                  <a:srgbClr val="E88710"/>
                </a:solidFill>
                <a:latin typeface="Calibri"/>
              </a:rPr>
              <a:t>→</a:t>
            </a:r>
          </a:p>
        </p:txBody>
      </p:sp>
      <p:sp>
        <p:nvSpPr>
          <p:cNvPr id="31" name="Rectangle 30"/>
          <p:cNvSpPr/>
          <p:nvPr/>
        </p:nvSpPr>
        <p:spPr>
          <a:xfrm>
            <a:off x="242316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99360" y="4617720"/>
            <a:ext cx="1737360" cy="279400"/>
          </a:xfrm>
          <a:prstGeom prst="rect">
            <a:avLst/>
          </a:prstGeom>
          <a:noFill/>
        </p:spPr>
        <p:txBody>
          <a:bodyPr wrap="square"/>
          <a:lstStyle/>
          <a:p>
            <a:pPr algn="l"/>
            <a:r>
              <a:rPr sz="1100" b="1" i="0">
                <a:solidFill>
                  <a:srgbClr val="1E5CAA"/>
                </a:solidFill>
                <a:latin typeface="Calibri"/>
              </a:rPr>
              <a:t>2. Extraction</a:t>
            </a:r>
          </a:p>
        </p:txBody>
      </p:sp>
      <p:sp>
        <p:nvSpPr>
          <p:cNvPr id="33" name="TextBox 32"/>
          <p:cNvSpPr txBox="1"/>
          <p:nvPr/>
        </p:nvSpPr>
        <p:spPr>
          <a:xfrm>
            <a:off x="2499360" y="4846320"/>
            <a:ext cx="1737360" cy="279400"/>
          </a:xfrm>
          <a:prstGeom prst="rect">
            <a:avLst/>
          </a:prstGeom>
          <a:noFill/>
        </p:spPr>
        <p:txBody>
          <a:bodyPr wrap="square"/>
          <a:lstStyle/>
          <a:p>
            <a:pPr algn="l"/>
            <a:r>
              <a:rPr sz="1000" b="0" i="0">
                <a:solidFill>
                  <a:srgbClr val="6B7280"/>
                </a:solidFill>
                <a:latin typeface="Calibri"/>
              </a:rPr>
              <a:t>Texte brut</a:t>
            </a:r>
          </a:p>
        </p:txBody>
      </p:sp>
      <p:sp>
        <p:nvSpPr>
          <p:cNvPr id="34" name="TextBox 33"/>
          <p:cNvSpPr txBox="1"/>
          <p:nvPr/>
        </p:nvSpPr>
        <p:spPr>
          <a:xfrm>
            <a:off x="4251960" y="4663440"/>
            <a:ext cx="381000" cy="381000"/>
          </a:xfrm>
          <a:prstGeom prst="rect">
            <a:avLst/>
          </a:prstGeom>
          <a:noFill/>
        </p:spPr>
        <p:txBody>
          <a:bodyPr wrap="square"/>
          <a:lstStyle/>
          <a:p>
            <a:pPr algn="l"/>
            <a:r>
              <a:rPr sz="1800" b="1" i="0">
                <a:solidFill>
                  <a:srgbClr val="E88710"/>
                </a:solidFill>
                <a:latin typeface="Calibri"/>
              </a:rPr>
              <a:t>→</a:t>
            </a:r>
          </a:p>
        </p:txBody>
      </p:sp>
      <p:sp>
        <p:nvSpPr>
          <p:cNvPr id="35" name="Rectangle 34"/>
          <p:cNvSpPr/>
          <p:nvPr/>
        </p:nvSpPr>
        <p:spPr>
          <a:xfrm>
            <a:off x="438912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65320" y="4617720"/>
            <a:ext cx="1737360" cy="279400"/>
          </a:xfrm>
          <a:prstGeom prst="rect">
            <a:avLst/>
          </a:prstGeom>
          <a:noFill/>
        </p:spPr>
        <p:txBody>
          <a:bodyPr wrap="square"/>
          <a:lstStyle/>
          <a:p>
            <a:pPr algn="l"/>
            <a:r>
              <a:rPr sz="1100" b="1" i="0">
                <a:solidFill>
                  <a:srgbClr val="1E5CAA"/>
                </a:solidFill>
                <a:latin typeface="Calibri"/>
              </a:rPr>
              <a:t>3. NLP Parser</a:t>
            </a:r>
          </a:p>
        </p:txBody>
      </p:sp>
      <p:sp>
        <p:nvSpPr>
          <p:cNvPr id="37" name="TextBox 36"/>
          <p:cNvSpPr txBox="1"/>
          <p:nvPr/>
        </p:nvSpPr>
        <p:spPr>
          <a:xfrm>
            <a:off x="4465320" y="4846320"/>
            <a:ext cx="1737360" cy="279400"/>
          </a:xfrm>
          <a:prstGeom prst="rect">
            <a:avLst/>
          </a:prstGeom>
          <a:noFill/>
        </p:spPr>
        <p:txBody>
          <a:bodyPr wrap="square"/>
          <a:lstStyle/>
          <a:p>
            <a:pPr algn="l"/>
            <a:r>
              <a:rPr sz="1000" b="0" i="0">
                <a:solidFill>
                  <a:srgbClr val="6B7280"/>
                </a:solidFill>
                <a:latin typeface="Calibri"/>
              </a:rPr>
              <a:t>Skills, Exp, Formation</a:t>
            </a:r>
          </a:p>
        </p:txBody>
      </p:sp>
      <p:sp>
        <p:nvSpPr>
          <p:cNvPr id="38" name="TextBox 37"/>
          <p:cNvSpPr txBox="1"/>
          <p:nvPr/>
        </p:nvSpPr>
        <p:spPr>
          <a:xfrm>
            <a:off x="6217920" y="4663440"/>
            <a:ext cx="381000" cy="381000"/>
          </a:xfrm>
          <a:prstGeom prst="rect">
            <a:avLst/>
          </a:prstGeom>
          <a:noFill/>
        </p:spPr>
        <p:txBody>
          <a:bodyPr wrap="square"/>
          <a:lstStyle/>
          <a:p>
            <a:pPr algn="l"/>
            <a:r>
              <a:rPr sz="1800" b="1" i="0">
                <a:solidFill>
                  <a:srgbClr val="E88710"/>
                </a:solidFill>
                <a:latin typeface="Calibri"/>
              </a:rPr>
              <a:t>→</a:t>
            </a:r>
          </a:p>
        </p:txBody>
      </p:sp>
      <p:sp>
        <p:nvSpPr>
          <p:cNvPr id="39" name="Rectangle 38"/>
          <p:cNvSpPr/>
          <p:nvPr/>
        </p:nvSpPr>
        <p:spPr>
          <a:xfrm>
            <a:off x="635508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1280" y="4617720"/>
            <a:ext cx="1737360" cy="279400"/>
          </a:xfrm>
          <a:prstGeom prst="rect">
            <a:avLst/>
          </a:prstGeom>
          <a:noFill/>
        </p:spPr>
        <p:txBody>
          <a:bodyPr wrap="square"/>
          <a:lstStyle/>
          <a:p>
            <a:pPr algn="l"/>
            <a:r>
              <a:rPr sz="1100" b="1" i="0">
                <a:solidFill>
                  <a:srgbClr val="1E5CAA"/>
                </a:solidFill>
                <a:latin typeface="Calibri"/>
              </a:rPr>
              <a:t>4. BERT Matching</a:t>
            </a:r>
          </a:p>
        </p:txBody>
      </p:sp>
      <p:sp>
        <p:nvSpPr>
          <p:cNvPr id="41" name="TextBox 40"/>
          <p:cNvSpPr txBox="1"/>
          <p:nvPr/>
        </p:nvSpPr>
        <p:spPr>
          <a:xfrm>
            <a:off x="6431280" y="4846320"/>
            <a:ext cx="1737360" cy="279400"/>
          </a:xfrm>
          <a:prstGeom prst="rect">
            <a:avLst/>
          </a:prstGeom>
          <a:noFill/>
        </p:spPr>
        <p:txBody>
          <a:bodyPr wrap="square"/>
          <a:lstStyle/>
          <a:p>
            <a:pPr algn="l"/>
            <a:r>
              <a:rPr sz="1000" b="0" i="0">
                <a:solidFill>
                  <a:srgbClr val="6B7280"/>
                </a:solidFill>
                <a:latin typeface="Calibri"/>
              </a:rPr>
              <a:t>Similarité sémantique</a:t>
            </a:r>
          </a:p>
        </p:txBody>
      </p:sp>
      <p:sp>
        <p:nvSpPr>
          <p:cNvPr id="42" name="TextBox 41"/>
          <p:cNvSpPr txBox="1"/>
          <p:nvPr/>
        </p:nvSpPr>
        <p:spPr>
          <a:xfrm>
            <a:off x="8183880" y="4663440"/>
            <a:ext cx="381000" cy="381000"/>
          </a:xfrm>
          <a:prstGeom prst="rect">
            <a:avLst/>
          </a:prstGeom>
          <a:noFill/>
        </p:spPr>
        <p:txBody>
          <a:bodyPr wrap="square"/>
          <a:lstStyle/>
          <a:p>
            <a:pPr algn="l"/>
            <a:r>
              <a:rPr sz="1800" b="1" i="0">
                <a:solidFill>
                  <a:srgbClr val="E88710"/>
                </a:solidFill>
                <a:latin typeface="Calibri"/>
              </a:rPr>
              <a:t>→</a:t>
            </a:r>
          </a:p>
        </p:txBody>
      </p:sp>
      <p:sp>
        <p:nvSpPr>
          <p:cNvPr id="43" name="Rectangle 42"/>
          <p:cNvSpPr/>
          <p:nvPr/>
        </p:nvSpPr>
        <p:spPr>
          <a:xfrm>
            <a:off x="832104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97240" y="4617720"/>
            <a:ext cx="1737360" cy="279400"/>
          </a:xfrm>
          <a:prstGeom prst="rect">
            <a:avLst/>
          </a:prstGeom>
          <a:noFill/>
        </p:spPr>
        <p:txBody>
          <a:bodyPr wrap="square"/>
          <a:lstStyle/>
          <a:p>
            <a:pPr algn="l"/>
            <a:r>
              <a:rPr sz="1100" b="1" i="0">
                <a:solidFill>
                  <a:srgbClr val="1E5CAA"/>
                </a:solidFill>
                <a:latin typeface="Calibri"/>
              </a:rPr>
              <a:t>5. Score + Décision</a:t>
            </a:r>
          </a:p>
        </p:txBody>
      </p:sp>
      <p:sp>
        <p:nvSpPr>
          <p:cNvPr id="45" name="TextBox 44"/>
          <p:cNvSpPr txBox="1"/>
          <p:nvPr/>
        </p:nvSpPr>
        <p:spPr>
          <a:xfrm>
            <a:off x="8397240" y="4846320"/>
            <a:ext cx="1737360" cy="279400"/>
          </a:xfrm>
          <a:prstGeom prst="rect">
            <a:avLst/>
          </a:prstGeom>
          <a:noFill/>
        </p:spPr>
        <p:txBody>
          <a:bodyPr wrap="square"/>
          <a:lstStyle/>
          <a:p>
            <a:pPr algn="l"/>
            <a:r>
              <a:rPr sz="1000" b="0" i="0">
                <a:solidFill>
                  <a:srgbClr val="6B7280"/>
                </a:solidFill>
                <a:latin typeface="Calibri"/>
              </a:rPr>
              <a:t>0–100% + label</a:t>
            </a:r>
          </a:p>
        </p:txBody>
      </p:sp>
      <p:sp>
        <p:nvSpPr>
          <p:cNvPr id="46" name="TextBox 45"/>
          <p:cNvSpPr txBox="1"/>
          <p:nvPr/>
        </p:nvSpPr>
        <p:spPr>
          <a:xfrm>
            <a:off x="10149840" y="4663440"/>
            <a:ext cx="381000" cy="381000"/>
          </a:xfrm>
          <a:prstGeom prst="rect">
            <a:avLst/>
          </a:prstGeom>
          <a:noFill/>
        </p:spPr>
        <p:txBody>
          <a:bodyPr wrap="square"/>
          <a:lstStyle/>
          <a:p>
            <a:pPr algn="l"/>
            <a:r>
              <a:rPr sz="1800" b="1" i="0">
                <a:solidFill>
                  <a:srgbClr val="E88710"/>
                </a:solidFill>
                <a:latin typeface="Calibri"/>
              </a:rPr>
              <a:t>→</a:t>
            </a:r>
          </a:p>
        </p:txBody>
      </p:sp>
      <p:sp>
        <p:nvSpPr>
          <p:cNvPr id="47" name="Rectangle 46"/>
          <p:cNvSpPr/>
          <p:nvPr/>
        </p:nvSpPr>
        <p:spPr>
          <a:xfrm>
            <a:off x="1028700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363200" y="4617720"/>
            <a:ext cx="1737360" cy="279400"/>
          </a:xfrm>
          <a:prstGeom prst="rect">
            <a:avLst/>
          </a:prstGeom>
          <a:noFill/>
        </p:spPr>
        <p:txBody>
          <a:bodyPr wrap="square"/>
          <a:lstStyle/>
          <a:p>
            <a:pPr algn="l"/>
            <a:r>
              <a:rPr sz="1100" b="1" i="0">
                <a:solidFill>
                  <a:srgbClr val="1E5CAA"/>
                </a:solidFill>
                <a:latin typeface="Calibri"/>
              </a:rPr>
              <a:t>6. Notification</a:t>
            </a:r>
          </a:p>
        </p:txBody>
      </p:sp>
      <p:sp>
        <p:nvSpPr>
          <p:cNvPr id="49" name="TextBox 48"/>
          <p:cNvSpPr txBox="1"/>
          <p:nvPr/>
        </p:nvSpPr>
        <p:spPr>
          <a:xfrm>
            <a:off x="10363200" y="4846320"/>
            <a:ext cx="1737360" cy="279400"/>
          </a:xfrm>
          <a:prstGeom prst="rect">
            <a:avLst/>
          </a:prstGeom>
          <a:noFill/>
        </p:spPr>
        <p:txBody>
          <a:bodyPr wrap="square"/>
          <a:lstStyle/>
          <a:p>
            <a:pPr algn="l"/>
            <a:r>
              <a:rPr sz="1000" b="0" i="0">
                <a:solidFill>
                  <a:srgbClr val="6B7280"/>
                </a:solidFill>
                <a:latin typeface="Calibri"/>
              </a:rPr>
              <a:t>Email + in-app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Analyse des besoins fonctionnels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6 / 15</a:t>
            </a:r>
          </a:p>
        </p:txBody>
      </p:sp>
      <p:sp>
        <p:nvSpPr>
          <p:cNvPr id="11" name="Rectangle 10"/>
          <p:cNvSpPr/>
          <p:nvPr/>
        </p:nvSpPr>
        <p:spPr>
          <a:xfrm>
            <a:off x="365760" y="1508760"/>
            <a:ext cx="416052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08760"/>
            <a:ext cx="4160520" cy="635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00200"/>
            <a:ext cx="4160520" cy="355600"/>
          </a:xfrm>
          <a:prstGeom prst="rect">
            <a:avLst/>
          </a:prstGeom>
          <a:noFill/>
        </p:spPr>
        <p:txBody>
          <a:bodyPr wrap="square"/>
          <a:lstStyle/>
          <a:p>
            <a:pPr algn="l"/>
            <a:r>
              <a:rPr sz="1400" b="1" i="0">
                <a:solidFill>
                  <a:srgbClr val="1E5CAA"/>
                </a:solidFill>
                <a:latin typeface="Calibri"/>
              </a:rPr>
              <a:t>👤 Candidat</a:t>
            </a:r>
          </a:p>
        </p:txBody>
      </p:sp>
      <p:sp>
        <p:nvSpPr>
          <p:cNvPr id="14" name="TextBox 13"/>
          <p:cNvSpPr txBox="1"/>
          <p:nvPr/>
        </p:nvSpPr>
        <p:spPr>
          <a:xfrm>
            <a:off x="457200" y="1965960"/>
            <a:ext cx="3977640" cy="4023360"/>
          </a:xfrm>
          <a:prstGeom prst="rect">
            <a:avLst/>
          </a:prstGeom>
          <a:noFill/>
        </p:spPr>
        <p:txBody>
          <a:bodyPr wrap="square">
            <a:spAutoFit/>
          </a:bodyPr>
          <a:lstStyle/>
          <a:p>
            <a:pPr algn="l"/>
            <a:r>
              <a:rPr sz="1250">
                <a:solidFill>
                  <a:srgbClr val="1A1A2E"/>
                </a:solidFill>
                <a:latin typeface="Calibri"/>
              </a:rPr>
              <a:t>  ›  S'inscrire par email ou OAuth (Google / LinkedIn)</a:t>
            </a:r>
          </a:p>
          <a:p>
            <a:pPr algn="l"/>
            <a:r>
              <a:rPr sz="1250">
                <a:solidFill>
                  <a:srgbClr val="1A1A2E"/>
                </a:solidFill>
                <a:latin typeface="Calibri"/>
              </a:rPr>
              <a:t>  ›  Uploader son CV (PDF, DOCX, image)</a:t>
            </a:r>
          </a:p>
          <a:p>
            <a:pPr algn="l"/>
            <a:r>
              <a:rPr sz="1250">
                <a:solidFill>
                  <a:srgbClr val="1A1A2E"/>
                </a:solidFill>
                <a:latin typeface="Calibri"/>
              </a:rPr>
              <a:t>  ›  Consulter les offres d'emploi disponibles</a:t>
            </a:r>
          </a:p>
          <a:p>
            <a:pPr algn="l"/>
            <a:r>
              <a:rPr sz="1250">
                <a:solidFill>
                  <a:srgbClr val="1A1A2E"/>
                </a:solidFill>
                <a:latin typeface="Calibri"/>
              </a:rPr>
              <a:t>  ›  Postuler à une offre et suivre son statut</a:t>
            </a:r>
          </a:p>
          <a:p>
            <a:pPr algn="l"/>
            <a:r>
              <a:rPr sz="1250">
                <a:solidFill>
                  <a:srgbClr val="1A1A2E"/>
                </a:solidFill>
                <a:latin typeface="Calibri"/>
              </a:rPr>
              <a:t>  ›  Recevoir une notification (email + in-app)</a:t>
            </a:r>
          </a:p>
        </p:txBody>
      </p:sp>
      <p:sp>
        <p:nvSpPr>
          <p:cNvPr id="15" name="Rectangle 14"/>
          <p:cNvSpPr/>
          <p:nvPr/>
        </p:nvSpPr>
        <p:spPr>
          <a:xfrm>
            <a:off x="4663440" y="1508760"/>
            <a:ext cx="416052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63440" y="1508760"/>
            <a:ext cx="4160520"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1600200"/>
            <a:ext cx="4160520" cy="355600"/>
          </a:xfrm>
          <a:prstGeom prst="rect">
            <a:avLst/>
          </a:prstGeom>
          <a:noFill/>
        </p:spPr>
        <p:txBody>
          <a:bodyPr wrap="square"/>
          <a:lstStyle/>
          <a:p>
            <a:pPr algn="l"/>
            <a:r>
              <a:rPr sz="1400" b="1" i="0">
                <a:solidFill>
                  <a:srgbClr val="E88710"/>
                </a:solidFill>
                <a:latin typeface="Calibri"/>
              </a:rPr>
              <a:t>🧑‍💼 Recruteur</a:t>
            </a:r>
          </a:p>
        </p:txBody>
      </p:sp>
      <p:sp>
        <p:nvSpPr>
          <p:cNvPr id="18" name="TextBox 17"/>
          <p:cNvSpPr txBox="1"/>
          <p:nvPr/>
        </p:nvSpPr>
        <p:spPr>
          <a:xfrm>
            <a:off x="4754880" y="1965960"/>
            <a:ext cx="3977640" cy="4023360"/>
          </a:xfrm>
          <a:prstGeom prst="rect">
            <a:avLst/>
          </a:prstGeom>
          <a:noFill/>
        </p:spPr>
        <p:txBody>
          <a:bodyPr wrap="square">
            <a:spAutoFit/>
          </a:bodyPr>
          <a:lstStyle/>
          <a:p>
            <a:pPr algn="l"/>
            <a:r>
              <a:rPr sz="1250">
                <a:solidFill>
                  <a:srgbClr val="1A1A2E"/>
                </a:solidFill>
                <a:latin typeface="Calibri"/>
              </a:rPr>
              <a:t>  ›  Créer, modifier et supprimer des offres</a:t>
            </a:r>
          </a:p>
          <a:p>
            <a:pPr algn="l"/>
            <a:r>
              <a:rPr sz="1250">
                <a:solidFill>
                  <a:srgbClr val="1A1A2E"/>
                </a:solidFill>
                <a:latin typeface="Calibri"/>
              </a:rPr>
              <a:t>  ›  Lancer le matching IA pour une offre</a:t>
            </a:r>
          </a:p>
          <a:p>
            <a:pPr algn="l"/>
            <a:r>
              <a:rPr sz="1250">
                <a:solidFill>
                  <a:srgbClr val="1A1A2E"/>
                </a:solidFill>
                <a:latin typeface="Calibri"/>
              </a:rPr>
              <a:t>  ›  Voir les candidats classés par score</a:t>
            </a:r>
          </a:p>
          <a:p>
            <a:pPr algn="l"/>
            <a:r>
              <a:rPr sz="1250">
                <a:solidFill>
                  <a:srgbClr val="1A1A2E"/>
                </a:solidFill>
                <a:latin typeface="Calibri"/>
              </a:rPr>
              <a:t>  ›  Changer le statut d'une candidature</a:t>
            </a:r>
          </a:p>
          <a:p>
            <a:pPr algn="l"/>
            <a:r>
              <a:rPr sz="1250">
                <a:solidFill>
                  <a:srgbClr val="1A1A2E"/>
                </a:solidFill>
                <a:latin typeface="Calibri"/>
              </a:rPr>
              <a:t>  ›  Recevoir une alerte à chaque nouveau CV</a:t>
            </a:r>
          </a:p>
        </p:txBody>
      </p:sp>
      <p:sp>
        <p:nvSpPr>
          <p:cNvPr id="19" name="Rectangle 18"/>
          <p:cNvSpPr/>
          <p:nvPr/>
        </p:nvSpPr>
        <p:spPr>
          <a:xfrm>
            <a:off x="8961120" y="1508760"/>
            <a:ext cx="292608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61120" y="1508760"/>
            <a:ext cx="2926080" cy="635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1600200"/>
            <a:ext cx="2926080" cy="355600"/>
          </a:xfrm>
          <a:prstGeom prst="rect">
            <a:avLst/>
          </a:prstGeom>
          <a:noFill/>
        </p:spPr>
        <p:txBody>
          <a:bodyPr wrap="square"/>
          <a:lstStyle/>
          <a:p>
            <a:pPr algn="l"/>
            <a:r>
              <a:rPr sz="1400" b="1" i="0">
                <a:solidFill>
                  <a:srgbClr val="0D1B3E"/>
                </a:solidFill>
                <a:latin typeface="Calibri"/>
              </a:rPr>
              <a:t>⚙️  Admin</a:t>
            </a:r>
          </a:p>
        </p:txBody>
      </p:sp>
      <p:sp>
        <p:nvSpPr>
          <p:cNvPr id="22" name="TextBox 21"/>
          <p:cNvSpPr txBox="1"/>
          <p:nvPr/>
        </p:nvSpPr>
        <p:spPr>
          <a:xfrm>
            <a:off x="9052560" y="1965960"/>
            <a:ext cx="2743200" cy="4023360"/>
          </a:xfrm>
          <a:prstGeom prst="rect">
            <a:avLst/>
          </a:prstGeom>
          <a:noFill/>
        </p:spPr>
        <p:txBody>
          <a:bodyPr wrap="square">
            <a:spAutoFit/>
          </a:bodyPr>
          <a:lstStyle/>
          <a:p>
            <a:pPr algn="l"/>
            <a:r>
              <a:rPr sz="1250">
                <a:solidFill>
                  <a:srgbClr val="1A1A2E"/>
                </a:solidFill>
                <a:latin typeface="Calibri"/>
              </a:rPr>
              <a:t>  ›  Gérer tous les utilisateurs</a:t>
            </a:r>
          </a:p>
          <a:p>
            <a:pPr algn="l"/>
            <a:r>
              <a:rPr sz="1250">
                <a:solidFill>
                  <a:srgbClr val="1A1A2E"/>
                </a:solidFill>
                <a:latin typeface="Calibri"/>
              </a:rPr>
              <a:t>  ›  Créer des comptes recruteurs</a:t>
            </a:r>
          </a:p>
          <a:p>
            <a:pPr algn="l"/>
            <a:r>
              <a:rPr sz="1250">
                <a:solidFill>
                  <a:srgbClr val="1A1A2E"/>
                </a:solidFill>
                <a:latin typeface="Calibri"/>
              </a:rPr>
              <a:t>  ›  Consulter les logs RGPD</a:t>
            </a:r>
          </a:p>
          <a:p>
            <a:pPr algn="l"/>
            <a:r>
              <a:rPr sz="1250">
                <a:solidFill>
                  <a:srgbClr val="1A1A2E"/>
                </a:solidFill>
                <a:latin typeface="Calibri"/>
              </a:rPr>
              <a:t>  ›  Accéder au dashboard global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Analyse des besoins non fonctionnels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7 / 15</a:t>
            </a:r>
          </a:p>
        </p:txBody>
      </p:sp>
      <p:sp>
        <p:nvSpPr>
          <p:cNvPr id="11" name="Rectangle 10"/>
          <p:cNvSpPr/>
          <p:nvPr/>
        </p:nvSpPr>
        <p:spPr>
          <a:xfrm>
            <a:off x="36576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54480"/>
            <a:ext cx="76200" cy="21488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81480"/>
            <a:ext cx="3474720" cy="355600"/>
          </a:xfrm>
          <a:prstGeom prst="rect">
            <a:avLst/>
          </a:prstGeom>
          <a:noFill/>
        </p:spPr>
        <p:txBody>
          <a:bodyPr wrap="square"/>
          <a:lstStyle/>
          <a:p>
            <a:pPr algn="l"/>
            <a:r>
              <a:rPr sz="1300" b="1" i="0">
                <a:solidFill>
                  <a:srgbClr val="1E5CAA"/>
                </a:solidFill>
                <a:latin typeface="Calibri"/>
              </a:rPr>
              <a:t>🔐 Sécurité</a:t>
            </a:r>
          </a:p>
        </p:txBody>
      </p:sp>
      <p:sp>
        <p:nvSpPr>
          <p:cNvPr id="14" name="TextBox 13"/>
          <p:cNvSpPr txBox="1"/>
          <p:nvPr/>
        </p:nvSpPr>
        <p:spPr>
          <a:xfrm>
            <a:off x="548640" y="2062480"/>
            <a:ext cx="3474720" cy="1564640"/>
          </a:xfrm>
          <a:prstGeom prst="rect">
            <a:avLst/>
          </a:prstGeom>
          <a:noFill/>
        </p:spPr>
        <p:txBody>
          <a:bodyPr wrap="square">
            <a:spAutoFit/>
          </a:bodyPr>
          <a:lstStyle/>
          <a:p>
            <a:pPr algn="l"/>
            <a:r>
              <a:rPr sz="1200">
                <a:solidFill>
                  <a:srgbClr val="1A1A2E"/>
                </a:solidFill>
                <a:latin typeface="Calibri"/>
              </a:rPr>
              <a:t>  ›  JWT + refresh token</a:t>
            </a:r>
          </a:p>
          <a:p>
            <a:pPr algn="l"/>
            <a:r>
              <a:rPr sz="1200">
                <a:solidFill>
                  <a:srgbClr val="1A1A2E"/>
                </a:solidFill>
                <a:latin typeface="Calibri"/>
              </a:rPr>
              <a:t>  ›  OAuth Google &amp; LinkedIn</a:t>
            </a:r>
          </a:p>
          <a:p>
            <a:pPr algn="l"/>
            <a:r>
              <a:rPr sz="1200">
                <a:solidFill>
                  <a:srgbClr val="1A1A2E"/>
                </a:solidFill>
                <a:latin typeface="Calibri"/>
              </a:rPr>
              <a:t>  ›  Hashage bcrypt des mots de passe</a:t>
            </a:r>
          </a:p>
          <a:p>
            <a:pPr algn="l"/>
            <a:r>
              <a:rPr sz="1200">
                <a:solidFill>
                  <a:srgbClr val="1A1A2E"/>
                </a:solidFill>
                <a:latin typeface="Calibri"/>
              </a:rPr>
              <a:t>  ›  HTTPS en production</a:t>
            </a:r>
          </a:p>
        </p:txBody>
      </p:sp>
      <p:sp>
        <p:nvSpPr>
          <p:cNvPr id="15" name="Rectangle 14"/>
          <p:cNvSpPr/>
          <p:nvPr/>
        </p:nvSpPr>
        <p:spPr>
          <a:xfrm>
            <a:off x="429768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1681480"/>
            <a:ext cx="3474720" cy="355600"/>
          </a:xfrm>
          <a:prstGeom prst="rect">
            <a:avLst/>
          </a:prstGeom>
          <a:noFill/>
        </p:spPr>
        <p:txBody>
          <a:bodyPr wrap="square"/>
          <a:lstStyle/>
          <a:p>
            <a:pPr algn="l"/>
            <a:r>
              <a:rPr sz="1300" b="1" i="0">
                <a:solidFill>
                  <a:srgbClr val="10B981"/>
                </a:solidFill>
                <a:latin typeface="Calibri"/>
              </a:rPr>
              <a:t>⚡ Performance</a:t>
            </a:r>
          </a:p>
        </p:txBody>
      </p:sp>
      <p:sp>
        <p:nvSpPr>
          <p:cNvPr id="18" name="TextBox 17"/>
          <p:cNvSpPr txBox="1"/>
          <p:nvPr/>
        </p:nvSpPr>
        <p:spPr>
          <a:xfrm>
            <a:off x="4480560" y="2062480"/>
            <a:ext cx="3474720" cy="1564640"/>
          </a:xfrm>
          <a:prstGeom prst="rect">
            <a:avLst/>
          </a:prstGeom>
          <a:noFill/>
        </p:spPr>
        <p:txBody>
          <a:bodyPr wrap="square">
            <a:spAutoFit/>
          </a:bodyPr>
          <a:lstStyle/>
          <a:p>
            <a:pPr algn="l"/>
            <a:r>
              <a:rPr sz="1200">
                <a:solidFill>
                  <a:srgbClr val="1A1A2E"/>
                </a:solidFill>
                <a:latin typeface="Calibri"/>
              </a:rPr>
              <a:t>  ›  BERT chargé au démarrage (cold start évité)</a:t>
            </a:r>
          </a:p>
          <a:p>
            <a:pPr algn="l"/>
            <a:r>
              <a:rPr sz="1200">
                <a:solidFill>
                  <a:srgbClr val="1A1A2E"/>
                </a:solidFill>
                <a:latin typeface="Calibri"/>
              </a:rPr>
              <a:t>  ›  Réponse matching &lt; 2 sec par candidat</a:t>
            </a:r>
          </a:p>
          <a:p>
            <a:pPr algn="l"/>
            <a:r>
              <a:rPr sz="1200">
                <a:solidFill>
                  <a:srgbClr val="1A1A2E"/>
                </a:solidFill>
                <a:latin typeface="Calibri"/>
              </a:rPr>
              <a:t>  ›  PostgreSQL + index sur clés étrangères</a:t>
            </a:r>
          </a:p>
        </p:txBody>
      </p:sp>
      <p:sp>
        <p:nvSpPr>
          <p:cNvPr id="19" name="Rectangle 18"/>
          <p:cNvSpPr/>
          <p:nvPr/>
        </p:nvSpPr>
        <p:spPr>
          <a:xfrm>
            <a:off x="822960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554480"/>
            <a:ext cx="76200" cy="214884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1681480"/>
            <a:ext cx="3474720" cy="355600"/>
          </a:xfrm>
          <a:prstGeom prst="rect">
            <a:avLst/>
          </a:prstGeom>
          <a:noFill/>
        </p:spPr>
        <p:txBody>
          <a:bodyPr wrap="square"/>
          <a:lstStyle/>
          <a:p>
            <a:pPr algn="l"/>
            <a:r>
              <a:rPr sz="1300" b="1" i="0">
                <a:solidFill>
                  <a:srgbClr val="E88710"/>
                </a:solidFill>
                <a:latin typeface="Calibri"/>
              </a:rPr>
              <a:t>📋 RGPD</a:t>
            </a:r>
          </a:p>
        </p:txBody>
      </p:sp>
      <p:sp>
        <p:nvSpPr>
          <p:cNvPr id="22" name="TextBox 21"/>
          <p:cNvSpPr txBox="1"/>
          <p:nvPr/>
        </p:nvSpPr>
        <p:spPr>
          <a:xfrm>
            <a:off x="8412480" y="2062480"/>
            <a:ext cx="3474720" cy="1564640"/>
          </a:xfrm>
          <a:prstGeom prst="rect">
            <a:avLst/>
          </a:prstGeom>
          <a:noFill/>
        </p:spPr>
        <p:txBody>
          <a:bodyPr wrap="square">
            <a:spAutoFit/>
          </a:bodyPr>
          <a:lstStyle/>
          <a:p>
            <a:pPr algn="l"/>
            <a:r>
              <a:rPr sz="1200">
                <a:solidFill>
                  <a:srgbClr val="1A1A2E"/>
                </a:solidFill>
                <a:latin typeface="Calibri"/>
              </a:rPr>
              <a:t>  ›  Logs d'accès traçables (user, action, date)</a:t>
            </a:r>
          </a:p>
          <a:p>
            <a:pPr algn="l"/>
            <a:r>
              <a:rPr sz="1200">
                <a:solidFill>
                  <a:srgbClr val="1A1A2E"/>
                </a:solidFill>
                <a:latin typeface="Calibri"/>
              </a:rPr>
              <a:t>  ›  Suppression de CV sur demande</a:t>
            </a:r>
          </a:p>
          <a:p>
            <a:pPr algn="l"/>
            <a:r>
              <a:rPr sz="1200">
                <a:solidFill>
                  <a:srgbClr val="1A1A2E"/>
                </a:solidFill>
                <a:latin typeface="Calibri"/>
              </a:rPr>
              <a:t>  ›  Données localisées (Tunisie)</a:t>
            </a:r>
          </a:p>
        </p:txBody>
      </p:sp>
      <p:sp>
        <p:nvSpPr>
          <p:cNvPr id="23" name="Rectangle 22"/>
          <p:cNvSpPr/>
          <p:nvPr/>
        </p:nvSpPr>
        <p:spPr>
          <a:xfrm>
            <a:off x="36576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886200"/>
            <a:ext cx="7620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013200"/>
            <a:ext cx="3474720" cy="355600"/>
          </a:xfrm>
          <a:prstGeom prst="rect">
            <a:avLst/>
          </a:prstGeom>
          <a:noFill/>
        </p:spPr>
        <p:txBody>
          <a:bodyPr wrap="square"/>
          <a:lstStyle/>
          <a:p>
            <a:pPr algn="l"/>
            <a:r>
              <a:rPr sz="1300" b="1" i="0">
                <a:solidFill>
                  <a:srgbClr val="0D1B3E"/>
                </a:solidFill>
                <a:latin typeface="Calibri"/>
              </a:rPr>
              <a:t>🔧 Maintenabilité</a:t>
            </a:r>
          </a:p>
        </p:txBody>
      </p:sp>
      <p:sp>
        <p:nvSpPr>
          <p:cNvPr id="26" name="TextBox 25"/>
          <p:cNvSpPr txBox="1"/>
          <p:nvPr/>
        </p:nvSpPr>
        <p:spPr>
          <a:xfrm>
            <a:off x="548640" y="4394200"/>
            <a:ext cx="3474720" cy="1564640"/>
          </a:xfrm>
          <a:prstGeom prst="rect">
            <a:avLst/>
          </a:prstGeom>
          <a:noFill/>
        </p:spPr>
        <p:txBody>
          <a:bodyPr wrap="square">
            <a:spAutoFit/>
          </a:bodyPr>
          <a:lstStyle/>
          <a:p>
            <a:pPr algn="l"/>
            <a:r>
              <a:rPr sz="1200">
                <a:solidFill>
                  <a:srgbClr val="1A1A2E"/>
                </a:solidFill>
                <a:latin typeface="Calibri"/>
              </a:rPr>
              <a:t>  ›  Architecture modulaire (services séparés)</a:t>
            </a:r>
          </a:p>
          <a:p>
            <a:pPr algn="l"/>
            <a:r>
              <a:rPr sz="1200">
                <a:solidFill>
                  <a:srgbClr val="1A1A2E"/>
                </a:solidFill>
                <a:latin typeface="Calibri"/>
              </a:rPr>
              <a:t>  ›  Moteurs IA interchangeables (heuristique / BERT)</a:t>
            </a:r>
          </a:p>
          <a:p>
            <a:pPr algn="l"/>
            <a:r>
              <a:rPr sz="1200">
                <a:solidFill>
                  <a:srgbClr val="1A1A2E"/>
                </a:solidFill>
                <a:latin typeface="Calibri"/>
              </a:rPr>
              <a:t>  ›  API REST documentée (Swagger /docs)</a:t>
            </a:r>
          </a:p>
        </p:txBody>
      </p:sp>
      <p:sp>
        <p:nvSpPr>
          <p:cNvPr id="27" name="Rectangle 26"/>
          <p:cNvSpPr/>
          <p:nvPr/>
        </p:nvSpPr>
        <p:spPr>
          <a:xfrm>
            <a:off x="429768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3886200"/>
            <a:ext cx="76200" cy="21488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4013200"/>
            <a:ext cx="3474720" cy="355600"/>
          </a:xfrm>
          <a:prstGeom prst="rect">
            <a:avLst/>
          </a:prstGeom>
          <a:noFill/>
        </p:spPr>
        <p:txBody>
          <a:bodyPr wrap="square"/>
          <a:lstStyle/>
          <a:p>
            <a:pPr algn="l"/>
            <a:r>
              <a:rPr sz="1300" b="1" i="0">
                <a:solidFill>
                  <a:srgbClr val="7C3AED"/>
                </a:solidFill>
                <a:latin typeface="Calibri"/>
              </a:rPr>
              <a:t>📱 Utilisabilité</a:t>
            </a:r>
          </a:p>
        </p:txBody>
      </p:sp>
      <p:sp>
        <p:nvSpPr>
          <p:cNvPr id="30" name="TextBox 29"/>
          <p:cNvSpPr txBox="1"/>
          <p:nvPr/>
        </p:nvSpPr>
        <p:spPr>
          <a:xfrm>
            <a:off x="4480560" y="4394200"/>
            <a:ext cx="3474720" cy="1564640"/>
          </a:xfrm>
          <a:prstGeom prst="rect">
            <a:avLst/>
          </a:prstGeom>
          <a:noFill/>
        </p:spPr>
        <p:txBody>
          <a:bodyPr wrap="square">
            <a:spAutoFit/>
          </a:bodyPr>
          <a:lstStyle/>
          <a:p>
            <a:pPr algn="l"/>
            <a:r>
              <a:rPr sz="1200">
                <a:solidFill>
                  <a:srgbClr val="1A1A2E"/>
                </a:solidFill>
                <a:latin typeface="Calibri"/>
              </a:rPr>
              <a:t>  ›  Interface responsive (mobile + desktop)</a:t>
            </a:r>
          </a:p>
          <a:p>
            <a:pPr algn="l"/>
            <a:r>
              <a:rPr sz="1200">
                <a:solidFill>
                  <a:srgbClr val="1A1A2E"/>
                </a:solidFill>
                <a:latin typeface="Calibri"/>
              </a:rPr>
              <a:t>  ›  Feedback temps réel (notifications cloche)</a:t>
            </a:r>
          </a:p>
          <a:p>
            <a:pPr algn="l"/>
            <a:r>
              <a:rPr sz="1200">
                <a:solidFill>
                  <a:srgbClr val="1A1A2E"/>
                </a:solidFill>
                <a:latin typeface="Calibri"/>
              </a:rPr>
              <a:t>  ›  Messages d'erreur explicites</a:t>
            </a:r>
          </a:p>
        </p:txBody>
      </p:sp>
      <p:sp>
        <p:nvSpPr>
          <p:cNvPr id="31" name="Rectangle 30"/>
          <p:cNvSpPr/>
          <p:nvPr/>
        </p:nvSpPr>
        <p:spPr>
          <a:xfrm>
            <a:off x="822960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0" y="3886200"/>
            <a:ext cx="76200" cy="2148840"/>
          </a:xfrm>
          <a:prstGeom prst="rect">
            <a:avLst/>
          </a:prstGeom>
          <a:solidFill>
            <a:srgbClr val="0695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4013200"/>
            <a:ext cx="3474720" cy="355600"/>
          </a:xfrm>
          <a:prstGeom prst="rect">
            <a:avLst/>
          </a:prstGeom>
          <a:noFill/>
        </p:spPr>
        <p:txBody>
          <a:bodyPr wrap="square"/>
          <a:lstStyle/>
          <a:p>
            <a:pPr algn="l"/>
            <a:r>
              <a:rPr sz="1300" b="1" i="0">
                <a:solidFill>
                  <a:srgbClr val="06956E"/>
                </a:solidFill>
                <a:latin typeface="Calibri"/>
              </a:rPr>
              <a:t>🚀 Extensibilité</a:t>
            </a:r>
          </a:p>
        </p:txBody>
      </p:sp>
      <p:sp>
        <p:nvSpPr>
          <p:cNvPr id="34" name="TextBox 33"/>
          <p:cNvSpPr txBox="1"/>
          <p:nvPr/>
        </p:nvSpPr>
        <p:spPr>
          <a:xfrm>
            <a:off x="8412480" y="4394200"/>
            <a:ext cx="3474720" cy="1564640"/>
          </a:xfrm>
          <a:prstGeom prst="rect">
            <a:avLst/>
          </a:prstGeom>
          <a:noFill/>
        </p:spPr>
        <p:txBody>
          <a:bodyPr wrap="square">
            <a:spAutoFit/>
          </a:bodyPr>
          <a:lstStyle/>
          <a:p>
            <a:pPr algn="l"/>
            <a:r>
              <a:rPr sz="1200">
                <a:solidFill>
                  <a:srgbClr val="1A1A2E"/>
                </a:solidFill>
                <a:latin typeface="Calibri"/>
              </a:rPr>
              <a:t>  ›  Nouveaux moteurs IA en 1 fichier</a:t>
            </a:r>
          </a:p>
          <a:p>
            <a:pPr algn="l"/>
            <a:r>
              <a:rPr sz="1200">
                <a:solidFill>
                  <a:srgbClr val="1A1A2E"/>
                </a:solidFill>
                <a:latin typeface="Calibri"/>
              </a:rPr>
              <a:t>  ›  Nouveaux rôles sans refonte</a:t>
            </a:r>
          </a:p>
          <a:p>
            <a:pPr algn="l"/>
            <a:r>
              <a:rPr sz="1200">
                <a:solidFill>
                  <a:srgbClr val="1A1A2E"/>
                </a:solidFill>
                <a:latin typeface="Calibri"/>
              </a:rPr>
              <a:t>  ›  API versionnée (/api/v1/...)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Architecture technique</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Stack 3 tiers : React → FastAPI → PostgreSQL</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8 / 15</a:t>
            </a:r>
          </a:p>
        </p:txBody>
      </p:sp>
      <p:sp>
        <p:nvSpPr>
          <p:cNvPr id="12" name="Rectangle 11"/>
          <p:cNvSpPr/>
          <p:nvPr/>
        </p:nvSpPr>
        <p:spPr>
          <a:xfrm>
            <a:off x="365760" y="1554480"/>
            <a:ext cx="27432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554480"/>
            <a:ext cx="2743200" cy="635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554480"/>
            <a:ext cx="2743200" cy="8229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360" y="1581912"/>
            <a:ext cx="2560320" cy="330200"/>
          </a:xfrm>
          <a:prstGeom prst="rect">
            <a:avLst/>
          </a:prstGeom>
          <a:noFill/>
        </p:spPr>
        <p:txBody>
          <a:bodyPr wrap="square"/>
          <a:lstStyle/>
          <a:p>
            <a:pPr algn="l"/>
            <a:r>
              <a:rPr sz="1300" b="1" i="0">
                <a:solidFill>
                  <a:srgbClr val="FFFFFF"/>
                </a:solidFill>
                <a:latin typeface="Calibri"/>
              </a:rPr>
              <a:t>🖥️  Frontend</a:t>
            </a:r>
          </a:p>
        </p:txBody>
      </p:sp>
      <p:sp>
        <p:nvSpPr>
          <p:cNvPr id="16" name="TextBox 15"/>
          <p:cNvSpPr txBox="1"/>
          <p:nvPr/>
        </p:nvSpPr>
        <p:spPr>
          <a:xfrm>
            <a:off x="467360" y="1847088"/>
            <a:ext cx="2560320" cy="279400"/>
          </a:xfrm>
          <a:prstGeom prst="rect">
            <a:avLst/>
          </a:prstGeom>
          <a:noFill/>
        </p:spPr>
        <p:txBody>
          <a:bodyPr wrap="square"/>
          <a:lstStyle/>
          <a:p>
            <a:pPr algn="l"/>
            <a:r>
              <a:rPr sz="1100" b="0" i="0">
                <a:solidFill>
                  <a:srgbClr val="DDEEFF"/>
                </a:solidFill>
                <a:latin typeface="Calibri"/>
              </a:rPr>
              <a:t>React + Vite</a:t>
            </a:r>
          </a:p>
        </p:txBody>
      </p:sp>
      <p:sp>
        <p:nvSpPr>
          <p:cNvPr id="17" name="TextBox 16"/>
          <p:cNvSpPr txBox="1"/>
          <p:nvPr/>
        </p:nvSpPr>
        <p:spPr>
          <a:xfrm>
            <a:off x="467360" y="2423160"/>
            <a:ext cx="2560320" cy="3383280"/>
          </a:xfrm>
          <a:prstGeom prst="rect">
            <a:avLst/>
          </a:prstGeom>
          <a:noFill/>
        </p:spPr>
        <p:txBody>
          <a:bodyPr wrap="square">
            <a:spAutoFit/>
          </a:bodyPr>
          <a:lstStyle/>
          <a:p>
            <a:pPr algn="l"/>
            <a:r>
              <a:rPr sz="1250">
                <a:solidFill>
                  <a:srgbClr val="1A1A2E"/>
                </a:solidFill>
                <a:latin typeface="Calibri"/>
              </a:rPr>
              <a:t>• Composants JSX</a:t>
            </a:r>
          </a:p>
          <a:p>
            <a:pPr algn="l"/>
            <a:r>
              <a:rPr sz="1250">
                <a:solidFill>
                  <a:srgbClr val="1A1A2E"/>
                </a:solidFill>
                <a:latin typeface="Calibri"/>
              </a:rPr>
              <a:t>• React Router v6</a:t>
            </a:r>
          </a:p>
          <a:p>
            <a:pPr algn="l"/>
            <a:r>
              <a:rPr sz="1250">
                <a:solidFill>
                  <a:srgbClr val="1A1A2E"/>
                </a:solidFill>
                <a:latin typeface="Calibri"/>
              </a:rPr>
              <a:t>• AuthContext (JWT)</a:t>
            </a:r>
          </a:p>
          <a:p>
            <a:pPr algn="l"/>
            <a:r>
              <a:rPr sz="1250">
                <a:solidFill>
                  <a:srgbClr val="1A1A2E"/>
                </a:solidFill>
                <a:latin typeface="Calibri"/>
              </a:rPr>
              <a:t>• Axios (REST calls)</a:t>
            </a:r>
          </a:p>
        </p:txBody>
      </p:sp>
      <p:sp>
        <p:nvSpPr>
          <p:cNvPr id="18" name="Rectangle 17"/>
          <p:cNvSpPr/>
          <p:nvPr/>
        </p:nvSpPr>
        <p:spPr>
          <a:xfrm>
            <a:off x="3291840" y="1554480"/>
            <a:ext cx="27432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91840" y="1554480"/>
            <a:ext cx="2743200"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91840" y="1554480"/>
            <a:ext cx="2743200" cy="8229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93440" y="1581912"/>
            <a:ext cx="2560320" cy="330200"/>
          </a:xfrm>
          <a:prstGeom prst="rect">
            <a:avLst/>
          </a:prstGeom>
          <a:noFill/>
        </p:spPr>
        <p:txBody>
          <a:bodyPr wrap="square"/>
          <a:lstStyle/>
          <a:p>
            <a:pPr algn="l"/>
            <a:r>
              <a:rPr sz="1300" b="1" i="0">
                <a:solidFill>
                  <a:srgbClr val="FFFFFF"/>
                </a:solidFill>
                <a:latin typeface="Calibri"/>
              </a:rPr>
              <a:t>⚙️  Backend</a:t>
            </a:r>
          </a:p>
        </p:txBody>
      </p:sp>
      <p:sp>
        <p:nvSpPr>
          <p:cNvPr id="22" name="TextBox 21"/>
          <p:cNvSpPr txBox="1"/>
          <p:nvPr/>
        </p:nvSpPr>
        <p:spPr>
          <a:xfrm>
            <a:off x="3393440" y="1847088"/>
            <a:ext cx="2560320" cy="279400"/>
          </a:xfrm>
          <a:prstGeom prst="rect">
            <a:avLst/>
          </a:prstGeom>
          <a:noFill/>
        </p:spPr>
        <p:txBody>
          <a:bodyPr wrap="square"/>
          <a:lstStyle/>
          <a:p>
            <a:pPr algn="l"/>
            <a:r>
              <a:rPr sz="1100" b="0" i="0">
                <a:solidFill>
                  <a:srgbClr val="DDEEFF"/>
                </a:solidFill>
                <a:latin typeface="Calibri"/>
              </a:rPr>
              <a:t>FastAPI (Python)</a:t>
            </a:r>
          </a:p>
        </p:txBody>
      </p:sp>
      <p:sp>
        <p:nvSpPr>
          <p:cNvPr id="23" name="TextBox 22"/>
          <p:cNvSpPr txBox="1"/>
          <p:nvPr/>
        </p:nvSpPr>
        <p:spPr>
          <a:xfrm>
            <a:off x="3393440" y="2423160"/>
            <a:ext cx="2560320" cy="3383280"/>
          </a:xfrm>
          <a:prstGeom prst="rect">
            <a:avLst/>
          </a:prstGeom>
          <a:noFill/>
        </p:spPr>
        <p:txBody>
          <a:bodyPr wrap="square">
            <a:spAutoFit/>
          </a:bodyPr>
          <a:lstStyle/>
          <a:p>
            <a:pPr algn="l"/>
            <a:r>
              <a:rPr sz="1250">
                <a:solidFill>
                  <a:srgbClr val="1A1A2E"/>
                </a:solidFill>
                <a:latin typeface="Calibri"/>
              </a:rPr>
              <a:t>• API REST (8 modules)</a:t>
            </a:r>
          </a:p>
          <a:p>
            <a:pPr algn="l"/>
            <a:r>
              <a:rPr sz="1250">
                <a:solidFill>
                  <a:srgbClr val="1A1A2E"/>
                </a:solidFill>
                <a:latin typeface="Calibri"/>
              </a:rPr>
              <a:t>• SQLAlchemy ORM</a:t>
            </a:r>
          </a:p>
          <a:p>
            <a:pPr algn="l"/>
            <a:r>
              <a:rPr sz="1250">
                <a:solidFill>
                  <a:srgbClr val="1A1A2E"/>
                </a:solidFill>
                <a:latin typeface="Calibri"/>
              </a:rPr>
              <a:t>• JWT / OAuth</a:t>
            </a:r>
          </a:p>
          <a:p>
            <a:pPr algn="l"/>
            <a:r>
              <a:rPr sz="1250">
                <a:solidFill>
                  <a:srgbClr val="1A1A2E"/>
                </a:solidFill>
                <a:latin typeface="Calibri"/>
              </a:rPr>
              <a:t>• Pipeline NLP + BERT</a:t>
            </a:r>
          </a:p>
        </p:txBody>
      </p:sp>
      <p:sp>
        <p:nvSpPr>
          <p:cNvPr id="24" name="Rectangle 23"/>
          <p:cNvSpPr/>
          <p:nvPr/>
        </p:nvSpPr>
        <p:spPr>
          <a:xfrm>
            <a:off x="6217920" y="1554480"/>
            <a:ext cx="27432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1554480"/>
            <a:ext cx="2743200" cy="635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1554480"/>
            <a:ext cx="2743200" cy="8229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19520" y="1581912"/>
            <a:ext cx="2560320" cy="330200"/>
          </a:xfrm>
          <a:prstGeom prst="rect">
            <a:avLst/>
          </a:prstGeom>
          <a:noFill/>
        </p:spPr>
        <p:txBody>
          <a:bodyPr wrap="square"/>
          <a:lstStyle/>
          <a:p>
            <a:pPr algn="l"/>
            <a:r>
              <a:rPr sz="1300" b="1" i="0">
                <a:solidFill>
                  <a:srgbClr val="FFFFFF"/>
                </a:solidFill>
                <a:latin typeface="Calibri"/>
              </a:rPr>
              <a:t>🗄️  Base de données</a:t>
            </a:r>
          </a:p>
        </p:txBody>
      </p:sp>
      <p:sp>
        <p:nvSpPr>
          <p:cNvPr id="28" name="TextBox 27"/>
          <p:cNvSpPr txBox="1"/>
          <p:nvPr/>
        </p:nvSpPr>
        <p:spPr>
          <a:xfrm>
            <a:off x="6319520" y="1847088"/>
            <a:ext cx="2560320" cy="279400"/>
          </a:xfrm>
          <a:prstGeom prst="rect">
            <a:avLst/>
          </a:prstGeom>
          <a:noFill/>
        </p:spPr>
        <p:txBody>
          <a:bodyPr wrap="square"/>
          <a:lstStyle/>
          <a:p>
            <a:pPr algn="l"/>
            <a:r>
              <a:rPr sz="1100" b="0" i="0">
                <a:solidFill>
                  <a:srgbClr val="DDEEFF"/>
                </a:solidFill>
                <a:latin typeface="Calibri"/>
              </a:rPr>
              <a:t>PostgreSQL + Alembic</a:t>
            </a:r>
          </a:p>
        </p:txBody>
      </p:sp>
      <p:sp>
        <p:nvSpPr>
          <p:cNvPr id="29" name="TextBox 28"/>
          <p:cNvSpPr txBox="1"/>
          <p:nvPr/>
        </p:nvSpPr>
        <p:spPr>
          <a:xfrm>
            <a:off x="6319520" y="2423160"/>
            <a:ext cx="2560320" cy="3383280"/>
          </a:xfrm>
          <a:prstGeom prst="rect">
            <a:avLst/>
          </a:prstGeom>
          <a:noFill/>
        </p:spPr>
        <p:txBody>
          <a:bodyPr wrap="square">
            <a:spAutoFit/>
          </a:bodyPr>
          <a:lstStyle/>
          <a:p>
            <a:pPr algn="l"/>
            <a:r>
              <a:rPr sz="1250">
                <a:solidFill>
                  <a:srgbClr val="1A1A2E"/>
                </a:solidFill>
                <a:latin typeface="Calibri"/>
              </a:rPr>
              <a:t>• Users, CVs, JobOffers</a:t>
            </a:r>
          </a:p>
          <a:p>
            <a:pPr algn="l"/>
            <a:r>
              <a:rPr sz="1250">
                <a:solidFill>
                  <a:srgbClr val="1A1A2E"/>
                </a:solidFill>
                <a:latin typeface="Calibri"/>
              </a:rPr>
              <a:t>• Candidates, Matches</a:t>
            </a:r>
          </a:p>
          <a:p>
            <a:pPr algn="l"/>
            <a:r>
              <a:rPr sz="1250">
                <a:solidFill>
                  <a:srgbClr val="1A1A2E"/>
                </a:solidFill>
                <a:latin typeface="Calibri"/>
              </a:rPr>
              <a:t>• Notifications, Logs</a:t>
            </a:r>
          </a:p>
          <a:p>
            <a:pPr algn="l"/>
            <a:r>
              <a:rPr sz="1250">
                <a:solidFill>
                  <a:srgbClr val="1A1A2E"/>
                </a:solidFill>
                <a:latin typeface="Calibri"/>
              </a:rPr>
              <a:t>• Migrations versionnées</a:t>
            </a:r>
          </a:p>
        </p:txBody>
      </p:sp>
      <p:sp>
        <p:nvSpPr>
          <p:cNvPr id="30" name="Rectangle 29"/>
          <p:cNvSpPr/>
          <p:nvPr/>
        </p:nvSpPr>
        <p:spPr>
          <a:xfrm>
            <a:off x="9144000" y="1554480"/>
            <a:ext cx="27432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44000" y="1554480"/>
            <a:ext cx="2743200" cy="635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144000" y="1554480"/>
            <a:ext cx="2743200"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45600" y="1581912"/>
            <a:ext cx="2560320" cy="330200"/>
          </a:xfrm>
          <a:prstGeom prst="rect">
            <a:avLst/>
          </a:prstGeom>
          <a:noFill/>
        </p:spPr>
        <p:txBody>
          <a:bodyPr wrap="square"/>
          <a:lstStyle/>
          <a:p>
            <a:pPr algn="l"/>
            <a:r>
              <a:rPr sz="1300" b="1" i="0">
                <a:solidFill>
                  <a:srgbClr val="FFFFFF"/>
                </a:solidFill>
                <a:latin typeface="Calibri"/>
              </a:rPr>
              <a:t>🤖  IA / NLP</a:t>
            </a:r>
          </a:p>
        </p:txBody>
      </p:sp>
      <p:sp>
        <p:nvSpPr>
          <p:cNvPr id="34" name="TextBox 33"/>
          <p:cNvSpPr txBox="1"/>
          <p:nvPr/>
        </p:nvSpPr>
        <p:spPr>
          <a:xfrm>
            <a:off x="9245600" y="1847088"/>
            <a:ext cx="2560320" cy="279400"/>
          </a:xfrm>
          <a:prstGeom prst="rect">
            <a:avLst/>
          </a:prstGeom>
          <a:noFill/>
        </p:spPr>
        <p:txBody>
          <a:bodyPr wrap="square"/>
          <a:lstStyle/>
          <a:p>
            <a:pPr algn="l"/>
            <a:r>
              <a:rPr sz="1100" b="0" i="0">
                <a:solidFill>
                  <a:srgbClr val="DDEEFF"/>
                </a:solidFill>
                <a:latin typeface="Calibri"/>
              </a:rPr>
              <a:t>BERT + spaCy</a:t>
            </a:r>
          </a:p>
        </p:txBody>
      </p:sp>
      <p:sp>
        <p:nvSpPr>
          <p:cNvPr id="35" name="TextBox 34"/>
          <p:cNvSpPr txBox="1"/>
          <p:nvPr/>
        </p:nvSpPr>
        <p:spPr>
          <a:xfrm>
            <a:off x="9245600" y="2423160"/>
            <a:ext cx="2560320" cy="3383280"/>
          </a:xfrm>
          <a:prstGeom prst="rect">
            <a:avLst/>
          </a:prstGeom>
          <a:noFill/>
        </p:spPr>
        <p:txBody>
          <a:bodyPr wrap="square">
            <a:spAutoFit/>
          </a:bodyPr>
          <a:lstStyle/>
          <a:p>
            <a:pPr algn="l"/>
            <a:r>
              <a:rPr sz="1250">
                <a:solidFill>
                  <a:srgbClr val="1A1A2E"/>
                </a:solidFill>
                <a:latin typeface="Calibri"/>
              </a:rPr>
              <a:t>• TalentMatch-BERT v2.0</a:t>
            </a:r>
          </a:p>
          <a:p>
            <a:pPr algn="l"/>
            <a:r>
              <a:rPr sz="1250">
                <a:solidFill>
                  <a:srgbClr val="1A1A2E"/>
                </a:solidFill>
                <a:latin typeface="Calibri"/>
              </a:rPr>
              <a:t>• MLP 5 dimensions</a:t>
            </a:r>
          </a:p>
          <a:p>
            <a:pPr algn="l"/>
            <a:r>
              <a:rPr sz="1250">
                <a:solidFill>
                  <a:srgbClr val="1A1A2E"/>
                </a:solidFill>
                <a:latin typeface="Calibri"/>
              </a:rPr>
              <a:t>• spaCy fr_core_news_md</a:t>
            </a:r>
          </a:p>
          <a:p>
            <a:pPr algn="l"/>
            <a:r>
              <a:rPr sz="1250">
                <a:solidFill>
                  <a:srgbClr val="1A1A2E"/>
                </a:solidFill>
                <a:latin typeface="Calibri"/>
              </a:rPr>
              <a:t>• 14 domaines métier</a:t>
            </a:r>
          </a:p>
        </p:txBody>
      </p:sp>
      <p:sp>
        <p:nvSpPr>
          <p:cNvPr id="36" name="TextBox 35"/>
          <p:cNvSpPr txBox="1"/>
          <p:nvPr/>
        </p:nvSpPr>
        <p:spPr>
          <a:xfrm>
            <a:off x="3127248" y="3520440"/>
            <a:ext cx="164592" cy="457200"/>
          </a:xfrm>
          <a:prstGeom prst="rect">
            <a:avLst/>
          </a:prstGeom>
          <a:noFill/>
        </p:spPr>
        <p:txBody>
          <a:bodyPr wrap="square"/>
          <a:lstStyle/>
          <a:p>
            <a:pPr algn="ctr"/>
            <a:r>
              <a:rPr sz="2000" b="1" i="0">
                <a:solidFill>
                  <a:srgbClr val="E88710"/>
                </a:solidFill>
                <a:latin typeface="Calibri"/>
              </a:rPr>
              <a:t>⟷</a:t>
            </a:r>
          </a:p>
        </p:txBody>
      </p:sp>
      <p:sp>
        <p:nvSpPr>
          <p:cNvPr id="37" name="TextBox 36"/>
          <p:cNvSpPr txBox="1"/>
          <p:nvPr/>
        </p:nvSpPr>
        <p:spPr>
          <a:xfrm>
            <a:off x="6053328" y="3520440"/>
            <a:ext cx="164592" cy="457200"/>
          </a:xfrm>
          <a:prstGeom prst="rect">
            <a:avLst/>
          </a:prstGeom>
          <a:noFill/>
        </p:spPr>
        <p:txBody>
          <a:bodyPr wrap="square"/>
          <a:lstStyle/>
          <a:p>
            <a:pPr algn="ctr"/>
            <a:r>
              <a:rPr sz="2000" b="1" i="0">
                <a:solidFill>
                  <a:srgbClr val="E88710"/>
                </a:solidFill>
                <a:latin typeface="Calibri"/>
              </a:rPr>
              <a:t>⟷</a:t>
            </a:r>
          </a:p>
        </p:txBody>
      </p:sp>
      <p:sp>
        <p:nvSpPr>
          <p:cNvPr id="38" name="TextBox 37"/>
          <p:cNvSpPr txBox="1"/>
          <p:nvPr/>
        </p:nvSpPr>
        <p:spPr>
          <a:xfrm>
            <a:off x="8979408" y="3520440"/>
            <a:ext cx="164592" cy="457200"/>
          </a:xfrm>
          <a:prstGeom prst="rect">
            <a:avLst/>
          </a:prstGeom>
          <a:noFill/>
        </p:spPr>
        <p:txBody>
          <a:bodyPr wrap="square"/>
          <a:lstStyle/>
          <a:p>
            <a:pPr algn="ctr"/>
            <a:r>
              <a:rPr sz="2000" b="1" i="0">
                <a:solidFill>
                  <a:srgbClr val="E88710"/>
                </a:solidFill>
                <a:latin typeface="Calibri"/>
              </a:rPr>
              <a:t>⟷</a:t>
            </a:r>
          </a:p>
        </p:txBody>
      </p:sp>
      <p:sp>
        <p:nvSpPr>
          <p:cNvPr id="39" name="Rectangle 38"/>
          <p:cNvSpPr/>
          <p:nvPr/>
        </p:nvSpPr>
        <p:spPr>
          <a:xfrm>
            <a:off x="365760" y="6172200"/>
            <a:ext cx="11430000"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6190488"/>
            <a:ext cx="10972800" cy="274320"/>
          </a:xfrm>
          <a:prstGeom prst="rect">
            <a:avLst/>
          </a:prstGeom>
          <a:noFill/>
        </p:spPr>
        <p:txBody>
          <a:bodyPr wrap="square"/>
          <a:lstStyle/>
          <a:p>
            <a:pPr algn="l"/>
            <a:r>
              <a:rPr sz="1000" b="0" i="0">
                <a:solidFill>
                  <a:srgbClr val="AABBCC"/>
                </a:solidFill>
                <a:latin typeface="Calibri"/>
              </a:rPr>
              <a:t>Communication : CORS sécurisé  •  JWT Bearer token  •  SMTP (email)  •  Alembic (migrations)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Moteur de Matching IA — Pipeline complet</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De l'octet brut au score de pertinence</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9 / 15</a:t>
            </a:r>
          </a:p>
        </p:txBody>
      </p:sp>
      <p:sp>
        <p:nvSpPr>
          <p:cNvPr id="12" name="Rectangle 11"/>
          <p:cNvSpPr/>
          <p:nvPr/>
        </p:nvSpPr>
        <p:spPr>
          <a:xfrm>
            <a:off x="320040" y="1600200"/>
            <a:ext cx="1783080" cy="1234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6240" y="1701800"/>
            <a:ext cx="1681480" cy="304800"/>
          </a:xfrm>
          <a:prstGeom prst="rect">
            <a:avLst/>
          </a:prstGeom>
          <a:noFill/>
        </p:spPr>
        <p:txBody>
          <a:bodyPr wrap="square"/>
          <a:lstStyle/>
          <a:p>
            <a:pPr algn="l"/>
            <a:r>
              <a:rPr sz="1200" b="1" i="0">
                <a:solidFill>
                  <a:srgbClr val="FFFFFF"/>
                </a:solidFill>
                <a:latin typeface="Calibri"/>
              </a:rPr>
              <a:t>📄 CV brut</a:t>
            </a:r>
          </a:p>
        </p:txBody>
      </p:sp>
      <p:sp>
        <p:nvSpPr>
          <p:cNvPr id="14" name="TextBox 13"/>
          <p:cNvSpPr txBox="1"/>
          <p:nvPr/>
        </p:nvSpPr>
        <p:spPr>
          <a:xfrm>
            <a:off x="396240" y="2006600"/>
            <a:ext cx="1681480" cy="751840"/>
          </a:xfrm>
          <a:prstGeom prst="rect">
            <a:avLst/>
          </a:prstGeom>
          <a:noFill/>
        </p:spPr>
        <p:txBody>
          <a:bodyPr wrap="square"/>
          <a:lstStyle/>
          <a:p>
            <a:pPr algn="l"/>
            <a:r>
              <a:rPr sz="900" b="0" i="0">
                <a:solidFill>
                  <a:srgbClr val="CCDDEE"/>
                </a:solidFill>
                <a:latin typeface="Calibri"/>
              </a:rPr>
              <a:t>PDF / DOCX / Image</a:t>
            </a:r>
          </a:p>
        </p:txBody>
      </p:sp>
      <p:sp>
        <p:nvSpPr>
          <p:cNvPr id="15" name="TextBox 14"/>
          <p:cNvSpPr txBox="1"/>
          <p:nvPr/>
        </p:nvSpPr>
        <p:spPr>
          <a:xfrm>
            <a:off x="2153920" y="2044700"/>
            <a:ext cx="355600" cy="355600"/>
          </a:xfrm>
          <a:prstGeom prst="rect">
            <a:avLst/>
          </a:prstGeom>
          <a:noFill/>
        </p:spPr>
        <p:txBody>
          <a:bodyPr wrap="square"/>
          <a:lstStyle/>
          <a:p>
            <a:pPr algn="ctr"/>
            <a:r>
              <a:rPr sz="1600" b="1" i="0">
                <a:solidFill>
                  <a:srgbClr val="E88710"/>
                </a:solidFill>
                <a:latin typeface="Calibri"/>
              </a:rPr>
              <a:t>▶</a:t>
            </a:r>
          </a:p>
        </p:txBody>
      </p:sp>
      <p:sp>
        <p:nvSpPr>
          <p:cNvPr id="16" name="Rectangle 15"/>
          <p:cNvSpPr/>
          <p:nvPr/>
        </p:nvSpPr>
        <p:spPr>
          <a:xfrm>
            <a:off x="2304288" y="1600200"/>
            <a:ext cx="1783080" cy="1234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0488" y="1701800"/>
            <a:ext cx="1681480" cy="304800"/>
          </a:xfrm>
          <a:prstGeom prst="rect">
            <a:avLst/>
          </a:prstGeom>
          <a:noFill/>
        </p:spPr>
        <p:txBody>
          <a:bodyPr wrap="square"/>
          <a:lstStyle/>
          <a:p>
            <a:pPr algn="l"/>
            <a:r>
              <a:rPr sz="1200" b="1" i="0">
                <a:solidFill>
                  <a:srgbClr val="FFFFFF"/>
                </a:solidFill>
                <a:latin typeface="Calibri"/>
              </a:rPr>
              <a:t>📝 Extraction</a:t>
            </a:r>
          </a:p>
        </p:txBody>
      </p:sp>
      <p:sp>
        <p:nvSpPr>
          <p:cNvPr id="18" name="TextBox 17"/>
          <p:cNvSpPr txBox="1"/>
          <p:nvPr/>
        </p:nvSpPr>
        <p:spPr>
          <a:xfrm>
            <a:off x="2380488" y="2006600"/>
            <a:ext cx="1681480" cy="751840"/>
          </a:xfrm>
          <a:prstGeom prst="rect">
            <a:avLst/>
          </a:prstGeom>
          <a:noFill/>
        </p:spPr>
        <p:txBody>
          <a:bodyPr wrap="square"/>
          <a:lstStyle/>
          <a:p>
            <a:pPr algn="l"/>
            <a:r>
              <a:rPr sz="900" b="0" i="0">
                <a:solidFill>
                  <a:srgbClr val="CCDDEE"/>
                </a:solidFill>
                <a:latin typeface="Calibri"/>
              </a:rPr>
              <a:t>PyMuPDF · python-docx · OCR Tesseract</a:t>
            </a:r>
          </a:p>
        </p:txBody>
      </p:sp>
      <p:sp>
        <p:nvSpPr>
          <p:cNvPr id="19" name="TextBox 18"/>
          <p:cNvSpPr txBox="1"/>
          <p:nvPr/>
        </p:nvSpPr>
        <p:spPr>
          <a:xfrm>
            <a:off x="4138168" y="2044700"/>
            <a:ext cx="355600" cy="355600"/>
          </a:xfrm>
          <a:prstGeom prst="rect">
            <a:avLst/>
          </a:prstGeom>
          <a:noFill/>
        </p:spPr>
        <p:txBody>
          <a:bodyPr wrap="square"/>
          <a:lstStyle/>
          <a:p>
            <a:pPr algn="ctr"/>
            <a:r>
              <a:rPr sz="1600" b="1" i="0">
                <a:solidFill>
                  <a:srgbClr val="E88710"/>
                </a:solidFill>
                <a:latin typeface="Calibri"/>
              </a:rPr>
              <a:t>▶</a:t>
            </a:r>
          </a:p>
        </p:txBody>
      </p:sp>
      <p:sp>
        <p:nvSpPr>
          <p:cNvPr id="20" name="Rectangle 19"/>
          <p:cNvSpPr/>
          <p:nvPr/>
        </p:nvSpPr>
        <p:spPr>
          <a:xfrm>
            <a:off x="4288536" y="1600200"/>
            <a:ext cx="1783080" cy="123444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64736" y="1701800"/>
            <a:ext cx="1681480" cy="304800"/>
          </a:xfrm>
          <a:prstGeom prst="rect">
            <a:avLst/>
          </a:prstGeom>
          <a:noFill/>
        </p:spPr>
        <p:txBody>
          <a:bodyPr wrap="square"/>
          <a:lstStyle/>
          <a:p>
            <a:pPr algn="l"/>
            <a:r>
              <a:rPr sz="1200" b="1" i="0">
                <a:solidFill>
                  <a:srgbClr val="FFFFFF"/>
                </a:solidFill>
                <a:latin typeface="Calibri"/>
              </a:rPr>
              <a:t>🧠 NLP Parser</a:t>
            </a:r>
          </a:p>
        </p:txBody>
      </p:sp>
      <p:sp>
        <p:nvSpPr>
          <p:cNvPr id="22" name="TextBox 21"/>
          <p:cNvSpPr txBox="1"/>
          <p:nvPr/>
        </p:nvSpPr>
        <p:spPr>
          <a:xfrm>
            <a:off x="4364736" y="2006600"/>
            <a:ext cx="1681480" cy="751840"/>
          </a:xfrm>
          <a:prstGeom prst="rect">
            <a:avLst/>
          </a:prstGeom>
          <a:noFill/>
        </p:spPr>
        <p:txBody>
          <a:bodyPr wrap="square"/>
          <a:lstStyle/>
          <a:p>
            <a:pPr algn="l"/>
            <a:r>
              <a:rPr sz="900" b="0" i="0">
                <a:solidFill>
                  <a:srgbClr val="CCDDEE"/>
                </a:solidFill>
                <a:latin typeface="Calibri"/>
              </a:rPr>
              <a:t>spaCy FR · extracteurs custom
Skills · Expériences · Formation · Contact</a:t>
            </a:r>
          </a:p>
        </p:txBody>
      </p:sp>
      <p:sp>
        <p:nvSpPr>
          <p:cNvPr id="23" name="TextBox 22"/>
          <p:cNvSpPr txBox="1"/>
          <p:nvPr/>
        </p:nvSpPr>
        <p:spPr>
          <a:xfrm>
            <a:off x="6122416" y="2044700"/>
            <a:ext cx="355600" cy="355600"/>
          </a:xfrm>
          <a:prstGeom prst="rect">
            <a:avLst/>
          </a:prstGeom>
          <a:noFill/>
        </p:spPr>
        <p:txBody>
          <a:bodyPr wrap="square"/>
          <a:lstStyle/>
          <a:p>
            <a:pPr algn="ctr"/>
            <a:r>
              <a:rPr sz="1600" b="1" i="0">
                <a:solidFill>
                  <a:srgbClr val="E88710"/>
                </a:solidFill>
                <a:latin typeface="Calibri"/>
              </a:rPr>
              <a:t>▶</a:t>
            </a:r>
          </a:p>
        </p:txBody>
      </p:sp>
      <p:sp>
        <p:nvSpPr>
          <p:cNvPr id="24" name="Rectangle 23"/>
          <p:cNvSpPr/>
          <p:nvPr/>
        </p:nvSpPr>
        <p:spPr>
          <a:xfrm>
            <a:off x="6272784" y="1600200"/>
            <a:ext cx="1783080"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48984" y="1701800"/>
            <a:ext cx="1681480" cy="304800"/>
          </a:xfrm>
          <a:prstGeom prst="rect">
            <a:avLst/>
          </a:prstGeom>
          <a:noFill/>
        </p:spPr>
        <p:txBody>
          <a:bodyPr wrap="square"/>
          <a:lstStyle/>
          <a:p>
            <a:pPr algn="l"/>
            <a:r>
              <a:rPr sz="1200" b="1" i="0">
                <a:solidFill>
                  <a:srgbClr val="FFFFFF"/>
                </a:solidFill>
                <a:latin typeface="Calibri"/>
              </a:rPr>
              <a:t>🤖 BERT Scorer</a:t>
            </a:r>
          </a:p>
        </p:txBody>
      </p:sp>
      <p:sp>
        <p:nvSpPr>
          <p:cNvPr id="26" name="TextBox 25"/>
          <p:cNvSpPr txBox="1"/>
          <p:nvPr/>
        </p:nvSpPr>
        <p:spPr>
          <a:xfrm>
            <a:off x="6348984" y="2006600"/>
            <a:ext cx="1681480" cy="751840"/>
          </a:xfrm>
          <a:prstGeom prst="rect">
            <a:avLst/>
          </a:prstGeom>
          <a:noFill/>
        </p:spPr>
        <p:txBody>
          <a:bodyPr wrap="square"/>
          <a:lstStyle/>
          <a:p>
            <a:pPr algn="l"/>
            <a:r>
              <a:rPr sz="900" b="0" i="0">
                <a:solidFill>
                  <a:srgbClr val="CCDDEE"/>
                </a:solidFill>
                <a:latin typeface="Calibri"/>
              </a:rPr>
              <a:t>TalentMatch-BERT v2.0
(fine-tuné sur 4 966 CVs réels)</a:t>
            </a:r>
          </a:p>
        </p:txBody>
      </p:sp>
      <p:sp>
        <p:nvSpPr>
          <p:cNvPr id="27" name="TextBox 26"/>
          <p:cNvSpPr txBox="1"/>
          <p:nvPr/>
        </p:nvSpPr>
        <p:spPr>
          <a:xfrm>
            <a:off x="8106664" y="2044700"/>
            <a:ext cx="355600" cy="355600"/>
          </a:xfrm>
          <a:prstGeom prst="rect">
            <a:avLst/>
          </a:prstGeom>
          <a:noFill/>
        </p:spPr>
        <p:txBody>
          <a:bodyPr wrap="square"/>
          <a:lstStyle/>
          <a:p>
            <a:pPr algn="ctr"/>
            <a:r>
              <a:rPr sz="1600" b="1" i="0">
                <a:solidFill>
                  <a:srgbClr val="E88710"/>
                </a:solidFill>
                <a:latin typeface="Calibri"/>
              </a:rPr>
              <a:t>▶</a:t>
            </a:r>
          </a:p>
        </p:txBody>
      </p:sp>
      <p:sp>
        <p:nvSpPr>
          <p:cNvPr id="28" name="Rectangle 27"/>
          <p:cNvSpPr/>
          <p:nvPr/>
        </p:nvSpPr>
        <p:spPr>
          <a:xfrm>
            <a:off x="8257032" y="1600200"/>
            <a:ext cx="1783080"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3232" y="1701800"/>
            <a:ext cx="1681480" cy="304800"/>
          </a:xfrm>
          <a:prstGeom prst="rect">
            <a:avLst/>
          </a:prstGeom>
          <a:noFill/>
        </p:spPr>
        <p:txBody>
          <a:bodyPr wrap="square"/>
          <a:lstStyle/>
          <a:p>
            <a:pPr algn="l"/>
            <a:r>
              <a:rPr sz="1200" b="1" i="0">
                <a:solidFill>
                  <a:srgbClr val="FFFFFF"/>
                </a:solidFill>
                <a:latin typeface="Calibri"/>
              </a:rPr>
              <a:t>📊 MLP 5D</a:t>
            </a:r>
          </a:p>
        </p:txBody>
      </p:sp>
      <p:sp>
        <p:nvSpPr>
          <p:cNvPr id="30" name="TextBox 29"/>
          <p:cNvSpPr txBox="1"/>
          <p:nvPr/>
        </p:nvSpPr>
        <p:spPr>
          <a:xfrm>
            <a:off x="8333232" y="2006600"/>
            <a:ext cx="1681480" cy="751840"/>
          </a:xfrm>
          <a:prstGeom prst="rect">
            <a:avLst/>
          </a:prstGeom>
          <a:noFill/>
        </p:spPr>
        <p:txBody>
          <a:bodyPr wrap="square"/>
          <a:lstStyle/>
          <a:p>
            <a:pPr algn="l"/>
            <a:r>
              <a:rPr sz="900" b="0" i="0">
                <a:solidFill>
                  <a:srgbClr val="CCDDEE"/>
                </a:solidFill>
                <a:latin typeface="Calibri"/>
              </a:rPr>
              <a:t>[sem_sim · skill_rate · exp_score
formation · appreciated_rate]</a:t>
            </a:r>
          </a:p>
        </p:txBody>
      </p:sp>
      <p:sp>
        <p:nvSpPr>
          <p:cNvPr id="31" name="TextBox 30"/>
          <p:cNvSpPr txBox="1"/>
          <p:nvPr/>
        </p:nvSpPr>
        <p:spPr>
          <a:xfrm>
            <a:off x="10090912" y="2044700"/>
            <a:ext cx="355600" cy="355600"/>
          </a:xfrm>
          <a:prstGeom prst="rect">
            <a:avLst/>
          </a:prstGeom>
          <a:noFill/>
        </p:spPr>
        <p:txBody>
          <a:bodyPr wrap="square"/>
          <a:lstStyle/>
          <a:p>
            <a:pPr algn="ctr"/>
            <a:r>
              <a:rPr sz="1600" b="1" i="0">
                <a:solidFill>
                  <a:srgbClr val="E88710"/>
                </a:solidFill>
                <a:latin typeface="Calibri"/>
              </a:rPr>
              <a:t>▶</a:t>
            </a:r>
          </a:p>
        </p:txBody>
      </p:sp>
      <p:sp>
        <p:nvSpPr>
          <p:cNvPr id="32" name="Rectangle 31"/>
          <p:cNvSpPr/>
          <p:nvPr/>
        </p:nvSpPr>
        <p:spPr>
          <a:xfrm>
            <a:off x="10241280" y="1600200"/>
            <a:ext cx="1783080" cy="1234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17480" y="1701800"/>
            <a:ext cx="1681480" cy="304800"/>
          </a:xfrm>
          <a:prstGeom prst="rect">
            <a:avLst/>
          </a:prstGeom>
          <a:noFill/>
        </p:spPr>
        <p:txBody>
          <a:bodyPr wrap="square"/>
          <a:lstStyle/>
          <a:p>
            <a:pPr algn="l"/>
            <a:r>
              <a:rPr sz="1200" b="1" i="0">
                <a:solidFill>
                  <a:srgbClr val="FFFFFF"/>
                </a:solidFill>
                <a:latin typeface="Calibri"/>
              </a:rPr>
              <a:t>✅ Score</a:t>
            </a:r>
          </a:p>
        </p:txBody>
      </p:sp>
      <p:sp>
        <p:nvSpPr>
          <p:cNvPr id="34" name="TextBox 33"/>
          <p:cNvSpPr txBox="1"/>
          <p:nvPr/>
        </p:nvSpPr>
        <p:spPr>
          <a:xfrm>
            <a:off x="10317480" y="2006600"/>
            <a:ext cx="1681480" cy="751840"/>
          </a:xfrm>
          <a:prstGeom prst="rect">
            <a:avLst/>
          </a:prstGeom>
          <a:noFill/>
        </p:spPr>
        <p:txBody>
          <a:bodyPr wrap="square"/>
          <a:lstStyle/>
          <a:p>
            <a:pPr algn="l"/>
            <a:r>
              <a:rPr sz="900" b="0" i="0">
                <a:solidFill>
                  <a:srgbClr val="CCDDEE"/>
                </a:solidFill>
                <a:latin typeface="Calibri"/>
              </a:rPr>
              <a:t>0–100%
Excellent / Bon / À évaluer / Non adapté</a:t>
            </a:r>
          </a:p>
        </p:txBody>
      </p:sp>
      <p:sp>
        <p:nvSpPr>
          <p:cNvPr id="35" name="Rectangle 34"/>
          <p:cNvSpPr/>
          <p:nvPr/>
        </p:nvSpPr>
        <p:spPr>
          <a:xfrm>
            <a:off x="365760" y="3063240"/>
            <a:ext cx="1143000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 y="3063240"/>
            <a:ext cx="11430000" cy="508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3127248"/>
            <a:ext cx="7315200" cy="365760"/>
          </a:xfrm>
          <a:prstGeom prst="rect">
            <a:avLst/>
          </a:prstGeom>
          <a:noFill/>
        </p:spPr>
        <p:txBody>
          <a:bodyPr wrap="square"/>
          <a:lstStyle/>
          <a:p>
            <a:pPr algn="l"/>
            <a:r>
              <a:rPr sz="1400" b="1" i="0">
                <a:solidFill>
                  <a:srgbClr val="0D1B3E"/>
                </a:solidFill>
                <a:latin typeface="Calibri"/>
              </a:rPr>
              <a:t>🔬  Détail du scoring BERT v2.0</a:t>
            </a:r>
          </a:p>
        </p:txBody>
      </p:sp>
      <p:sp>
        <p:nvSpPr>
          <p:cNvPr id="38" name="Rectangle 37"/>
          <p:cNvSpPr/>
          <p:nvPr/>
        </p:nvSpPr>
        <p:spPr>
          <a:xfrm>
            <a:off x="457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3400" y="3584448"/>
            <a:ext cx="2011680" cy="457200"/>
          </a:xfrm>
          <a:prstGeom prst="rect">
            <a:avLst/>
          </a:prstGeom>
          <a:noFill/>
        </p:spPr>
        <p:txBody>
          <a:bodyPr wrap="square"/>
          <a:lstStyle/>
          <a:p>
            <a:pPr algn="l"/>
            <a:r>
              <a:rPr sz="1100" b="1" i="0">
                <a:solidFill>
                  <a:srgbClr val="0D1B3E"/>
                </a:solidFill>
                <a:latin typeface="Calibri"/>
              </a:rPr>
              <a:t>📐 Similarité sémantique
(sem_sim)</a:t>
            </a:r>
          </a:p>
        </p:txBody>
      </p:sp>
      <p:sp>
        <p:nvSpPr>
          <p:cNvPr id="40" name="TextBox 39"/>
          <p:cNvSpPr txBox="1"/>
          <p:nvPr/>
        </p:nvSpPr>
        <p:spPr>
          <a:xfrm>
            <a:off x="533400" y="4069080"/>
            <a:ext cx="2011680" cy="1737360"/>
          </a:xfrm>
          <a:prstGeom prst="rect">
            <a:avLst/>
          </a:prstGeom>
          <a:noFill/>
        </p:spPr>
        <p:txBody>
          <a:bodyPr wrap="square"/>
          <a:lstStyle/>
          <a:p>
            <a:pPr algn="l"/>
            <a:r>
              <a:rPr sz="1050" b="0" i="0">
                <a:solidFill>
                  <a:srgbClr val="6B7280"/>
                </a:solidFill>
                <a:latin typeface="Calibri"/>
              </a:rPr>
              <a:t>Embeddings 384D
MiniLM multilingual
CV ↔ Offre cosine</a:t>
            </a:r>
          </a:p>
        </p:txBody>
      </p:sp>
      <p:sp>
        <p:nvSpPr>
          <p:cNvPr id="41" name="Rectangle 40"/>
          <p:cNvSpPr/>
          <p:nvPr/>
        </p:nvSpPr>
        <p:spPr>
          <a:xfrm>
            <a:off x="2743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19400" y="3584448"/>
            <a:ext cx="2011680" cy="457200"/>
          </a:xfrm>
          <a:prstGeom prst="rect">
            <a:avLst/>
          </a:prstGeom>
          <a:noFill/>
        </p:spPr>
        <p:txBody>
          <a:bodyPr wrap="square"/>
          <a:lstStyle/>
          <a:p>
            <a:pPr algn="l"/>
            <a:r>
              <a:rPr sz="1100" b="1" i="0">
                <a:solidFill>
                  <a:srgbClr val="0D1B3E"/>
                </a:solidFill>
                <a:latin typeface="Calibri"/>
              </a:rPr>
              <a:t>🎯 Taux skills requis
(skill_rate)</a:t>
            </a:r>
          </a:p>
        </p:txBody>
      </p:sp>
      <p:sp>
        <p:nvSpPr>
          <p:cNvPr id="43" name="TextBox 42"/>
          <p:cNvSpPr txBox="1"/>
          <p:nvPr/>
        </p:nvSpPr>
        <p:spPr>
          <a:xfrm>
            <a:off x="2819400" y="4069080"/>
            <a:ext cx="2011680" cy="1737360"/>
          </a:xfrm>
          <a:prstGeom prst="rect">
            <a:avLst/>
          </a:prstGeom>
          <a:noFill/>
        </p:spPr>
        <p:txBody>
          <a:bodyPr wrap="square"/>
          <a:lstStyle/>
          <a:p>
            <a:pPr algn="l"/>
            <a:r>
              <a:rPr sz="1050" b="0" i="0">
                <a:solidFill>
                  <a:srgbClr val="6B7280"/>
                </a:solidFill>
                <a:latin typeface="Calibri"/>
              </a:rPr>
              <a:t>RapidFuzz ≥ 80%
Fuzzy matching FR+EN
4 niveaux de vérif.</a:t>
            </a:r>
          </a:p>
        </p:txBody>
      </p:sp>
      <p:sp>
        <p:nvSpPr>
          <p:cNvPr id="44" name="Rectangle 43"/>
          <p:cNvSpPr/>
          <p:nvPr/>
        </p:nvSpPr>
        <p:spPr>
          <a:xfrm>
            <a:off x="5029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05400" y="3584448"/>
            <a:ext cx="2011680" cy="457200"/>
          </a:xfrm>
          <a:prstGeom prst="rect">
            <a:avLst/>
          </a:prstGeom>
          <a:noFill/>
        </p:spPr>
        <p:txBody>
          <a:bodyPr wrap="square"/>
          <a:lstStyle/>
          <a:p>
            <a:pPr algn="l"/>
            <a:r>
              <a:rPr sz="1100" b="1" i="0">
                <a:solidFill>
                  <a:srgbClr val="0D1B3E"/>
                </a:solidFill>
                <a:latin typeface="Calibri"/>
              </a:rPr>
              <a:t>📅 Score expérience
(exp_score)</a:t>
            </a:r>
          </a:p>
        </p:txBody>
      </p:sp>
      <p:sp>
        <p:nvSpPr>
          <p:cNvPr id="46" name="TextBox 45"/>
          <p:cNvSpPr txBox="1"/>
          <p:nvPr/>
        </p:nvSpPr>
        <p:spPr>
          <a:xfrm>
            <a:off x="5105400" y="4069080"/>
            <a:ext cx="2011680" cy="1737360"/>
          </a:xfrm>
          <a:prstGeom prst="rect">
            <a:avLst/>
          </a:prstGeom>
          <a:noFill/>
        </p:spPr>
        <p:txBody>
          <a:bodyPr wrap="square"/>
          <a:lstStyle/>
          <a:p>
            <a:pPr algn="l"/>
            <a:r>
              <a:rPr sz="1050" b="0" i="0">
                <a:solidFill>
                  <a:srgbClr val="6B7280"/>
                </a:solidFill>
                <a:latin typeface="Calibri"/>
              </a:rPr>
              <a:t>Années extraites NLP
Normalisé vs offre
Pénalité si &lt;50%</a:t>
            </a:r>
          </a:p>
        </p:txBody>
      </p:sp>
      <p:sp>
        <p:nvSpPr>
          <p:cNvPr id="47" name="Rectangle 46"/>
          <p:cNvSpPr/>
          <p:nvPr/>
        </p:nvSpPr>
        <p:spPr>
          <a:xfrm>
            <a:off x="7315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91400" y="3584448"/>
            <a:ext cx="2011680" cy="457200"/>
          </a:xfrm>
          <a:prstGeom prst="rect">
            <a:avLst/>
          </a:prstGeom>
          <a:noFill/>
        </p:spPr>
        <p:txBody>
          <a:bodyPr wrap="square"/>
          <a:lstStyle/>
          <a:p>
            <a:pPr algn="l"/>
            <a:r>
              <a:rPr sz="1100" b="1" i="0">
                <a:solidFill>
                  <a:srgbClr val="0D1B3E"/>
                </a:solidFill>
                <a:latin typeface="Calibri"/>
              </a:rPr>
              <a:t>🎓 Niveau formation
(form_score)</a:t>
            </a:r>
          </a:p>
        </p:txBody>
      </p:sp>
      <p:sp>
        <p:nvSpPr>
          <p:cNvPr id="49" name="TextBox 48"/>
          <p:cNvSpPr txBox="1"/>
          <p:nvPr/>
        </p:nvSpPr>
        <p:spPr>
          <a:xfrm>
            <a:off x="7391400" y="4069080"/>
            <a:ext cx="2011680" cy="1737360"/>
          </a:xfrm>
          <a:prstGeom prst="rect">
            <a:avLst/>
          </a:prstGeom>
          <a:noFill/>
        </p:spPr>
        <p:txBody>
          <a:bodyPr wrap="square"/>
          <a:lstStyle/>
          <a:p>
            <a:pPr algn="l"/>
            <a:r>
              <a:rPr sz="1050" b="0" i="0">
                <a:solidFill>
                  <a:srgbClr val="6B7280"/>
                </a:solidFill>
                <a:latin typeface="Calibri"/>
              </a:rPr>
              <a:t>Bac+2 → Bac+5+
Matching vs exigences
Extracteur NLP dédié</a:t>
            </a:r>
          </a:p>
        </p:txBody>
      </p:sp>
      <p:sp>
        <p:nvSpPr>
          <p:cNvPr id="50" name="Rectangle 49"/>
          <p:cNvSpPr/>
          <p:nvPr/>
        </p:nvSpPr>
        <p:spPr>
          <a:xfrm>
            <a:off x="9601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77400" y="3584448"/>
            <a:ext cx="2011680" cy="457200"/>
          </a:xfrm>
          <a:prstGeom prst="rect">
            <a:avLst/>
          </a:prstGeom>
          <a:noFill/>
        </p:spPr>
        <p:txBody>
          <a:bodyPr wrap="square"/>
          <a:lstStyle/>
          <a:p>
            <a:pPr algn="l"/>
            <a:r>
              <a:rPr sz="1100" b="1" i="0">
                <a:solidFill>
                  <a:srgbClr val="0D1B3E"/>
                </a:solidFill>
                <a:latin typeface="Calibri"/>
              </a:rPr>
              <a:t>⭐ Skills appréciées
(appreciated)</a:t>
            </a:r>
          </a:p>
        </p:txBody>
      </p:sp>
      <p:sp>
        <p:nvSpPr>
          <p:cNvPr id="52" name="TextBox 51"/>
          <p:cNvSpPr txBox="1"/>
          <p:nvPr/>
        </p:nvSpPr>
        <p:spPr>
          <a:xfrm>
            <a:off x="9677400" y="4069080"/>
            <a:ext cx="2011680" cy="1737360"/>
          </a:xfrm>
          <a:prstGeom prst="rect">
            <a:avLst/>
          </a:prstGeom>
          <a:noFill/>
        </p:spPr>
        <p:txBody>
          <a:bodyPr wrap="square"/>
          <a:lstStyle/>
          <a:p>
            <a:pPr algn="l"/>
            <a:r>
              <a:rPr sz="1050" b="0" i="0">
                <a:solidFill>
                  <a:srgbClr val="6B7280"/>
                </a:solidFill>
                <a:latin typeface="Calibri"/>
              </a:rPr>
              <a:t>Bonus soft skills
Skills complémentaires
0–30% bonus</a:t>
            </a:r>
          </a:p>
        </p:txBody>
      </p:sp>
      <p:sp>
        <p:nvSpPr>
          <p:cNvPr id="53" name="Rectangle 52"/>
          <p:cNvSpPr/>
          <p:nvPr/>
        </p:nvSpPr>
        <p:spPr>
          <a:xfrm>
            <a:off x="365760" y="5989320"/>
            <a:ext cx="1143000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48640" y="6035040"/>
            <a:ext cx="10972800" cy="365760"/>
          </a:xfrm>
          <a:prstGeom prst="rect">
            <a:avLst/>
          </a:prstGeom>
          <a:noFill/>
        </p:spPr>
        <p:txBody>
          <a:bodyPr wrap="square"/>
          <a:lstStyle/>
          <a:p>
            <a:pPr algn="l"/>
            <a:r>
              <a:rPr sz="1100" b="0" i="0">
                <a:solidFill>
                  <a:srgbClr val="FFFFFF"/>
                </a:solidFill>
                <a:latin typeface="Calibri"/>
              </a:rPr>
              <a:t>🔒  Caps par domaine :  même domaine → pas de cap  |  domaine adjacent (IT↔Ingénierie) → 62%  |  domaine différent → 44%  |  Floor minimum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Methodologie — Approche Agile Scrum</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Stage PFE 6 mois  |  6 Sprints d'1 mois  |  Fevrier 2026 - Aout 2026</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10 / 15</a:t>
            </a:r>
          </a:p>
        </p:txBody>
      </p:sp>
      <p:sp>
        <p:nvSpPr>
          <p:cNvPr id="12" name="Rectangle 11"/>
          <p:cNvSpPr/>
          <p:nvPr/>
        </p:nvSpPr>
        <p:spPr>
          <a:xfrm>
            <a:off x="347472" y="1572768"/>
            <a:ext cx="11475720" cy="76200"/>
          </a:xfrm>
          <a:prstGeom prst="rect">
            <a:avLst/>
          </a:prstGeom>
          <a:solidFill>
            <a:srgbClr val="CC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472" y="1572768"/>
            <a:ext cx="5733288" cy="762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80760" y="1572768"/>
            <a:ext cx="1911095" cy="76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 y="1700784"/>
            <a:ext cx="822960" cy="203200"/>
          </a:xfrm>
          <a:prstGeom prst="rect">
            <a:avLst/>
          </a:prstGeom>
          <a:noFill/>
        </p:spPr>
        <p:txBody>
          <a:bodyPr wrap="square"/>
          <a:lstStyle/>
          <a:p>
            <a:pPr algn="ctr"/>
            <a:r>
              <a:rPr sz="900" b="0" i="0">
                <a:solidFill>
                  <a:srgbClr val="6B7280"/>
                </a:solidFill>
                <a:latin typeface="Calibri"/>
              </a:rPr>
              <a:t>Fev</a:t>
            </a:r>
          </a:p>
        </p:txBody>
      </p:sp>
      <p:sp>
        <p:nvSpPr>
          <p:cNvPr id="17" name="Rectangle 16"/>
          <p:cNvSpPr/>
          <p:nvPr/>
        </p:nvSpPr>
        <p:spPr>
          <a:xfrm>
            <a:off x="2258568"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02536" y="1700784"/>
            <a:ext cx="822960" cy="203200"/>
          </a:xfrm>
          <a:prstGeom prst="rect">
            <a:avLst/>
          </a:prstGeom>
          <a:noFill/>
        </p:spPr>
        <p:txBody>
          <a:bodyPr wrap="square"/>
          <a:lstStyle/>
          <a:p>
            <a:pPr algn="ctr"/>
            <a:r>
              <a:rPr sz="900" b="0" i="0">
                <a:solidFill>
                  <a:srgbClr val="6B7280"/>
                </a:solidFill>
                <a:latin typeface="Calibri"/>
              </a:rPr>
              <a:t>Mar</a:t>
            </a:r>
          </a:p>
        </p:txBody>
      </p:sp>
      <p:sp>
        <p:nvSpPr>
          <p:cNvPr id="19" name="Rectangle 18"/>
          <p:cNvSpPr/>
          <p:nvPr/>
        </p:nvSpPr>
        <p:spPr>
          <a:xfrm>
            <a:off x="4169663"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13631" y="1700784"/>
            <a:ext cx="822960" cy="203200"/>
          </a:xfrm>
          <a:prstGeom prst="rect">
            <a:avLst/>
          </a:prstGeom>
          <a:noFill/>
        </p:spPr>
        <p:txBody>
          <a:bodyPr wrap="square"/>
          <a:lstStyle/>
          <a:p>
            <a:pPr algn="ctr"/>
            <a:r>
              <a:rPr sz="900" b="0" i="0">
                <a:solidFill>
                  <a:srgbClr val="6B7280"/>
                </a:solidFill>
                <a:latin typeface="Calibri"/>
              </a:rPr>
              <a:t>Avr</a:t>
            </a:r>
          </a:p>
        </p:txBody>
      </p:sp>
      <p:sp>
        <p:nvSpPr>
          <p:cNvPr id="21" name="Rectangle 20"/>
          <p:cNvSpPr/>
          <p:nvPr/>
        </p:nvSpPr>
        <p:spPr>
          <a:xfrm>
            <a:off x="6071616"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15584" y="1700784"/>
            <a:ext cx="822960" cy="203200"/>
          </a:xfrm>
          <a:prstGeom prst="rect">
            <a:avLst/>
          </a:prstGeom>
          <a:noFill/>
        </p:spPr>
        <p:txBody>
          <a:bodyPr wrap="square"/>
          <a:lstStyle/>
          <a:p>
            <a:pPr algn="ctr"/>
            <a:r>
              <a:rPr sz="900" b="0" i="0">
                <a:solidFill>
                  <a:srgbClr val="6B7280"/>
                </a:solidFill>
                <a:latin typeface="Calibri"/>
              </a:rPr>
              <a:t>Mai</a:t>
            </a:r>
          </a:p>
        </p:txBody>
      </p:sp>
      <p:sp>
        <p:nvSpPr>
          <p:cNvPr id="23" name="Rectangle 22"/>
          <p:cNvSpPr/>
          <p:nvPr/>
        </p:nvSpPr>
        <p:spPr>
          <a:xfrm>
            <a:off x="7973568"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7536" y="1700784"/>
            <a:ext cx="822960" cy="203200"/>
          </a:xfrm>
          <a:prstGeom prst="rect">
            <a:avLst/>
          </a:prstGeom>
          <a:noFill/>
        </p:spPr>
        <p:txBody>
          <a:bodyPr wrap="square"/>
          <a:lstStyle/>
          <a:p>
            <a:pPr algn="ctr"/>
            <a:r>
              <a:rPr sz="900" b="0" i="0">
                <a:solidFill>
                  <a:srgbClr val="6B7280"/>
                </a:solidFill>
                <a:latin typeface="Calibri"/>
              </a:rPr>
              <a:t>Juin</a:t>
            </a:r>
          </a:p>
        </p:txBody>
      </p:sp>
      <p:sp>
        <p:nvSpPr>
          <p:cNvPr id="25" name="Rectangle 24"/>
          <p:cNvSpPr/>
          <p:nvPr/>
        </p:nvSpPr>
        <p:spPr>
          <a:xfrm>
            <a:off x="9875520"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19488" y="1700784"/>
            <a:ext cx="822960" cy="203200"/>
          </a:xfrm>
          <a:prstGeom prst="rect">
            <a:avLst/>
          </a:prstGeom>
          <a:noFill/>
        </p:spPr>
        <p:txBody>
          <a:bodyPr wrap="square"/>
          <a:lstStyle/>
          <a:p>
            <a:pPr algn="ctr"/>
            <a:r>
              <a:rPr sz="900" b="0" i="0">
                <a:solidFill>
                  <a:srgbClr val="6B7280"/>
                </a:solidFill>
                <a:latin typeface="Calibri"/>
              </a:rPr>
              <a:t>Juil</a:t>
            </a:r>
          </a:p>
        </p:txBody>
      </p:sp>
      <p:sp>
        <p:nvSpPr>
          <p:cNvPr id="27" name="Rectangle 26"/>
          <p:cNvSpPr/>
          <p:nvPr/>
        </p:nvSpPr>
        <p:spPr>
          <a:xfrm>
            <a:off x="11475720"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19688" y="1700784"/>
            <a:ext cx="822960" cy="203200"/>
          </a:xfrm>
          <a:prstGeom prst="rect">
            <a:avLst/>
          </a:prstGeom>
          <a:noFill/>
        </p:spPr>
        <p:txBody>
          <a:bodyPr wrap="square"/>
          <a:lstStyle/>
          <a:p>
            <a:pPr algn="ctr"/>
            <a:r>
              <a:rPr sz="900" b="0" i="0">
                <a:solidFill>
                  <a:srgbClr val="6B7280"/>
                </a:solidFill>
                <a:latin typeface="Calibri"/>
              </a:rPr>
              <a:t>Aout</a:t>
            </a:r>
          </a:p>
        </p:txBody>
      </p:sp>
      <p:sp>
        <p:nvSpPr>
          <p:cNvPr id="29" name="Rectangle 28"/>
          <p:cNvSpPr/>
          <p:nvPr/>
        </p:nvSpPr>
        <p:spPr>
          <a:xfrm>
            <a:off x="6035040" y="1435608"/>
            <a:ext cx="38100" cy="457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376672" y="1188720"/>
            <a:ext cx="1417320" cy="2794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94960" y="1197864"/>
            <a:ext cx="1389888" cy="228600"/>
          </a:xfrm>
          <a:prstGeom prst="rect">
            <a:avLst/>
          </a:prstGeom>
          <a:noFill/>
        </p:spPr>
        <p:txBody>
          <a:bodyPr wrap="square"/>
          <a:lstStyle/>
          <a:p>
            <a:pPr algn="ctr"/>
            <a:r>
              <a:rPr sz="750" b="1" i="0">
                <a:solidFill>
                  <a:srgbClr val="FFFFFF"/>
                </a:solidFill>
                <a:latin typeface="Calibri"/>
              </a:rPr>
              <a:t>1ere restitution</a:t>
            </a:r>
          </a:p>
        </p:txBody>
      </p:sp>
      <p:sp>
        <p:nvSpPr>
          <p:cNvPr id="32" name="Rectangle 31"/>
          <p:cNvSpPr/>
          <p:nvPr/>
        </p:nvSpPr>
        <p:spPr>
          <a:xfrm>
            <a:off x="385572"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47472"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47472" y="1938528"/>
            <a:ext cx="63500" cy="4224528"/>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47472" y="1938528"/>
            <a:ext cx="1847088" cy="5943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6372" y="1956816"/>
            <a:ext cx="1188720" cy="304800"/>
          </a:xfrm>
          <a:prstGeom prst="rect">
            <a:avLst/>
          </a:prstGeom>
          <a:noFill/>
        </p:spPr>
        <p:txBody>
          <a:bodyPr wrap="square"/>
          <a:lstStyle/>
          <a:p>
            <a:pPr algn="l"/>
            <a:r>
              <a:rPr sz="1400" b="1" i="0">
                <a:solidFill>
                  <a:srgbClr val="FFFFFF"/>
                </a:solidFill>
                <a:latin typeface="Calibri"/>
              </a:rPr>
              <a:t>Sprint 1</a:t>
            </a:r>
          </a:p>
        </p:txBody>
      </p:sp>
      <p:sp>
        <p:nvSpPr>
          <p:cNvPr id="37" name="Rectangle 36"/>
          <p:cNvSpPr/>
          <p:nvPr/>
        </p:nvSpPr>
        <p:spPr>
          <a:xfrm>
            <a:off x="1549400"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49400" y="2029968"/>
            <a:ext cx="594360" cy="203200"/>
          </a:xfrm>
          <a:prstGeom prst="rect">
            <a:avLst/>
          </a:prstGeom>
          <a:noFill/>
        </p:spPr>
        <p:txBody>
          <a:bodyPr wrap="square"/>
          <a:lstStyle/>
          <a:p>
            <a:pPr algn="ctr"/>
            <a:r>
              <a:rPr sz="800" b="1" i="0">
                <a:solidFill>
                  <a:srgbClr val="10B981"/>
                </a:solidFill>
                <a:latin typeface="Calibri"/>
              </a:rPr>
              <a:t>OK</a:t>
            </a:r>
          </a:p>
        </p:txBody>
      </p:sp>
      <p:sp>
        <p:nvSpPr>
          <p:cNvPr id="39" name="TextBox 38"/>
          <p:cNvSpPr txBox="1"/>
          <p:nvPr/>
        </p:nvSpPr>
        <p:spPr>
          <a:xfrm>
            <a:off x="436372" y="2560320"/>
            <a:ext cx="1720088" cy="228600"/>
          </a:xfrm>
          <a:prstGeom prst="rect">
            <a:avLst/>
          </a:prstGeom>
          <a:noFill/>
        </p:spPr>
        <p:txBody>
          <a:bodyPr wrap="square"/>
          <a:lstStyle/>
          <a:p>
            <a:pPr algn="l"/>
            <a:r>
              <a:rPr sz="800" b="0" i="1">
                <a:solidFill>
                  <a:srgbClr val="6B7280"/>
                </a:solidFill>
                <a:latin typeface="Calibri"/>
              </a:rPr>
              <a:t>Fevrier 2026</a:t>
            </a:r>
          </a:p>
        </p:txBody>
      </p:sp>
      <p:sp>
        <p:nvSpPr>
          <p:cNvPr id="40" name="Rectangle 39"/>
          <p:cNvSpPr/>
          <p:nvPr/>
        </p:nvSpPr>
        <p:spPr>
          <a:xfrm>
            <a:off x="423672"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6372" y="2816352"/>
            <a:ext cx="1694688" cy="3200400"/>
          </a:xfrm>
          <a:prstGeom prst="rect">
            <a:avLst/>
          </a:prstGeom>
          <a:noFill/>
        </p:spPr>
        <p:txBody>
          <a:bodyPr wrap="square">
            <a:spAutoFit/>
          </a:bodyPr>
          <a:lstStyle/>
          <a:p>
            <a:pPr algn="l"/>
            <a:r>
              <a:rPr sz="1050">
                <a:solidFill>
                  <a:srgbClr val="1A1A2E"/>
                </a:solidFill>
                <a:latin typeface="Calibri"/>
              </a:rPr>
              <a:t> &gt; Cahier des charges</a:t>
            </a:r>
          </a:p>
          <a:p>
            <a:pPr algn="l"/>
            <a:r>
              <a:rPr sz="1050">
                <a:solidFill>
                  <a:srgbClr val="1A1A2E"/>
                </a:solidFill>
                <a:latin typeface="Calibri"/>
              </a:rPr>
              <a:t> &gt; Conception UML</a:t>
            </a:r>
          </a:p>
          <a:p>
            <a:pPr algn="l"/>
            <a:r>
              <a:rPr sz="1050">
                <a:solidFill>
                  <a:srgbClr val="1A1A2E"/>
                </a:solidFill>
                <a:latin typeface="Calibri"/>
              </a:rPr>
              <a:t> &gt; Architecture technique</a:t>
            </a:r>
          </a:p>
          <a:p>
            <a:pPr algn="l"/>
            <a:r>
              <a:rPr sz="1050">
                <a:solidFill>
                  <a:srgbClr val="1A1A2E"/>
                </a:solidFill>
                <a:latin typeface="Calibri"/>
              </a:rPr>
              <a:t> &gt; Setup environnement</a:t>
            </a:r>
          </a:p>
          <a:p>
            <a:pPr algn="l"/>
            <a:r>
              <a:rPr sz="1050">
                <a:solidFill>
                  <a:srgbClr val="1A1A2E"/>
                </a:solidFill>
                <a:latin typeface="Calibri"/>
              </a:rPr>
              <a:t> &gt; (backend, BDD, frontend)</a:t>
            </a:r>
          </a:p>
        </p:txBody>
      </p:sp>
      <p:sp>
        <p:nvSpPr>
          <p:cNvPr id="42" name="TextBox 41"/>
          <p:cNvSpPr txBox="1"/>
          <p:nvPr/>
        </p:nvSpPr>
        <p:spPr>
          <a:xfrm>
            <a:off x="2207260" y="3931920"/>
            <a:ext cx="128524" cy="304800"/>
          </a:xfrm>
          <a:prstGeom prst="rect">
            <a:avLst/>
          </a:prstGeom>
          <a:noFill/>
        </p:spPr>
        <p:txBody>
          <a:bodyPr wrap="square"/>
          <a:lstStyle/>
          <a:p>
            <a:pPr algn="ctr"/>
            <a:r>
              <a:rPr sz="1100" b="1" i="0">
                <a:solidFill>
                  <a:srgbClr val="E88710"/>
                </a:solidFill>
                <a:latin typeface="Calibri"/>
              </a:rPr>
              <a:t>&gt;</a:t>
            </a:r>
          </a:p>
        </p:txBody>
      </p:sp>
      <p:sp>
        <p:nvSpPr>
          <p:cNvPr id="43" name="Rectangle 42"/>
          <p:cNvSpPr/>
          <p:nvPr/>
        </p:nvSpPr>
        <p:spPr>
          <a:xfrm>
            <a:off x="2310384"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272284"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272284" y="1938528"/>
            <a:ext cx="63500" cy="4224528"/>
          </a:xfrm>
          <a:prstGeom prst="rect">
            <a:avLst/>
          </a:prstGeom>
          <a:solidFill>
            <a:srgbClr val="1A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272284" y="1938528"/>
            <a:ext cx="1847088" cy="594360"/>
          </a:xfrm>
          <a:prstGeom prst="rect">
            <a:avLst/>
          </a:prstGeom>
          <a:solidFill>
            <a:srgbClr val="1A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361184" y="1956816"/>
            <a:ext cx="1188720" cy="304800"/>
          </a:xfrm>
          <a:prstGeom prst="rect">
            <a:avLst/>
          </a:prstGeom>
          <a:noFill/>
        </p:spPr>
        <p:txBody>
          <a:bodyPr wrap="square"/>
          <a:lstStyle/>
          <a:p>
            <a:pPr algn="l"/>
            <a:r>
              <a:rPr sz="1400" b="1" i="0">
                <a:solidFill>
                  <a:srgbClr val="FFFFFF"/>
                </a:solidFill>
                <a:latin typeface="Calibri"/>
              </a:rPr>
              <a:t>Sprint 2</a:t>
            </a:r>
          </a:p>
        </p:txBody>
      </p:sp>
      <p:sp>
        <p:nvSpPr>
          <p:cNvPr id="48" name="Rectangle 47"/>
          <p:cNvSpPr/>
          <p:nvPr/>
        </p:nvSpPr>
        <p:spPr>
          <a:xfrm>
            <a:off x="3474212"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4212" y="2029968"/>
            <a:ext cx="594360" cy="203200"/>
          </a:xfrm>
          <a:prstGeom prst="rect">
            <a:avLst/>
          </a:prstGeom>
          <a:noFill/>
        </p:spPr>
        <p:txBody>
          <a:bodyPr wrap="square"/>
          <a:lstStyle/>
          <a:p>
            <a:pPr algn="ctr"/>
            <a:r>
              <a:rPr sz="800" b="1" i="0">
                <a:solidFill>
                  <a:srgbClr val="10B981"/>
                </a:solidFill>
                <a:latin typeface="Calibri"/>
              </a:rPr>
              <a:t>OK</a:t>
            </a:r>
          </a:p>
        </p:txBody>
      </p:sp>
      <p:sp>
        <p:nvSpPr>
          <p:cNvPr id="50" name="TextBox 49"/>
          <p:cNvSpPr txBox="1"/>
          <p:nvPr/>
        </p:nvSpPr>
        <p:spPr>
          <a:xfrm>
            <a:off x="2361184" y="2560320"/>
            <a:ext cx="1720088" cy="228600"/>
          </a:xfrm>
          <a:prstGeom prst="rect">
            <a:avLst/>
          </a:prstGeom>
          <a:noFill/>
        </p:spPr>
        <p:txBody>
          <a:bodyPr wrap="square"/>
          <a:lstStyle/>
          <a:p>
            <a:pPr algn="l"/>
            <a:r>
              <a:rPr sz="800" b="0" i="1">
                <a:solidFill>
                  <a:srgbClr val="6B7280"/>
                </a:solidFill>
                <a:latin typeface="Calibri"/>
              </a:rPr>
              <a:t>Mars 2026</a:t>
            </a:r>
          </a:p>
        </p:txBody>
      </p:sp>
      <p:sp>
        <p:nvSpPr>
          <p:cNvPr id="51" name="Rectangle 50"/>
          <p:cNvSpPr/>
          <p:nvPr/>
        </p:nvSpPr>
        <p:spPr>
          <a:xfrm>
            <a:off x="2348484"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61184" y="2816352"/>
            <a:ext cx="1694688" cy="3200400"/>
          </a:xfrm>
          <a:prstGeom prst="rect">
            <a:avLst/>
          </a:prstGeom>
          <a:noFill/>
        </p:spPr>
        <p:txBody>
          <a:bodyPr wrap="square">
            <a:spAutoFit/>
          </a:bodyPr>
          <a:lstStyle/>
          <a:p>
            <a:pPr algn="l"/>
            <a:r>
              <a:rPr sz="1050">
                <a:solidFill>
                  <a:srgbClr val="1A1A2E"/>
                </a:solidFill>
                <a:latin typeface="Calibri"/>
              </a:rPr>
              <a:t> &gt; Upload CV (PDF/DOCX)</a:t>
            </a:r>
          </a:p>
          <a:p>
            <a:pPr algn="l"/>
            <a:r>
              <a:rPr sz="1050">
                <a:solidFill>
                  <a:srgbClr val="1A1A2E"/>
                </a:solidFill>
                <a:latin typeface="Calibri"/>
              </a:rPr>
              <a:t> &gt; Extraction texte</a:t>
            </a:r>
          </a:p>
          <a:p>
            <a:pPr algn="l"/>
            <a:r>
              <a:rPr sz="1050">
                <a:solidFill>
                  <a:srgbClr val="1A1A2E"/>
                </a:solidFill>
                <a:latin typeface="Calibri"/>
              </a:rPr>
              <a:t> &gt; Integration OCR</a:t>
            </a:r>
          </a:p>
          <a:p>
            <a:pPr algn="l"/>
            <a:r>
              <a:rPr sz="1050">
                <a:solidFill>
                  <a:srgbClr val="1A1A2E"/>
                </a:solidFill>
                <a:latin typeface="Calibri"/>
              </a:rPr>
              <a:t> &gt; (EasyOCR)</a:t>
            </a:r>
          </a:p>
          <a:p>
            <a:pPr algn="l"/>
            <a:r>
              <a:rPr sz="1050">
                <a:solidFill>
                  <a:srgbClr val="1A1A2E"/>
                </a:solidFill>
                <a:latin typeface="Calibri"/>
              </a:rPr>
              <a:t> &gt; Stockage BDD</a:t>
            </a:r>
          </a:p>
        </p:txBody>
      </p:sp>
      <p:sp>
        <p:nvSpPr>
          <p:cNvPr id="53" name="TextBox 52"/>
          <p:cNvSpPr txBox="1"/>
          <p:nvPr/>
        </p:nvSpPr>
        <p:spPr>
          <a:xfrm>
            <a:off x="4132072" y="3931920"/>
            <a:ext cx="128524" cy="304800"/>
          </a:xfrm>
          <a:prstGeom prst="rect">
            <a:avLst/>
          </a:prstGeom>
          <a:noFill/>
        </p:spPr>
        <p:txBody>
          <a:bodyPr wrap="square"/>
          <a:lstStyle/>
          <a:p>
            <a:pPr algn="ctr"/>
            <a:r>
              <a:rPr sz="1100" b="1" i="0">
                <a:solidFill>
                  <a:srgbClr val="E88710"/>
                </a:solidFill>
                <a:latin typeface="Calibri"/>
              </a:rPr>
              <a:t>&gt;</a:t>
            </a:r>
          </a:p>
        </p:txBody>
      </p:sp>
      <p:sp>
        <p:nvSpPr>
          <p:cNvPr id="54" name="Rectangle 53"/>
          <p:cNvSpPr/>
          <p:nvPr/>
        </p:nvSpPr>
        <p:spPr>
          <a:xfrm>
            <a:off x="4235196"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197096"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197096" y="1938528"/>
            <a:ext cx="63500" cy="4224528"/>
          </a:xfrm>
          <a:prstGeom prst="rect">
            <a:avLst/>
          </a:prstGeom>
          <a:solidFill>
            <a:srgbClr val="0D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197096" y="1938528"/>
            <a:ext cx="1847088" cy="594360"/>
          </a:xfrm>
          <a:prstGeom prst="rect">
            <a:avLst/>
          </a:prstGeom>
          <a:solidFill>
            <a:srgbClr val="0D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285996" y="1956816"/>
            <a:ext cx="1188720" cy="304800"/>
          </a:xfrm>
          <a:prstGeom prst="rect">
            <a:avLst/>
          </a:prstGeom>
          <a:noFill/>
        </p:spPr>
        <p:txBody>
          <a:bodyPr wrap="square"/>
          <a:lstStyle/>
          <a:p>
            <a:pPr algn="l"/>
            <a:r>
              <a:rPr sz="1400" b="1" i="0">
                <a:solidFill>
                  <a:srgbClr val="FFFFFF"/>
                </a:solidFill>
                <a:latin typeface="Calibri"/>
              </a:rPr>
              <a:t>Sprint 3</a:t>
            </a:r>
          </a:p>
        </p:txBody>
      </p:sp>
      <p:sp>
        <p:nvSpPr>
          <p:cNvPr id="59" name="Rectangle 58"/>
          <p:cNvSpPr/>
          <p:nvPr/>
        </p:nvSpPr>
        <p:spPr>
          <a:xfrm>
            <a:off x="5399024"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399024" y="2029968"/>
            <a:ext cx="594360" cy="203200"/>
          </a:xfrm>
          <a:prstGeom prst="rect">
            <a:avLst/>
          </a:prstGeom>
          <a:noFill/>
        </p:spPr>
        <p:txBody>
          <a:bodyPr wrap="square"/>
          <a:lstStyle/>
          <a:p>
            <a:pPr algn="ctr"/>
            <a:r>
              <a:rPr sz="800" b="1" i="0">
                <a:solidFill>
                  <a:srgbClr val="10B981"/>
                </a:solidFill>
                <a:latin typeface="Calibri"/>
              </a:rPr>
              <a:t>OK</a:t>
            </a:r>
          </a:p>
        </p:txBody>
      </p:sp>
      <p:sp>
        <p:nvSpPr>
          <p:cNvPr id="61" name="TextBox 60"/>
          <p:cNvSpPr txBox="1"/>
          <p:nvPr/>
        </p:nvSpPr>
        <p:spPr>
          <a:xfrm>
            <a:off x="4285996" y="2560320"/>
            <a:ext cx="1720088" cy="228600"/>
          </a:xfrm>
          <a:prstGeom prst="rect">
            <a:avLst/>
          </a:prstGeom>
          <a:noFill/>
        </p:spPr>
        <p:txBody>
          <a:bodyPr wrap="square"/>
          <a:lstStyle/>
          <a:p>
            <a:pPr algn="l"/>
            <a:r>
              <a:rPr sz="800" b="0" i="1">
                <a:solidFill>
                  <a:srgbClr val="6B7280"/>
                </a:solidFill>
                <a:latin typeface="Calibri"/>
              </a:rPr>
              <a:t>Avril 2026</a:t>
            </a:r>
          </a:p>
        </p:txBody>
      </p:sp>
      <p:sp>
        <p:nvSpPr>
          <p:cNvPr id="62" name="Rectangle 61"/>
          <p:cNvSpPr/>
          <p:nvPr/>
        </p:nvSpPr>
        <p:spPr>
          <a:xfrm>
            <a:off x="4273296"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285996" y="2816352"/>
            <a:ext cx="1694688" cy="3200400"/>
          </a:xfrm>
          <a:prstGeom prst="rect">
            <a:avLst/>
          </a:prstGeom>
          <a:noFill/>
        </p:spPr>
        <p:txBody>
          <a:bodyPr wrap="square">
            <a:spAutoFit/>
          </a:bodyPr>
          <a:lstStyle/>
          <a:p>
            <a:pPr algn="l"/>
            <a:r>
              <a:rPr sz="1050">
                <a:solidFill>
                  <a:srgbClr val="1A1A2E"/>
                </a:solidFill>
                <a:latin typeface="Calibri"/>
              </a:rPr>
              <a:t> &gt; Pipeline NLP spaCy</a:t>
            </a:r>
          </a:p>
          <a:p>
            <a:pPr algn="l"/>
            <a:r>
              <a:rPr sz="1050">
                <a:solidFill>
                  <a:srgbClr val="1A1A2E"/>
                </a:solidFill>
                <a:latin typeface="Calibri"/>
              </a:rPr>
              <a:t> &gt; Extraction skills</a:t>
            </a:r>
          </a:p>
          <a:p>
            <a:pPr algn="l"/>
            <a:r>
              <a:rPr sz="1050">
                <a:solidFill>
                  <a:srgbClr val="1A1A2E"/>
                </a:solidFill>
                <a:latin typeface="Calibri"/>
              </a:rPr>
              <a:t> &gt; Extraction experiences</a:t>
            </a:r>
          </a:p>
          <a:p>
            <a:pPr algn="l"/>
            <a:r>
              <a:rPr sz="1050">
                <a:solidFill>
                  <a:srgbClr val="1A1A2E"/>
                </a:solidFill>
                <a:latin typeface="Calibri"/>
              </a:rPr>
              <a:t> &gt; Extraction formations</a:t>
            </a:r>
          </a:p>
          <a:p>
            <a:pPr algn="l"/>
            <a:r>
              <a:rPr sz="1050">
                <a:solidFill>
                  <a:srgbClr val="1A1A2E"/>
                </a:solidFill>
                <a:latin typeface="Calibri"/>
              </a:rPr>
              <a:t> &gt; Tests unitaires</a:t>
            </a:r>
          </a:p>
        </p:txBody>
      </p:sp>
      <p:sp>
        <p:nvSpPr>
          <p:cNvPr id="64" name="TextBox 63"/>
          <p:cNvSpPr txBox="1"/>
          <p:nvPr/>
        </p:nvSpPr>
        <p:spPr>
          <a:xfrm>
            <a:off x="6056884" y="3931920"/>
            <a:ext cx="128524" cy="304800"/>
          </a:xfrm>
          <a:prstGeom prst="rect">
            <a:avLst/>
          </a:prstGeom>
          <a:noFill/>
        </p:spPr>
        <p:txBody>
          <a:bodyPr wrap="square"/>
          <a:lstStyle/>
          <a:p>
            <a:pPr algn="ctr"/>
            <a:r>
              <a:rPr sz="1100" b="1" i="0">
                <a:solidFill>
                  <a:srgbClr val="E88710"/>
                </a:solidFill>
                <a:latin typeface="Calibri"/>
              </a:rPr>
              <a:t>&gt;</a:t>
            </a:r>
          </a:p>
        </p:txBody>
      </p:sp>
      <p:sp>
        <p:nvSpPr>
          <p:cNvPr id="65" name="Rectangle 64"/>
          <p:cNvSpPr/>
          <p:nvPr/>
        </p:nvSpPr>
        <p:spPr>
          <a:xfrm>
            <a:off x="6160008"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121908"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121908" y="1938528"/>
            <a:ext cx="63500" cy="4224528"/>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121908" y="1938528"/>
            <a:ext cx="1847088" cy="5943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0808" y="1956816"/>
            <a:ext cx="1188720" cy="304800"/>
          </a:xfrm>
          <a:prstGeom prst="rect">
            <a:avLst/>
          </a:prstGeom>
          <a:noFill/>
        </p:spPr>
        <p:txBody>
          <a:bodyPr wrap="square"/>
          <a:lstStyle/>
          <a:p>
            <a:pPr algn="l"/>
            <a:r>
              <a:rPr sz="1400" b="1" i="0">
                <a:solidFill>
                  <a:srgbClr val="FFFFFF"/>
                </a:solidFill>
                <a:latin typeface="Calibri"/>
              </a:rPr>
              <a:t>Sprint 4</a:t>
            </a:r>
          </a:p>
        </p:txBody>
      </p:sp>
      <p:sp>
        <p:nvSpPr>
          <p:cNvPr id="70" name="Rectangle 69"/>
          <p:cNvSpPr/>
          <p:nvPr/>
        </p:nvSpPr>
        <p:spPr>
          <a:xfrm>
            <a:off x="7323836"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23836" y="2029968"/>
            <a:ext cx="594360" cy="203200"/>
          </a:xfrm>
          <a:prstGeom prst="rect">
            <a:avLst/>
          </a:prstGeom>
          <a:noFill/>
        </p:spPr>
        <p:txBody>
          <a:bodyPr wrap="square"/>
          <a:lstStyle/>
          <a:p>
            <a:pPr algn="ctr"/>
            <a:r>
              <a:rPr sz="800" b="1" i="0">
                <a:solidFill>
                  <a:srgbClr val="E88710"/>
                </a:solidFill>
                <a:latin typeface="Calibri"/>
              </a:rPr>
              <a:t>...</a:t>
            </a:r>
          </a:p>
        </p:txBody>
      </p:sp>
      <p:sp>
        <p:nvSpPr>
          <p:cNvPr id="72" name="TextBox 71"/>
          <p:cNvSpPr txBox="1"/>
          <p:nvPr/>
        </p:nvSpPr>
        <p:spPr>
          <a:xfrm>
            <a:off x="6210808" y="2560320"/>
            <a:ext cx="1720088" cy="228600"/>
          </a:xfrm>
          <a:prstGeom prst="rect">
            <a:avLst/>
          </a:prstGeom>
          <a:noFill/>
        </p:spPr>
        <p:txBody>
          <a:bodyPr wrap="square"/>
          <a:lstStyle/>
          <a:p>
            <a:pPr algn="l"/>
            <a:r>
              <a:rPr sz="800" b="0" i="1">
                <a:solidFill>
                  <a:srgbClr val="6B7280"/>
                </a:solidFill>
                <a:latin typeface="Calibri"/>
              </a:rPr>
              <a:t>Mai 2026</a:t>
            </a:r>
          </a:p>
        </p:txBody>
      </p:sp>
      <p:sp>
        <p:nvSpPr>
          <p:cNvPr id="73" name="Rectangle 72"/>
          <p:cNvSpPr/>
          <p:nvPr/>
        </p:nvSpPr>
        <p:spPr>
          <a:xfrm>
            <a:off x="6198108"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10808" y="2816352"/>
            <a:ext cx="1694688" cy="3200400"/>
          </a:xfrm>
          <a:prstGeom prst="rect">
            <a:avLst/>
          </a:prstGeom>
          <a:noFill/>
        </p:spPr>
        <p:txBody>
          <a:bodyPr wrap="square">
            <a:spAutoFit/>
          </a:bodyPr>
          <a:lstStyle/>
          <a:p>
            <a:pPr algn="l"/>
            <a:r>
              <a:rPr sz="1050">
                <a:solidFill>
                  <a:srgbClr val="1A1A2E"/>
                </a:solidFill>
                <a:latin typeface="Calibri"/>
              </a:rPr>
              <a:t> &gt; BERT / CamemBERT</a:t>
            </a:r>
          </a:p>
          <a:p>
            <a:pPr algn="l"/>
            <a:r>
              <a:rPr sz="1050">
                <a:solidFill>
                  <a:srgbClr val="1A1A2E"/>
                </a:solidFill>
                <a:latin typeface="Calibri"/>
              </a:rPr>
              <a:t> &gt; Matching candidat-offre</a:t>
            </a:r>
          </a:p>
          <a:p>
            <a:pPr algn="l"/>
            <a:r>
              <a:rPr sz="1050">
                <a:solidFill>
                  <a:srgbClr val="1A1A2E"/>
                </a:solidFill>
                <a:latin typeface="Calibri"/>
              </a:rPr>
              <a:t> &gt; Score IA (0-100%)</a:t>
            </a:r>
          </a:p>
          <a:p>
            <a:pPr algn="l"/>
            <a:r>
              <a:rPr sz="1050">
                <a:solidFill>
                  <a:srgbClr val="1A1A2E"/>
                </a:solidFill>
                <a:latin typeface="Calibri"/>
              </a:rPr>
              <a:t> &gt; Dashboard RH</a:t>
            </a:r>
          </a:p>
          <a:p>
            <a:pPr algn="l"/>
            <a:r>
              <a:rPr sz="1050">
                <a:solidFill>
                  <a:srgbClr val="1A1A2E"/>
                </a:solidFill>
                <a:latin typeface="Calibri"/>
              </a:rPr>
              <a:t> &gt; Optimisation perfs</a:t>
            </a:r>
          </a:p>
        </p:txBody>
      </p:sp>
      <p:sp>
        <p:nvSpPr>
          <p:cNvPr id="75" name="TextBox 74"/>
          <p:cNvSpPr txBox="1"/>
          <p:nvPr/>
        </p:nvSpPr>
        <p:spPr>
          <a:xfrm>
            <a:off x="7981696" y="3931920"/>
            <a:ext cx="128524" cy="304800"/>
          </a:xfrm>
          <a:prstGeom prst="rect">
            <a:avLst/>
          </a:prstGeom>
          <a:noFill/>
        </p:spPr>
        <p:txBody>
          <a:bodyPr wrap="square"/>
          <a:lstStyle/>
          <a:p>
            <a:pPr algn="ctr"/>
            <a:r>
              <a:rPr sz="1100" b="1" i="0">
                <a:solidFill>
                  <a:srgbClr val="E88710"/>
                </a:solidFill>
                <a:latin typeface="Calibri"/>
              </a:rPr>
              <a:t>&gt;</a:t>
            </a:r>
          </a:p>
        </p:txBody>
      </p:sp>
      <p:sp>
        <p:nvSpPr>
          <p:cNvPr id="76" name="Rectangle 75"/>
          <p:cNvSpPr/>
          <p:nvPr/>
        </p:nvSpPr>
        <p:spPr>
          <a:xfrm>
            <a:off x="8084820"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046720" y="1938528"/>
            <a:ext cx="1847088" cy="42245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8046720" y="1938528"/>
            <a:ext cx="63500" cy="4224528"/>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8046720" y="1938528"/>
            <a:ext cx="1847088" cy="59436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135620" y="1956816"/>
            <a:ext cx="1188720" cy="304800"/>
          </a:xfrm>
          <a:prstGeom prst="rect">
            <a:avLst/>
          </a:prstGeom>
          <a:noFill/>
        </p:spPr>
        <p:txBody>
          <a:bodyPr wrap="square"/>
          <a:lstStyle/>
          <a:p>
            <a:pPr algn="l"/>
            <a:r>
              <a:rPr sz="1400" b="1" i="0">
                <a:solidFill>
                  <a:srgbClr val="FFFFFF"/>
                </a:solidFill>
                <a:latin typeface="Calibri"/>
              </a:rPr>
              <a:t>Sprint 5</a:t>
            </a:r>
          </a:p>
        </p:txBody>
      </p:sp>
      <p:sp>
        <p:nvSpPr>
          <p:cNvPr id="81" name="Rectangle 80"/>
          <p:cNvSpPr/>
          <p:nvPr/>
        </p:nvSpPr>
        <p:spPr>
          <a:xfrm>
            <a:off x="9248648"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248648" y="2029968"/>
            <a:ext cx="594360" cy="203200"/>
          </a:xfrm>
          <a:prstGeom prst="rect">
            <a:avLst/>
          </a:prstGeom>
          <a:noFill/>
        </p:spPr>
        <p:txBody>
          <a:bodyPr wrap="square"/>
          <a:lstStyle/>
          <a:p>
            <a:pPr algn="ctr"/>
            <a:r>
              <a:rPr sz="800" b="1" i="0">
                <a:solidFill>
                  <a:srgbClr val="6B7280"/>
                </a:solidFill>
                <a:latin typeface="Calibri"/>
              </a:rPr>
              <a:t>TODO</a:t>
            </a:r>
          </a:p>
        </p:txBody>
      </p:sp>
      <p:sp>
        <p:nvSpPr>
          <p:cNvPr id="83" name="TextBox 82"/>
          <p:cNvSpPr txBox="1"/>
          <p:nvPr/>
        </p:nvSpPr>
        <p:spPr>
          <a:xfrm>
            <a:off x="8135620" y="2560320"/>
            <a:ext cx="1720088" cy="228600"/>
          </a:xfrm>
          <a:prstGeom prst="rect">
            <a:avLst/>
          </a:prstGeom>
          <a:noFill/>
        </p:spPr>
        <p:txBody>
          <a:bodyPr wrap="square"/>
          <a:lstStyle/>
          <a:p>
            <a:pPr algn="l"/>
            <a:r>
              <a:rPr sz="800" b="0" i="1">
                <a:solidFill>
                  <a:srgbClr val="6B7280"/>
                </a:solidFill>
                <a:latin typeface="Calibri"/>
              </a:rPr>
              <a:t>Juin 2026</a:t>
            </a:r>
          </a:p>
        </p:txBody>
      </p:sp>
      <p:sp>
        <p:nvSpPr>
          <p:cNvPr id="84" name="Rectangle 83"/>
          <p:cNvSpPr/>
          <p:nvPr/>
        </p:nvSpPr>
        <p:spPr>
          <a:xfrm>
            <a:off x="8122920"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135620" y="2816352"/>
            <a:ext cx="1694688" cy="3200400"/>
          </a:xfrm>
          <a:prstGeom prst="rect">
            <a:avLst/>
          </a:prstGeom>
          <a:noFill/>
        </p:spPr>
        <p:txBody>
          <a:bodyPr wrap="square">
            <a:spAutoFit/>
          </a:bodyPr>
          <a:lstStyle/>
          <a:p>
            <a:pPr algn="l"/>
            <a:r>
              <a:rPr sz="1050">
                <a:solidFill>
                  <a:srgbClr val="AAAAAA"/>
                </a:solidFill>
                <a:latin typeface="Calibri"/>
              </a:rPr>
              <a:t> &gt; Securite &amp; Auth</a:t>
            </a:r>
          </a:p>
          <a:p>
            <a:pPr algn="l"/>
            <a:r>
              <a:rPr sz="1050">
                <a:solidFill>
                  <a:srgbClr val="AAAAAA"/>
                </a:solidFill>
                <a:latin typeface="Calibri"/>
              </a:rPr>
              <a:t> &gt; Roles &amp; RGPD</a:t>
            </a:r>
          </a:p>
          <a:p>
            <a:pPr algn="l"/>
            <a:r>
              <a:rPr sz="1050">
                <a:solidFill>
                  <a:srgbClr val="AAAAAA"/>
                </a:solidFill>
                <a:latin typeface="Calibri"/>
              </a:rPr>
              <a:t> &gt; Tests integration</a:t>
            </a:r>
          </a:p>
          <a:p>
            <a:pPr algn="l"/>
            <a:r>
              <a:rPr sz="1050">
                <a:solidFill>
                  <a:srgbClr val="AAAAAA"/>
                </a:solidFill>
                <a:latin typeface="Calibri"/>
              </a:rPr>
              <a:t> &gt; Ameliorations UX</a:t>
            </a:r>
          </a:p>
          <a:p>
            <a:pPr algn="l"/>
            <a:r>
              <a:rPr sz="1050">
                <a:solidFill>
                  <a:srgbClr val="AAAAAA"/>
                </a:solidFill>
                <a:latin typeface="Calibri"/>
              </a:rPr>
              <a:t> &gt; Notifications</a:t>
            </a:r>
          </a:p>
        </p:txBody>
      </p:sp>
      <p:sp>
        <p:nvSpPr>
          <p:cNvPr id="86" name="TextBox 85"/>
          <p:cNvSpPr txBox="1"/>
          <p:nvPr/>
        </p:nvSpPr>
        <p:spPr>
          <a:xfrm>
            <a:off x="9906508" y="3931920"/>
            <a:ext cx="128524" cy="304800"/>
          </a:xfrm>
          <a:prstGeom prst="rect">
            <a:avLst/>
          </a:prstGeom>
          <a:noFill/>
        </p:spPr>
        <p:txBody>
          <a:bodyPr wrap="square"/>
          <a:lstStyle/>
          <a:p>
            <a:pPr algn="ctr"/>
            <a:r>
              <a:rPr sz="1100" b="1" i="0">
                <a:solidFill>
                  <a:srgbClr val="E88710"/>
                </a:solidFill>
                <a:latin typeface="Calibri"/>
              </a:rPr>
              <a:t>&gt;</a:t>
            </a:r>
          </a:p>
        </p:txBody>
      </p:sp>
      <p:sp>
        <p:nvSpPr>
          <p:cNvPr id="87" name="Rectangle 86"/>
          <p:cNvSpPr/>
          <p:nvPr/>
        </p:nvSpPr>
        <p:spPr>
          <a:xfrm>
            <a:off x="10009632"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971532" y="1938528"/>
            <a:ext cx="1847088" cy="42245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9971532" y="1938528"/>
            <a:ext cx="63500" cy="4224528"/>
          </a:xfrm>
          <a:prstGeom prst="rect">
            <a:avLst/>
          </a:prstGeom>
          <a:solidFill>
            <a:srgbClr val="555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971532" y="1938528"/>
            <a:ext cx="1847088" cy="594360"/>
          </a:xfrm>
          <a:prstGeom prst="rect">
            <a:avLst/>
          </a:prstGeom>
          <a:solidFill>
            <a:srgbClr val="555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060432" y="1956816"/>
            <a:ext cx="1188720" cy="304800"/>
          </a:xfrm>
          <a:prstGeom prst="rect">
            <a:avLst/>
          </a:prstGeom>
          <a:noFill/>
        </p:spPr>
        <p:txBody>
          <a:bodyPr wrap="square"/>
          <a:lstStyle/>
          <a:p>
            <a:pPr algn="l"/>
            <a:r>
              <a:rPr sz="1400" b="1" i="0">
                <a:solidFill>
                  <a:srgbClr val="FFFFFF"/>
                </a:solidFill>
                <a:latin typeface="Calibri"/>
              </a:rPr>
              <a:t>Sprint 6</a:t>
            </a:r>
          </a:p>
        </p:txBody>
      </p:sp>
      <p:sp>
        <p:nvSpPr>
          <p:cNvPr id="92" name="Rectangle 91"/>
          <p:cNvSpPr/>
          <p:nvPr/>
        </p:nvSpPr>
        <p:spPr>
          <a:xfrm>
            <a:off x="11173460"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173460" y="2029968"/>
            <a:ext cx="594360" cy="203200"/>
          </a:xfrm>
          <a:prstGeom prst="rect">
            <a:avLst/>
          </a:prstGeom>
          <a:noFill/>
        </p:spPr>
        <p:txBody>
          <a:bodyPr wrap="square"/>
          <a:lstStyle/>
          <a:p>
            <a:pPr algn="ctr"/>
            <a:r>
              <a:rPr sz="800" b="1" i="0">
                <a:solidFill>
                  <a:srgbClr val="6B7280"/>
                </a:solidFill>
                <a:latin typeface="Calibri"/>
              </a:rPr>
              <a:t>TODO</a:t>
            </a:r>
          </a:p>
        </p:txBody>
      </p:sp>
      <p:sp>
        <p:nvSpPr>
          <p:cNvPr id="94" name="TextBox 93"/>
          <p:cNvSpPr txBox="1"/>
          <p:nvPr/>
        </p:nvSpPr>
        <p:spPr>
          <a:xfrm>
            <a:off x="10060432" y="2560320"/>
            <a:ext cx="1720088" cy="228600"/>
          </a:xfrm>
          <a:prstGeom prst="rect">
            <a:avLst/>
          </a:prstGeom>
          <a:noFill/>
        </p:spPr>
        <p:txBody>
          <a:bodyPr wrap="square"/>
          <a:lstStyle/>
          <a:p>
            <a:pPr algn="l"/>
            <a:r>
              <a:rPr sz="800" b="0" i="1">
                <a:solidFill>
                  <a:srgbClr val="6B7280"/>
                </a:solidFill>
                <a:latin typeface="Calibri"/>
              </a:rPr>
              <a:t>Juil - Aout 2026</a:t>
            </a:r>
          </a:p>
        </p:txBody>
      </p:sp>
      <p:sp>
        <p:nvSpPr>
          <p:cNvPr id="95" name="Rectangle 94"/>
          <p:cNvSpPr/>
          <p:nvPr/>
        </p:nvSpPr>
        <p:spPr>
          <a:xfrm>
            <a:off x="10047732"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060432" y="2816352"/>
            <a:ext cx="1694688" cy="3200400"/>
          </a:xfrm>
          <a:prstGeom prst="rect">
            <a:avLst/>
          </a:prstGeom>
          <a:noFill/>
        </p:spPr>
        <p:txBody>
          <a:bodyPr wrap="square">
            <a:spAutoFit/>
          </a:bodyPr>
          <a:lstStyle/>
          <a:p>
            <a:pPr algn="l"/>
            <a:r>
              <a:rPr sz="1050">
                <a:solidFill>
                  <a:srgbClr val="AAAAAA"/>
                </a:solidFill>
                <a:latin typeface="Calibri"/>
              </a:rPr>
              <a:t> &gt; Validation finale</a:t>
            </a:r>
          </a:p>
          <a:p>
            <a:pPr algn="l"/>
            <a:r>
              <a:rPr sz="1050">
                <a:solidFill>
                  <a:srgbClr val="AAAAAA"/>
                </a:solidFill>
                <a:latin typeface="Calibri"/>
              </a:rPr>
              <a:t> &gt; Documentation</a:t>
            </a:r>
          </a:p>
          <a:p>
            <a:pPr algn="l"/>
            <a:r>
              <a:rPr sz="1050">
                <a:solidFill>
                  <a:srgbClr val="AAAAAA"/>
                </a:solidFill>
                <a:latin typeface="Calibri"/>
              </a:rPr>
              <a:t> &gt; Deploiement</a:t>
            </a:r>
          </a:p>
          <a:p>
            <a:pPr algn="l"/>
            <a:r>
              <a:rPr sz="1050">
                <a:solidFill>
                  <a:srgbClr val="AAAAAA"/>
                </a:solidFill>
                <a:latin typeface="Calibri"/>
              </a:rPr>
              <a:t> &gt; Preparation soutenance</a:t>
            </a:r>
          </a:p>
        </p:txBody>
      </p:sp>
      <p:sp>
        <p:nvSpPr>
          <p:cNvPr id="97" name="Rectangle 96"/>
          <p:cNvSpPr/>
          <p:nvPr/>
        </p:nvSpPr>
        <p:spPr>
          <a:xfrm>
            <a:off x="347472" y="6373368"/>
            <a:ext cx="11475720" cy="203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2920" y="6387084"/>
            <a:ext cx="11155680" cy="177800"/>
          </a:xfrm>
          <a:prstGeom prst="rect">
            <a:avLst/>
          </a:prstGeom>
          <a:noFill/>
        </p:spPr>
        <p:txBody>
          <a:bodyPr wrap="square"/>
          <a:lstStyle/>
          <a:p>
            <a:pPr algn="l"/>
            <a:r>
              <a:rPr sz="900" b="0" i="0">
                <a:solidFill>
                  <a:srgbClr val="AABBCC"/>
                </a:solidFill>
                <a:latin typeface="Calibri"/>
              </a:rPr>
              <a:t>Agile Scrum  |  Reviews regulieres avec encadrantes  |  Git  |  VS Code  |  PyCharm  |  Postman  |  Trello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Avancement actuel — Fonctionnalites livrees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11 / 15</a:t>
            </a:r>
          </a:p>
        </p:txBody>
      </p:sp>
      <p:sp>
        <p:nvSpPr>
          <p:cNvPr id="11" name="Rectangle 10"/>
          <p:cNvSpPr/>
          <p:nvPr/>
        </p:nvSpPr>
        <p:spPr>
          <a:xfrm>
            <a:off x="36576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81480"/>
            <a:ext cx="3474720" cy="330200"/>
          </a:xfrm>
          <a:prstGeom prst="rect">
            <a:avLst/>
          </a:prstGeom>
          <a:noFill/>
        </p:spPr>
        <p:txBody>
          <a:bodyPr wrap="square"/>
          <a:lstStyle/>
          <a:p>
            <a:pPr algn="l"/>
            <a:r>
              <a:rPr sz="1300" b="1" i="0">
                <a:solidFill>
                  <a:srgbClr val="10B981"/>
                </a:solidFill>
                <a:latin typeface="Calibri"/>
              </a:rPr>
              <a:t>🔐 Authentification</a:t>
            </a:r>
          </a:p>
        </p:txBody>
      </p:sp>
      <p:sp>
        <p:nvSpPr>
          <p:cNvPr id="14" name="TextBox 13"/>
          <p:cNvSpPr txBox="1"/>
          <p:nvPr/>
        </p:nvSpPr>
        <p:spPr>
          <a:xfrm>
            <a:off x="502920" y="2037080"/>
            <a:ext cx="3474720" cy="1590040"/>
          </a:xfrm>
          <a:prstGeom prst="rect">
            <a:avLst/>
          </a:prstGeom>
          <a:noFill/>
        </p:spPr>
        <p:txBody>
          <a:bodyPr wrap="square">
            <a:spAutoFit/>
          </a:bodyPr>
          <a:lstStyle/>
          <a:p>
            <a:pPr algn="l"/>
            <a:r>
              <a:rPr sz="1150">
                <a:solidFill>
                  <a:srgbClr val="1A1A2E"/>
                </a:solidFill>
                <a:latin typeface="Calibri"/>
              </a:rPr>
              <a:t>  ›  JWT Bearer + Refresh token</a:t>
            </a:r>
          </a:p>
          <a:p>
            <a:pPr algn="l"/>
            <a:r>
              <a:rPr sz="1150">
                <a:solidFill>
                  <a:srgbClr val="1A1A2E"/>
                </a:solidFill>
                <a:latin typeface="Calibri"/>
              </a:rPr>
              <a:t>  ›  OAuth Google &amp; LinkedIn</a:t>
            </a:r>
          </a:p>
          <a:p>
            <a:pPr algn="l"/>
            <a:r>
              <a:rPr sz="1150">
                <a:solidFill>
                  <a:srgbClr val="1A1A2E"/>
                </a:solidFill>
                <a:latin typeface="Calibri"/>
              </a:rPr>
              <a:t>  ›  Vérification email (SMTP)</a:t>
            </a:r>
          </a:p>
          <a:p>
            <a:pPr algn="l"/>
            <a:r>
              <a:rPr sz="1150">
                <a:solidFill>
                  <a:srgbClr val="1A1A2E"/>
                </a:solidFill>
                <a:latin typeface="Calibri"/>
              </a:rPr>
              <a:t>  ›  3 rôles : candidat / recruteur / admin</a:t>
            </a:r>
          </a:p>
        </p:txBody>
      </p:sp>
      <p:sp>
        <p:nvSpPr>
          <p:cNvPr id="15" name="Rectangle 14"/>
          <p:cNvSpPr/>
          <p:nvPr/>
        </p:nvSpPr>
        <p:spPr>
          <a:xfrm>
            <a:off x="429768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1681480"/>
            <a:ext cx="3474720" cy="330200"/>
          </a:xfrm>
          <a:prstGeom prst="rect">
            <a:avLst/>
          </a:prstGeom>
          <a:noFill/>
        </p:spPr>
        <p:txBody>
          <a:bodyPr wrap="square"/>
          <a:lstStyle/>
          <a:p>
            <a:pPr algn="l"/>
            <a:r>
              <a:rPr sz="1300" b="1" i="0">
                <a:solidFill>
                  <a:srgbClr val="10B981"/>
                </a:solidFill>
                <a:latin typeface="Calibri"/>
              </a:rPr>
              <a:t>📄 Extraction CV</a:t>
            </a:r>
          </a:p>
        </p:txBody>
      </p:sp>
      <p:sp>
        <p:nvSpPr>
          <p:cNvPr id="18" name="TextBox 17"/>
          <p:cNvSpPr txBox="1"/>
          <p:nvPr/>
        </p:nvSpPr>
        <p:spPr>
          <a:xfrm>
            <a:off x="4434840" y="2037080"/>
            <a:ext cx="3474720" cy="1590040"/>
          </a:xfrm>
          <a:prstGeom prst="rect">
            <a:avLst/>
          </a:prstGeom>
          <a:noFill/>
        </p:spPr>
        <p:txBody>
          <a:bodyPr wrap="square">
            <a:spAutoFit/>
          </a:bodyPr>
          <a:lstStyle/>
          <a:p>
            <a:pPr algn="l"/>
            <a:r>
              <a:rPr sz="1150">
                <a:solidFill>
                  <a:srgbClr val="1A1A2E"/>
                </a:solidFill>
                <a:latin typeface="Calibri"/>
              </a:rPr>
              <a:t>  ›  PDF textuel (PyMuPDF)</a:t>
            </a:r>
          </a:p>
          <a:p>
            <a:pPr algn="l"/>
            <a:r>
              <a:rPr sz="1150">
                <a:solidFill>
                  <a:srgbClr val="1A1A2E"/>
                </a:solidFill>
                <a:latin typeface="Calibri"/>
              </a:rPr>
              <a:t>  ›  DOCX (python-docx)</a:t>
            </a:r>
          </a:p>
          <a:p>
            <a:pPr algn="l"/>
            <a:r>
              <a:rPr sz="1150">
                <a:solidFill>
                  <a:srgbClr val="1A1A2E"/>
                </a:solidFill>
                <a:latin typeface="Calibri"/>
              </a:rPr>
              <a:t>  ›  PDF scanné (OCR Tesseract)</a:t>
            </a:r>
          </a:p>
          <a:p>
            <a:pPr algn="l"/>
            <a:r>
              <a:rPr sz="1150">
                <a:solidFill>
                  <a:srgbClr val="1A1A2E"/>
                </a:solidFill>
                <a:latin typeface="Calibri"/>
              </a:rPr>
              <a:t>  ›  Formats : PDF, DOCX, PNG, JPG</a:t>
            </a:r>
          </a:p>
        </p:txBody>
      </p:sp>
      <p:sp>
        <p:nvSpPr>
          <p:cNvPr id="19" name="Rectangle 18"/>
          <p:cNvSpPr/>
          <p:nvPr/>
        </p:nvSpPr>
        <p:spPr>
          <a:xfrm>
            <a:off x="822960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1681480"/>
            <a:ext cx="3474720" cy="330200"/>
          </a:xfrm>
          <a:prstGeom prst="rect">
            <a:avLst/>
          </a:prstGeom>
          <a:noFill/>
        </p:spPr>
        <p:txBody>
          <a:bodyPr wrap="square"/>
          <a:lstStyle/>
          <a:p>
            <a:pPr algn="l"/>
            <a:r>
              <a:rPr sz="1300" b="1" i="0">
                <a:solidFill>
                  <a:srgbClr val="10B981"/>
                </a:solidFill>
                <a:latin typeface="Calibri"/>
              </a:rPr>
              <a:t>🧠 NLP Parser</a:t>
            </a:r>
          </a:p>
        </p:txBody>
      </p:sp>
      <p:sp>
        <p:nvSpPr>
          <p:cNvPr id="22" name="TextBox 21"/>
          <p:cNvSpPr txBox="1"/>
          <p:nvPr/>
        </p:nvSpPr>
        <p:spPr>
          <a:xfrm>
            <a:off x="8366760" y="2037080"/>
            <a:ext cx="3474720" cy="1590040"/>
          </a:xfrm>
          <a:prstGeom prst="rect">
            <a:avLst/>
          </a:prstGeom>
          <a:noFill/>
        </p:spPr>
        <p:txBody>
          <a:bodyPr wrap="square">
            <a:spAutoFit/>
          </a:bodyPr>
          <a:lstStyle/>
          <a:p>
            <a:pPr algn="l"/>
            <a:r>
              <a:rPr sz="1150">
                <a:solidFill>
                  <a:srgbClr val="1A1A2E"/>
                </a:solidFill>
                <a:latin typeface="Calibri"/>
              </a:rPr>
              <a:t>  ›  spaCy fr_core_news_md</a:t>
            </a:r>
          </a:p>
          <a:p>
            <a:pPr algn="l"/>
            <a:r>
              <a:rPr sz="1150">
                <a:solidFill>
                  <a:srgbClr val="1A1A2E"/>
                </a:solidFill>
                <a:latin typeface="Calibri"/>
              </a:rPr>
              <a:t>  ›  Extraction : compétences, expériences,
formations, contact</a:t>
            </a:r>
          </a:p>
          <a:p>
            <a:pPr algn="l"/>
            <a:r>
              <a:rPr sz="1150">
                <a:solidFill>
                  <a:srgbClr val="1A1A2E"/>
                </a:solidFill>
                <a:latin typeface="Calibri"/>
              </a:rPr>
              <a:t>  ›  Support FR + EN</a:t>
            </a:r>
          </a:p>
          <a:p>
            <a:pPr algn="l"/>
            <a:r>
              <a:rPr sz="1150">
                <a:solidFill>
                  <a:srgbClr val="1A1A2E"/>
                </a:solidFill>
                <a:latin typeface="Calibri"/>
              </a:rPr>
              <a:t>  ›  Détection domaine métier (14 domaines)</a:t>
            </a:r>
          </a:p>
        </p:txBody>
      </p:sp>
      <p:sp>
        <p:nvSpPr>
          <p:cNvPr id="23" name="Rectangle 22"/>
          <p:cNvSpPr/>
          <p:nvPr/>
        </p:nvSpPr>
        <p:spPr>
          <a:xfrm>
            <a:off x="36576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88620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013200"/>
            <a:ext cx="3474720" cy="330200"/>
          </a:xfrm>
          <a:prstGeom prst="rect">
            <a:avLst/>
          </a:prstGeom>
          <a:noFill/>
        </p:spPr>
        <p:txBody>
          <a:bodyPr wrap="square"/>
          <a:lstStyle/>
          <a:p>
            <a:pPr algn="l"/>
            <a:r>
              <a:rPr sz="1300" b="1" i="0">
                <a:solidFill>
                  <a:srgbClr val="10B981"/>
                </a:solidFill>
                <a:latin typeface="Calibri"/>
              </a:rPr>
              <a:t>🤖 Matching IA</a:t>
            </a:r>
          </a:p>
        </p:txBody>
      </p:sp>
      <p:sp>
        <p:nvSpPr>
          <p:cNvPr id="26" name="TextBox 25"/>
          <p:cNvSpPr txBox="1"/>
          <p:nvPr/>
        </p:nvSpPr>
        <p:spPr>
          <a:xfrm>
            <a:off x="502920" y="4368800"/>
            <a:ext cx="3474720" cy="1590040"/>
          </a:xfrm>
          <a:prstGeom prst="rect">
            <a:avLst/>
          </a:prstGeom>
          <a:noFill/>
        </p:spPr>
        <p:txBody>
          <a:bodyPr wrap="square">
            <a:spAutoFit/>
          </a:bodyPr>
          <a:lstStyle/>
          <a:p>
            <a:pPr algn="l"/>
            <a:r>
              <a:rPr sz="1150">
                <a:solidFill>
                  <a:srgbClr val="1A1A2E"/>
                </a:solidFill>
                <a:latin typeface="Calibri"/>
              </a:rPr>
              <a:t>  ›  BERT v2.0 fine-tuné (4 966 CVs)</a:t>
            </a:r>
          </a:p>
          <a:p>
            <a:pPr algn="l"/>
            <a:r>
              <a:rPr sz="1150">
                <a:solidFill>
                  <a:srgbClr val="1A1A2E"/>
                </a:solidFill>
                <a:latin typeface="Calibri"/>
              </a:rPr>
              <a:t>  ›  MLP 5D calibré (val_loss 0.00070)</a:t>
            </a:r>
          </a:p>
          <a:p>
            <a:pPr algn="l"/>
            <a:r>
              <a:rPr sz="1150">
                <a:solidFill>
                  <a:srgbClr val="1A1A2E"/>
                </a:solidFill>
                <a:latin typeface="Calibri"/>
              </a:rPr>
              <a:t>  ›  Score 0–100% + décision</a:t>
            </a:r>
          </a:p>
          <a:p>
            <a:pPr algn="l"/>
            <a:r>
              <a:rPr sz="1150">
                <a:solidFill>
                  <a:srgbClr val="1A1A2E"/>
                </a:solidFill>
                <a:latin typeface="Calibri"/>
              </a:rPr>
              <a:t>  ›  Caps par domaine métier</a:t>
            </a:r>
          </a:p>
        </p:txBody>
      </p:sp>
      <p:sp>
        <p:nvSpPr>
          <p:cNvPr id="27" name="Rectangle 26"/>
          <p:cNvSpPr/>
          <p:nvPr/>
        </p:nvSpPr>
        <p:spPr>
          <a:xfrm>
            <a:off x="429768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388620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4013200"/>
            <a:ext cx="3474720" cy="330200"/>
          </a:xfrm>
          <a:prstGeom prst="rect">
            <a:avLst/>
          </a:prstGeom>
          <a:noFill/>
        </p:spPr>
        <p:txBody>
          <a:bodyPr wrap="square"/>
          <a:lstStyle/>
          <a:p>
            <a:pPr algn="l"/>
            <a:r>
              <a:rPr sz="1300" b="1" i="0">
                <a:solidFill>
                  <a:srgbClr val="10B981"/>
                </a:solidFill>
                <a:latin typeface="Calibri"/>
              </a:rPr>
              <a:t>🔔 Notifications</a:t>
            </a:r>
          </a:p>
        </p:txBody>
      </p:sp>
      <p:sp>
        <p:nvSpPr>
          <p:cNvPr id="30" name="TextBox 29"/>
          <p:cNvSpPr txBox="1"/>
          <p:nvPr/>
        </p:nvSpPr>
        <p:spPr>
          <a:xfrm>
            <a:off x="4434840" y="4368800"/>
            <a:ext cx="3474720" cy="1590040"/>
          </a:xfrm>
          <a:prstGeom prst="rect">
            <a:avLst/>
          </a:prstGeom>
          <a:noFill/>
        </p:spPr>
        <p:txBody>
          <a:bodyPr wrap="square">
            <a:spAutoFit/>
          </a:bodyPr>
          <a:lstStyle/>
          <a:p>
            <a:pPr algn="l"/>
            <a:r>
              <a:rPr sz="1150">
                <a:solidFill>
                  <a:srgbClr val="1A1A2E"/>
                </a:solidFill>
                <a:latin typeface="Calibri"/>
              </a:rPr>
              <a:t>  ›  Email candidat (accepté / refusé)</a:t>
            </a:r>
          </a:p>
          <a:p>
            <a:pPr algn="l"/>
            <a:r>
              <a:rPr sz="1150">
                <a:solidFill>
                  <a:srgbClr val="1A1A2E"/>
                </a:solidFill>
                <a:latin typeface="Calibri"/>
              </a:rPr>
              <a:t>  ›  Cloche in-app (temps réel)</a:t>
            </a:r>
          </a:p>
          <a:p>
            <a:pPr algn="l"/>
            <a:r>
              <a:rPr sz="1150">
                <a:solidFill>
                  <a:srgbClr val="1A1A2E"/>
                </a:solidFill>
                <a:latin typeface="Calibri"/>
              </a:rPr>
              <a:t>  ›  Dashboard statistiques recruteur</a:t>
            </a:r>
          </a:p>
          <a:p>
            <a:pPr algn="l"/>
            <a:r>
              <a:rPr sz="1150">
                <a:solidFill>
                  <a:srgbClr val="1A1A2E"/>
                </a:solidFill>
                <a:latin typeface="Calibri"/>
              </a:rPr>
              <a:t>  ›  Logs d'accès RGPD</a:t>
            </a:r>
          </a:p>
        </p:txBody>
      </p:sp>
      <p:sp>
        <p:nvSpPr>
          <p:cNvPr id="31" name="Rectangle 30"/>
          <p:cNvSpPr/>
          <p:nvPr/>
        </p:nvSpPr>
        <p:spPr>
          <a:xfrm>
            <a:off x="822960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0" y="388620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4013200"/>
            <a:ext cx="3474720" cy="330200"/>
          </a:xfrm>
          <a:prstGeom prst="rect">
            <a:avLst/>
          </a:prstGeom>
          <a:noFill/>
        </p:spPr>
        <p:txBody>
          <a:bodyPr wrap="square"/>
          <a:lstStyle/>
          <a:p>
            <a:pPr algn="l"/>
            <a:r>
              <a:rPr sz="1300" b="1" i="0">
                <a:solidFill>
                  <a:srgbClr val="10B981"/>
                </a:solidFill>
                <a:latin typeface="Calibri"/>
              </a:rPr>
              <a:t>🖥️  Interface React</a:t>
            </a:r>
          </a:p>
        </p:txBody>
      </p:sp>
      <p:sp>
        <p:nvSpPr>
          <p:cNvPr id="34" name="TextBox 33"/>
          <p:cNvSpPr txBox="1"/>
          <p:nvPr/>
        </p:nvSpPr>
        <p:spPr>
          <a:xfrm>
            <a:off x="8366760" y="4368800"/>
            <a:ext cx="3474720" cy="1590040"/>
          </a:xfrm>
          <a:prstGeom prst="rect">
            <a:avLst/>
          </a:prstGeom>
          <a:noFill/>
        </p:spPr>
        <p:txBody>
          <a:bodyPr wrap="square">
            <a:spAutoFit/>
          </a:bodyPr>
          <a:lstStyle/>
          <a:p>
            <a:pPr algn="l"/>
            <a:r>
              <a:rPr sz="1150">
                <a:solidFill>
                  <a:srgbClr val="1A1A2E"/>
                </a:solidFill>
                <a:latin typeface="Calibri"/>
              </a:rPr>
              <a:t>  ›  Pages candidat, recruteur, admin</a:t>
            </a:r>
          </a:p>
          <a:p>
            <a:pPr algn="l"/>
            <a:r>
              <a:rPr sz="1150">
                <a:solidFill>
                  <a:srgbClr val="1A1A2E"/>
                </a:solidFill>
                <a:latin typeface="Calibri"/>
              </a:rPr>
              <a:t>  ›  Upload CV drag &amp; drop</a:t>
            </a:r>
          </a:p>
          <a:p>
            <a:pPr algn="l"/>
            <a:r>
              <a:rPr sz="1150">
                <a:solidFill>
                  <a:srgbClr val="1A1A2E"/>
                </a:solidFill>
                <a:latin typeface="Calibri"/>
              </a:rPr>
              <a:t>  ›  Tableau de bord matching</a:t>
            </a:r>
          </a:p>
          <a:p>
            <a:pPr algn="l"/>
            <a:r>
              <a:rPr sz="1150">
                <a:solidFill>
                  <a:srgbClr val="1A1A2E"/>
                </a:solidFill>
                <a:latin typeface="Calibri"/>
              </a:rPr>
              <a:t>  ›  Gestion des offres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Demonstration — Parcours type</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Upload CV -&gt; Matching IA -&gt; Decision recruteur</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12 / 15</a:t>
            </a:r>
          </a:p>
        </p:txBody>
      </p:sp>
      <p:sp>
        <p:nvSpPr>
          <p:cNvPr id="12" name="Rectangle 11"/>
          <p:cNvSpPr/>
          <p:nvPr/>
        </p:nvSpPr>
        <p:spPr>
          <a:xfrm>
            <a:off x="365760" y="155448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55448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560" y="1935480"/>
            <a:ext cx="914400" cy="355600"/>
          </a:xfrm>
          <a:prstGeom prst="rect">
            <a:avLst/>
          </a:prstGeom>
          <a:noFill/>
        </p:spPr>
        <p:txBody>
          <a:bodyPr wrap="square"/>
          <a:lstStyle/>
          <a:p>
            <a:pPr algn="ctr"/>
            <a:r>
              <a:rPr sz="1200" b="1" i="0">
                <a:solidFill>
                  <a:srgbClr val="FFFFFF"/>
                </a:solidFill>
                <a:latin typeface="Calibri"/>
              </a:rPr>
              <a:t>Étape 1</a:t>
            </a:r>
          </a:p>
        </p:txBody>
      </p:sp>
      <p:sp>
        <p:nvSpPr>
          <p:cNvPr id="15" name="TextBox 14"/>
          <p:cNvSpPr txBox="1"/>
          <p:nvPr/>
        </p:nvSpPr>
        <p:spPr>
          <a:xfrm>
            <a:off x="1417320" y="1732280"/>
            <a:ext cx="4480560" cy="330200"/>
          </a:xfrm>
          <a:prstGeom prst="rect">
            <a:avLst/>
          </a:prstGeom>
          <a:noFill/>
        </p:spPr>
        <p:txBody>
          <a:bodyPr wrap="square"/>
          <a:lstStyle/>
          <a:p>
            <a:pPr algn="l"/>
            <a:r>
              <a:rPr sz="1300" b="1" i="0">
                <a:solidFill>
                  <a:srgbClr val="0D1B3E"/>
                </a:solidFill>
                <a:latin typeface="Calibri"/>
              </a:rPr>
              <a:t>📄 Candidat uploade son CV</a:t>
            </a:r>
          </a:p>
        </p:txBody>
      </p:sp>
      <p:sp>
        <p:nvSpPr>
          <p:cNvPr id="16" name="TextBox 15"/>
          <p:cNvSpPr txBox="1"/>
          <p:nvPr/>
        </p:nvSpPr>
        <p:spPr>
          <a:xfrm>
            <a:off x="1417320" y="2087880"/>
            <a:ext cx="4480560" cy="1539240"/>
          </a:xfrm>
          <a:prstGeom prst="rect">
            <a:avLst/>
          </a:prstGeom>
          <a:noFill/>
        </p:spPr>
        <p:txBody>
          <a:bodyPr wrap="square"/>
          <a:lstStyle/>
          <a:p>
            <a:pPr algn="l"/>
            <a:r>
              <a:rPr sz="1150" b="0" i="0">
                <a:solidFill>
                  <a:srgbClr val="6B7280"/>
                </a:solidFill>
                <a:latin typeface="Calibri"/>
              </a:rPr>
              <a:t>Format PDF/DOCX → extraction automatique du texte
→ Parsing NLP : skills, expériences, formations extraits</a:t>
            </a:r>
          </a:p>
        </p:txBody>
      </p:sp>
      <p:sp>
        <p:nvSpPr>
          <p:cNvPr id="17" name="Rectangle 16"/>
          <p:cNvSpPr/>
          <p:nvPr/>
        </p:nvSpPr>
        <p:spPr>
          <a:xfrm>
            <a:off x="6309360" y="155448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155448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0160" y="1935480"/>
            <a:ext cx="914400" cy="355600"/>
          </a:xfrm>
          <a:prstGeom prst="rect">
            <a:avLst/>
          </a:prstGeom>
          <a:noFill/>
        </p:spPr>
        <p:txBody>
          <a:bodyPr wrap="square"/>
          <a:lstStyle/>
          <a:p>
            <a:pPr algn="ctr"/>
            <a:r>
              <a:rPr sz="1200" b="1" i="0">
                <a:solidFill>
                  <a:srgbClr val="FFFFFF"/>
                </a:solidFill>
                <a:latin typeface="Calibri"/>
              </a:rPr>
              <a:t>Étape 2</a:t>
            </a:r>
          </a:p>
        </p:txBody>
      </p:sp>
      <p:sp>
        <p:nvSpPr>
          <p:cNvPr id="20" name="TextBox 19"/>
          <p:cNvSpPr txBox="1"/>
          <p:nvPr/>
        </p:nvSpPr>
        <p:spPr>
          <a:xfrm>
            <a:off x="7360920" y="1732280"/>
            <a:ext cx="4480560" cy="330200"/>
          </a:xfrm>
          <a:prstGeom prst="rect">
            <a:avLst/>
          </a:prstGeom>
          <a:noFill/>
        </p:spPr>
        <p:txBody>
          <a:bodyPr wrap="square"/>
          <a:lstStyle/>
          <a:p>
            <a:pPr algn="l"/>
            <a:r>
              <a:rPr sz="1300" b="1" i="0">
                <a:solidFill>
                  <a:srgbClr val="0D1B3E"/>
                </a:solidFill>
                <a:latin typeface="Calibri"/>
              </a:rPr>
              <a:t>🔍 Recruteur lance le matching</a:t>
            </a:r>
          </a:p>
        </p:txBody>
      </p:sp>
      <p:sp>
        <p:nvSpPr>
          <p:cNvPr id="21" name="TextBox 20"/>
          <p:cNvSpPr txBox="1"/>
          <p:nvPr/>
        </p:nvSpPr>
        <p:spPr>
          <a:xfrm>
            <a:off x="7360920" y="2087880"/>
            <a:ext cx="4480560" cy="1539240"/>
          </a:xfrm>
          <a:prstGeom prst="rect">
            <a:avLst/>
          </a:prstGeom>
          <a:noFill/>
        </p:spPr>
        <p:txBody>
          <a:bodyPr wrap="square"/>
          <a:lstStyle/>
          <a:p>
            <a:pPr algn="l"/>
            <a:r>
              <a:rPr sz="1150" b="0" i="0">
                <a:solidFill>
                  <a:srgbClr val="6B7280"/>
                </a:solidFill>
                <a:latin typeface="Calibri"/>
              </a:rPr>
              <a:t>POST /api/match/{offer_id}
→ BERT calcule le score pour chaque candidat
→ Classement automatique</a:t>
            </a:r>
          </a:p>
        </p:txBody>
      </p:sp>
      <p:sp>
        <p:nvSpPr>
          <p:cNvPr id="22" name="Rectangle 21"/>
          <p:cNvSpPr/>
          <p:nvPr/>
        </p:nvSpPr>
        <p:spPr>
          <a:xfrm>
            <a:off x="365760" y="388620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388620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560" y="4267200"/>
            <a:ext cx="914400" cy="355600"/>
          </a:xfrm>
          <a:prstGeom prst="rect">
            <a:avLst/>
          </a:prstGeom>
          <a:noFill/>
        </p:spPr>
        <p:txBody>
          <a:bodyPr wrap="square"/>
          <a:lstStyle/>
          <a:p>
            <a:pPr algn="ctr"/>
            <a:r>
              <a:rPr sz="1200" b="1" i="0">
                <a:solidFill>
                  <a:srgbClr val="FFFFFF"/>
                </a:solidFill>
                <a:latin typeface="Calibri"/>
              </a:rPr>
              <a:t>Étape 3</a:t>
            </a:r>
          </a:p>
        </p:txBody>
      </p:sp>
      <p:sp>
        <p:nvSpPr>
          <p:cNvPr id="25" name="TextBox 24"/>
          <p:cNvSpPr txBox="1"/>
          <p:nvPr/>
        </p:nvSpPr>
        <p:spPr>
          <a:xfrm>
            <a:off x="1417320" y="4064000"/>
            <a:ext cx="4480560" cy="330200"/>
          </a:xfrm>
          <a:prstGeom prst="rect">
            <a:avLst/>
          </a:prstGeom>
          <a:noFill/>
        </p:spPr>
        <p:txBody>
          <a:bodyPr wrap="square"/>
          <a:lstStyle/>
          <a:p>
            <a:pPr algn="l"/>
            <a:r>
              <a:rPr sz="1300" b="1" i="0">
                <a:solidFill>
                  <a:srgbClr val="0D1B3E"/>
                </a:solidFill>
                <a:latin typeface="Calibri"/>
              </a:rPr>
              <a:t>📊 Résultats affichés</a:t>
            </a:r>
          </a:p>
        </p:txBody>
      </p:sp>
      <p:sp>
        <p:nvSpPr>
          <p:cNvPr id="26" name="TextBox 25"/>
          <p:cNvSpPr txBox="1"/>
          <p:nvPr/>
        </p:nvSpPr>
        <p:spPr>
          <a:xfrm>
            <a:off x="1417320" y="4419600"/>
            <a:ext cx="4480560" cy="1539240"/>
          </a:xfrm>
          <a:prstGeom prst="rect">
            <a:avLst/>
          </a:prstGeom>
          <a:noFill/>
        </p:spPr>
        <p:txBody>
          <a:bodyPr wrap="square"/>
          <a:lstStyle/>
          <a:p>
            <a:pPr algn="l"/>
            <a:r>
              <a:rPr sz="1150" b="0" i="0">
                <a:solidFill>
                  <a:srgbClr val="6B7280"/>
                </a:solidFill>
                <a:latin typeface="Calibri"/>
              </a:rPr>
              <a:t>Score 0–100% + décision
✅ Excellent  🟢 Bon profil  🟡 À évaluer  🔴 Non adapté
+ Skills matchées détaillées</a:t>
            </a:r>
          </a:p>
        </p:txBody>
      </p:sp>
      <p:sp>
        <p:nvSpPr>
          <p:cNvPr id="27" name="Rectangle 26"/>
          <p:cNvSpPr/>
          <p:nvPr/>
        </p:nvSpPr>
        <p:spPr>
          <a:xfrm>
            <a:off x="6309360" y="388620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0" y="388620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0160" y="4267200"/>
            <a:ext cx="914400" cy="355600"/>
          </a:xfrm>
          <a:prstGeom prst="rect">
            <a:avLst/>
          </a:prstGeom>
          <a:noFill/>
        </p:spPr>
        <p:txBody>
          <a:bodyPr wrap="square"/>
          <a:lstStyle/>
          <a:p>
            <a:pPr algn="ctr"/>
            <a:r>
              <a:rPr sz="1200" b="1" i="0">
                <a:solidFill>
                  <a:srgbClr val="FFFFFF"/>
                </a:solidFill>
                <a:latin typeface="Calibri"/>
              </a:rPr>
              <a:t>Étape 4</a:t>
            </a:r>
          </a:p>
        </p:txBody>
      </p:sp>
      <p:sp>
        <p:nvSpPr>
          <p:cNvPr id="30" name="TextBox 29"/>
          <p:cNvSpPr txBox="1"/>
          <p:nvPr/>
        </p:nvSpPr>
        <p:spPr>
          <a:xfrm>
            <a:off x="7360920" y="4064000"/>
            <a:ext cx="4480560" cy="330200"/>
          </a:xfrm>
          <a:prstGeom prst="rect">
            <a:avLst/>
          </a:prstGeom>
          <a:noFill/>
        </p:spPr>
        <p:txBody>
          <a:bodyPr wrap="square"/>
          <a:lstStyle/>
          <a:p>
            <a:pPr algn="l"/>
            <a:r>
              <a:rPr sz="1300" b="1" i="0">
                <a:solidFill>
                  <a:srgbClr val="0D1B3E"/>
                </a:solidFill>
                <a:latin typeface="Calibri"/>
              </a:rPr>
              <a:t>✅ Recruteur décide</a:t>
            </a:r>
          </a:p>
        </p:txBody>
      </p:sp>
      <p:sp>
        <p:nvSpPr>
          <p:cNvPr id="31" name="TextBox 30"/>
          <p:cNvSpPr txBox="1"/>
          <p:nvPr/>
        </p:nvSpPr>
        <p:spPr>
          <a:xfrm>
            <a:off x="7360920" y="4419600"/>
            <a:ext cx="4480560" cy="1539240"/>
          </a:xfrm>
          <a:prstGeom prst="rect">
            <a:avLst/>
          </a:prstGeom>
          <a:noFill/>
        </p:spPr>
        <p:txBody>
          <a:bodyPr wrap="square"/>
          <a:lstStyle/>
          <a:p>
            <a:pPr algn="l"/>
            <a:r>
              <a:rPr sz="1150" b="0" i="0">
                <a:solidFill>
                  <a:srgbClr val="6B7280"/>
                </a:solidFill>
                <a:latin typeface="Calibri"/>
              </a:rPr>
              <a:t>Accepte ou refuse en un clic
→ Email automatique au candidat
→ Notification in-app mise à jour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Conclusion</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13 / 15</a:t>
            </a:r>
          </a:p>
        </p:txBody>
      </p:sp>
      <p:sp>
        <p:nvSpPr>
          <p:cNvPr id="11" name="Rectangle 10"/>
          <p:cNvSpPr/>
          <p:nvPr/>
        </p:nvSpPr>
        <p:spPr>
          <a:xfrm>
            <a:off x="365760" y="1554480"/>
            <a:ext cx="777240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54480"/>
            <a:ext cx="63500" cy="4663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45920"/>
            <a:ext cx="7315200" cy="355600"/>
          </a:xfrm>
          <a:prstGeom prst="rect">
            <a:avLst/>
          </a:prstGeom>
          <a:noFill/>
        </p:spPr>
        <p:txBody>
          <a:bodyPr wrap="square"/>
          <a:lstStyle/>
          <a:p>
            <a:pPr algn="l"/>
            <a:r>
              <a:rPr sz="1400" b="1" i="0">
                <a:solidFill>
                  <a:srgbClr val="10B981"/>
                </a:solidFill>
                <a:latin typeface="Calibri"/>
              </a:rPr>
              <a:t>✅  Ce que TalentMatch apporte</a:t>
            </a:r>
          </a:p>
        </p:txBody>
      </p:sp>
      <p:sp>
        <p:nvSpPr>
          <p:cNvPr id="14" name="TextBox 13"/>
          <p:cNvSpPr txBox="1"/>
          <p:nvPr/>
        </p:nvSpPr>
        <p:spPr>
          <a:xfrm>
            <a:off x="548640" y="2057400"/>
            <a:ext cx="7406640" cy="3931920"/>
          </a:xfrm>
          <a:prstGeom prst="rect">
            <a:avLst/>
          </a:prstGeom>
          <a:noFill/>
        </p:spPr>
        <p:txBody>
          <a:bodyPr wrap="square">
            <a:spAutoFit/>
          </a:bodyPr>
          <a:lstStyle/>
          <a:p>
            <a:pPr algn="l"/>
            <a:r>
              <a:rPr sz="1300">
                <a:solidFill>
                  <a:srgbClr val="1A1A2E"/>
                </a:solidFill>
                <a:latin typeface="Calibri"/>
              </a:rPr>
              <a:t>  ›  Un pipeline IA end-to-end : de l'upload CV au score automatique</a:t>
            </a:r>
          </a:p>
          <a:p>
            <a:pPr algn="l"/>
            <a:r>
              <a:rPr sz="1300">
                <a:solidFill>
                  <a:srgbClr val="1A1A2E"/>
                </a:solidFill>
                <a:latin typeface="Calibri"/>
              </a:rPr>
              <a:t>  ›  Un modèle BERT fine-tuné sur données réelles FR+EN (4 966 CVs, 24 domaines)</a:t>
            </a:r>
          </a:p>
          <a:p>
            <a:pPr algn="l"/>
            <a:r>
              <a:rPr sz="1300">
                <a:solidFill>
                  <a:srgbClr val="1A1A2E"/>
                </a:solidFill>
                <a:latin typeface="Calibri"/>
              </a:rPr>
              <a:t>  ›  Un matching sémantique qui va au-delà des mots-clés</a:t>
            </a:r>
          </a:p>
          <a:p>
            <a:pPr algn="l"/>
            <a:r>
              <a:rPr sz="1300">
                <a:solidFill>
                  <a:srgbClr val="1A1A2E"/>
                </a:solidFill>
                <a:latin typeface="Calibri"/>
              </a:rPr>
              <a:t>  ›  Une interface complète : 3 rôles, notifications, dashboard, RGPD</a:t>
            </a:r>
          </a:p>
          <a:p>
            <a:pPr algn="l"/>
            <a:r>
              <a:rPr sz="1300">
                <a:solidFill>
                  <a:srgbClr val="1A1A2E"/>
                </a:solidFill>
                <a:latin typeface="Calibri"/>
              </a:rPr>
              <a:t>  ›  Un système extensible : nouveau moteur IA = 1 fichier à swapper</a:t>
            </a:r>
          </a:p>
          <a:p>
            <a:pPr algn="l"/>
            <a:r>
              <a:rPr sz="1300">
                <a:solidFill>
                  <a:srgbClr val="1A1A2E"/>
                </a:solidFill>
                <a:latin typeface="Calibri"/>
              </a:rPr>
              <a:t>  ›  Une réduction estimée de 70% du temps de tri pour le recruteur</a:t>
            </a:r>
          </a:p>
        </p:txBody>
      </p:sp>
      <p:sp>
        <p:nvSpPr>
          <p:cNvPr id="15" name="Rectangle 14"/>
          <p:cNvSpPr/>
          <p:nvPr/>
        </p:nvSpPr>
        <p:spPr>
          <a:xfrm>
            <a:off x="8412480" y="1554480"/>
            <a:ext cx="338328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1554480"/>
            <a:ext cx="63500" cy="4663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645920"/>
            <a:ext cx="3108960" cy="355600"/>
          </a:xfrm>
          <a:prstGeom prst="rect">
            <a:avLst/>
          </a:prstGeom>
          <a:noFill/>
        </p:spPr>
        <p:txBody>
          <a:bodyPr wrap="square"/>
          <a:lstStyle/>
          <a:p>
            <a:pPr algn="l"/>
            <a:r>
              <a:rPr sz="1400" b="1" i="0">
                <a:solidFill>
                  <a:srgbClr val="1E5CAA"/>
                </a:solidFill>
                <a:latin typeface="Calibri"/>
              </a:rPr>
              <a:t>🎓  Acquis du stage</a:t>
            </a:r>
          </a:p>
        </p:txBody>
      </p:sp>
      <p:sp>
        <p:nvSpPr>
          <p:cNvPr id="18" name="TextBox 17"/>
          <p:cNvSpPr txBox="1"/>
          <p:nvPr/>
        </p:nvSpPr>
        <p:spPr>
          <a:xfrm>
            <a:off x="8595360" y="2057400"/>
            <a:ext cx="3017520" cy="3931920"/>
          </a:xfrm>
          <a:prstGeom prst="rect">
            <a:avLst/>
          </a:prstGeom>
          <a:noFill/>
        </p:spPr>
        <p:txBody>
          <a:bodyPr wrap="square">
            <a:spAutoFit/>
          </a:bodyPr>
          <a:lstStyle/>
          <a:p>
            <a:pPr algn="l"/>
            <a:r>
              <a:rPr sz="1300">
                <a:solidFill>
                  <a:srgbClr val="1A1A2E"/>
                </a:solidFill>
                <a:latin typeface="Calibri"/>
              </a:rPr>
              <a:t>  ›  Fine-tuning BERT / Transformers</a:t>
            </a:r>
          </a:p>
          <a:p>
            <a:pPr algn="l"/>
            <a:r>
              <a:rPr sz="1300">
                <a:solidFill>
                  <a:srgbClr val="1A1A2E"/>
                </a:solidFill>
                <a:latin typeface="Calibri"/>
              </a:rPr>
              <a:t>  ›  NLP Pipeline français</a:t>
            </a:r>
          </a:p>
          <a:p>
            <a:pPr algn="l"/>
            <a:r>
              <a:rPr sz="1300">
                <a:solidFill>
                  <a:srgbClr val="1A1A2E"/>
                </a:solidFill>
                <a:latin typeface="Calibri"/>
              </a:rPr>
              <a:t>  ›  FastAPI production-ready</a:t>
            </a:r>
          </a:p>
          <a:p>
            <a:pPr algn="l"/>
            <a:r>
              <a:rPr sz="1300">
                <a:solidFill>
                  <a:srgbClr val="1A1A2E"/>
                </a:solidFill>
                <a:latin typeface="Calibri"/>
              </a:rPr>
              <a:t>  ›  React SPA + Auth JWT</a:t>
            </a:r>
          </a:p>
          <a:p>
            <a:pPr algn="l"/>
            <a:r>
              <a:rPr sz="1300">
                <a:solidFill>
                  <a:srgbClr val="1A1A2E"/>
                </a:solidFill>
                <a:latin typeface="Calibri"/>
              </a:rPr>
              <a:t>  ›  PostgreSQL + Alembic ORM</a:t>
            </a:r>
          </a:p>
          <a:p>
            <a:pPr algn="l"/>
            <a:r>
              <a:rPr sz="1300">
                <a:solidFill>
                  <a:srgbClr val="1A1A2E"/>
                </a:solidFill>
                <a:latin typeface="Calibri"/>
              </a:rPr>
              <a:t>  ›  SMTP &amp; OAuth 2.0</a:t>
            </a:r>
          </a:p>
          <a:p>
            <a:pPr algn="l"/>
            <a:r>
              <a:rPr sz="1300">
                <a:solidFill>
                  <a:srgbClr val="1A1A2E"/>
                </a:solidFill>
                <a:latin typeface="Calibri"/>
              </a:rPr>
              <a:t>  ›  Architecture microservices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Perspectives — 2 mois restants &amp; evolutions futures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14 / 15</a:t>
            </a:r>
          </a:p>
        </p:txBody>
      </p:sp>
      <p:sp>
        <p:nvSpPr>
          <p:cNvPr id="11" name="Rectangle 10"/>
          <p:cNvSpPr/>
          <p:nvPr/>
        </p:nvSpPr>
        <p:spPr>
          <a:xfrm>
            <a:off x="365760" y="1554480"/>
            <a:ext cx="11430000" cy="3302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572768"/>
            <a:ext cx="10972800" cy="279400"/>
          </a:xfrm>
          <a:prstGeom prst="rect">
            <a:avLst/>
          </a:prstGeom>
          <a:noFill/>
        </p:spPr>
        <p:txBody>
          <a:bodyPr wrap="square"/>
          <a:lstStyle/>
          <a:p>
            <a:pPr algn="l"/>
            <a:r>
              <a:rPr sz="1200" b="1" i="0">
                <a:solidFill>
                  <a:srgbClr val="FFFFFF"/>
                </a:solidFill>
                <a:latin typeface="Calibri"/>
              </a:rPr>
              <a:t>🔴  Court terme — à réaliser pour la soutenance finale</a:t>
            </a:r>
          </a:p>
        </p:txBody>
      </p:sp>
      <p:sp>
        <p:nvSpPr>
          <p:cNvPr id="13" name="TextBox 12"/>
          <p:cNvSpPr txBox="1"/>
          <p:nvPr/>
        </p:nvSpPr>
        <p:spPr>
          <a:xfrm>
            <a:off x="457200" y="1874519"/>
            <a:ext cx="11247120" cy="1097280"/>
          </a:xfrm>
          <a:prstGeom prst="rect">
            <a:avLst/>
          </a:prstGeom>
          <a:noFill/>
        </p:spPr>
        <p:txBody>
          <a:bodyPr wrap="square">
            <a:spAutoFit/>
          </a:bodyPr>
          <a:lstStyle/>
          <a:p>
            <a:pPr algn="l"/>
            <a:r>
              <a:rPr sz="1250">
                <a:solidFill>
                  <a:srgbClr val="1A1A2E"/>
                </a:solidFill>
                <a:latin typeface="Calibri"/>
              </a:rPr>
              <a:t>  ›  Notification email recruteur à chaque nouvelle candidature → boucle UX complète</a:t>
            </a:r>
          </a:p>
          <a:p>
            <a:pPr algn="l"/>
            <a:r>
              <a:rPr sz="1250">
                <a:solidFill>
                  <a:srgbClr val="1A1A2E"/>
                </a:solidFill>
                <a:latin typeface="Calibri"/>
              </a:rPr>
              <a:t>  ›  Planification d'entretiens : recruteur propose créneaux, candidat accepte → flux E2E complet</a:t>
            </a:r>
          </a:p>
          <a:p>
            <a:pPr algn="l"/>
            <a:r>
              <a:rPr sz="1250">
                <a:solidFill>
                  <a:srgbClr val="1A1A2E"/>
                </a:solidFill>
                <a:latin typeface="Calibri"/>
              </a:rPr>
              <a:t>  ›  Page candidat enrichie : score détaillé, skills manquants, conseils personnalisés</a:t>
            </a:r>
          </a:p>
        </p:txBody>
      </p:sp>
      <p:sp>
        <p:nvSpPr>
          <p:cNvPr id="14" name="Rectangle 13"/>
          <p:cNvSpPr/>
          <p:nvPr/>
        </p:nvSpPr>
        <p:spPr>
          <a:xfrm>
            <a:off x="365760" y="3108960"/>
            <a:ext cx="11430000" cy="330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127248"/>
            <a:ext cx="10972800" cy="279400"/>
          </a:xfrm>
          <a:prstGeom prst="rect">
            <a:avLst/>
          </a:prstGeom>
          <a:noFill/>
        </p:spPr>
        <p:txBody>
          <a:bodyPr wrap="square"/>
          <a:lstStyle/>
          <a:p>
            <a:pPr algn="l"/>
            <a:r>
              <a:rPr sz="1200" b="1" i="0">
                <a:solidFill>
                  <a:srgbClr val="FFFFFF"/>
                </a:solidFill>
                <a:latin typeface="Calibri"/>
              </a:rPr>
              <a:t>🟡  Moyen terme — amélioration continue de l'IA</a:t>
            </a:r>
          </a:p>
        </p:txBody>
      </p:sp>
      <p:sp>
        <p:nvSpPr>
          <p:cNvPr id="16" name="TextBox 15"/>
          <p:cNvSpPr txBox="1"/>
          <p:nvPr/>
        </p:nvSpPr>
        <p:spPr>
          <a:xfrm>
            <a:off x="457200" y="3429000"/>
            <a:ext cx="11247120" cy="1097280"/>
          </a:xfrm>
          <a:prstGeom prst="rect">
            <a:avLst/>
          </a:prstGeom>
          <a:noFill/>
        </p:spPr>
        <p:txBody>
          <a:bodyPr wrap="square">
            <a:spAutoFit/>
          </a:bodyPr>
          <a:lstStyle/>
          <a:p>
            <a:pPr algn="l"/>
            <a:r>
              <a:rPr sz="1250">
                <a:solidFill>
                  <a:srgbClr val="1A1A2E"/>
                </a:solidFill>
                <a:latin typeface="Calibri"/>
              </a:rPr>
              <a:t>  ›  Feedback loop : recruteur note 'embauché / refusé' → données stockées → réentraînement BERT périodique</a:t>
            </a:r>
          </a:p>
          <a:p>
            <a:pPr algn="l"/>
            <a:r>
              <a:rPr sz="1250">
                <a:solidFill>
                  <a:srgbClr val="1A1A2E"/>
                </a:solidFill>
                <a:latin typeface="Calibri"/>
              </a:rPr>
              <a:t>  ›  Métriques d'évaluation : Precision@K, NDCG@K, MRR — mesure objective de la qualité du ranking</a:t>
            </a:r>
          </a:p>
          <a:p>
            <a:pPr algn="l"/>
            <a:r>
              <a:rPr sz="1250">
                <a:solidFill>
                  <a:srgbClr val="1A1A2E"/>
                </a:solidFill>
                <a:latin typeface="Calibri"/>
              </a:rPr>
              <a:t>  ›  Explication IA (XAI) : radar chart des dimensions, top skills manquantes par candidat</a:t>
            </a:r>
          </a:p>
        </p:txBody>
      </p:sp>
      <p:sp>
        <p:nvSpPr>
          <p:cNvPr id="17" name="Rectangle 16"/>
          <p:cNvSpPr/>
          <p:nvPr/>
        </p:nvSpPr>
        <p:spPr>
          <a:xfrm>
            <a:off x="365760" y="4663440"/>
            <a:ext cx="11430000" cy="330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681728"/>
            <a:ext cx="10972800" cy="279400"/>
          </a:xfrm>
          <a:prstGeom prst="rect">
            <a:avLst/>
          </a:prstGeom>
          <a:noFill/>
        </p:spPr>
        <p:txBody>
          <a:bodyPr wrap="square"/>
          <a:lstStyle/>
          <a:p>
            <a:pPr algn="l"/>
            <a:r>
              <a:rPr sz="1200" b="1" i="0">
                <a:solidFill>
                  <a:srgbClr val="FFFFFF"/>
                </a:solidFill>
                <a:latin typeface="Calibri"/>
              </a:rPr>
              <a:t>🟢  Long terme — production &amp; évolutions</a:t>
            </a:r>
          </a:p>
        </p:txBody>
      </p:sp>
      <p:sp>
        <p:nvSpPr>
          <p:cNvPr id="19" name="TextBox 18"/>
          <p:cNvSpPr txBox="1"/>
          <p:nvPr/>
        </p:nvSpPr>
        <p:spPr>
          <a:xfrm>
            <a:off x="457200" y="4983480"/>
            <a:ext cx="11247120" cy="1097280"/>
          </a:xfrm>
          <a:prstGeom prst="rect">
            <a:avLst/>
          </a:prstGeom>
          <a:noFill/>
        </p:spPr>
        <p:txBody>
          <a:bodyPr wrap="square">
            <a:spAutoFit/>
          </a:bodyPr>
          <a:lstStyle/>
          <a:p>
            <a:pPr algn="l"/>
            <a:r>
              <a:rPr sz="1250">
                <a:solidFill>
                  <a:srgbClr val="1A1A2E"/>
                </a:solidFill>
                <a:latin typeface="Calibri"/>
              </a:rPr>
              <a:t>  ›  Docker Compose : backend + frontend + DB déployables en une commande → production-ready</a:t>
            </a:r>
          </a:p>
          <a:p>
            <a:pPr algn="l"/>
            <a:r>
              <a:rPr sz="1250">
                <a:solidFill>
                  <a:srgbClr val="1A1A2E"/>
                </a:solidFill>
                <a:latin typeface="Calibri"/>
              </a:rPr>
              <a:t>  ›  Tests automatisés CI/CD : pipeline de tests unitaires sur le matching (GitHub Actions)</a:t>
            </a:r>
          </a:p>
          <a:p>
            <a:pPr algn="l"/>
            <a:r>
              <a:rPr sz="1250">
                <a:solidFill>
                  <a:srgbClr val="1A1A2E"/>
                </a:solidFill>
                <a:latin typeface="Calibri"/>
              </a:rPr>
              <a:t>  ›  Application mobile (React Native) + API publique pour intégration RH tiers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88952" cy="18288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93776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3s.png"/>
          <p:cNvPicPr>
            <a:picLocks noChangeAspect="1"/>
          </p:cNvPicPr>
          <p:nvPr/>
        </p:nvPicPr>
        <p:blipFill>
          <a:blip r:embed="rId2"/>
          <a:stretch>
            <a:fillRect/>
          </a:stretch>
        </p:blipFill>
        <p:spPr>
          <a:xfrm>
            <a:off x="457200" y="320040"/>
            <a:ext cx="2421924" cy="1280160"/>
          </a:xfrm>
          <a:prstGeom prst="rect">
            <a:avLst/>
          </a:prstGeom>
        </p:spPr>
      </p:pic>
      <p:pic>
        <p:nvPicPr>
          <p:cNvPr id="6" name="Picture 5" descr="esprit.png"/>
          <p:cNvPicPr>
            <a:picLocks noChangeAspect="1"/>
          </p:cNvPicPr>
          <p:nvPr/>
        </p:nvPicPr>
        <p:blipFill>
          <a:blip r:embed="rId3"/>
          <a:stretch>
            <a:fillRect/>
          </a:stretch>
        </p:blipFill>
        <p:spPr>
          <a:xfrm>
            <a:off x="10424160" y="182880"/>
            <a:ext cx="1463040" cy="1463040"/>
          </a:xfrm>
          <a:prstGeom prst="rect">
            <a:avLst/>
          </a:prstGeom>
        </p:spPr>
      </p:pic>
      <p:sp>
        <p:nvSpPr>
          <p:cNvPr id="7" name="TextBox 6"/>
          <p:cNvSpPr txBox="1"/>
          <p:nvPr/>
        </p:nvSpPr>
        <p:spPr>
          <a:xfrm>
            <a:off x="0" y="1097280"/>
            <a:ext cx="12188952" cy="1005840"/>
          </a:xfrm>
          <a:prstGeom prst="rect">
            <a:avLst/>
          </a:prstGeom>
          <a:noFill/>
        </p:spPr>
        <p:txBody>
          <a:bodyPr wrap="square"/>
          <a:lstStyle/>
          <a:p>
            <a:pPr algn="ctr"/>
            <a:r>
              <a:rPr sz="4400" b="1" i="0">
                <a:solidFill>
                  <a:srgbClr val="FFFFFF"/>
                </a:solidFill>
                <a:latin typeface="Calibri"/>
              </a:rPr>
              <a:t>Merci de votre attention</a:t>
            </a:r>
          </a:p>
        </p:txBody>
      </p:sp>
      <p:sp>
        <p:nvSpPr>
          <p:cNvPr id="8" name="TextBox 7"/>
          <p:cNvSpPr txBox="1"/>
          <p:nvPr/>
        </p:nvSpPr>
        <p:spPr>
          <a:xfrm>
            <a:off x="0" y="2194560"/>
            <a:ext cx="12188952" cy="640080"/>
          </a:xfrm>
          <a:prstGeom prst="rect">
            <a:avLst/>
          </a:prstGeom>
          <a:noFill/>
        </p:spPr>
        <p:txBody>
          <a:bodyPr wrap="square"/>
          <a:lstStyle/>
          <a:p>
            <a:pPr algn="ctr"/>
            <a:r>
              <a:rPr sz="2400" b="0" i="0">
                <a:solidFill>
                  <a:srgbClr val="E88710"/>
                </a:solidFill>
                <a:latin typeface="Calibri"/>
              </a:rPr>
              <a:t>Questions &amp; Discussion</a:t>
            </a:r>
          </a:p>
        </p:txBody>
      </p:sp>
      <p:sp>
        <p:nvSpPr>
          <p:cNvPr id="9" name="Rectangle 8"/>
          <p:cNvSpPr/>
          <p:nvPr/>
        </p:nvSpPr>
        <p:spPr>
          <a:xfrm>
            <a:off x="4114800" y="2926080"/>
            <a:ext cx="3931920" cy="508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0" y="3200400"/>
            <a:ext cx="12188952" cy="457200"/>
          </a:xfrm>
          <a:prstGeom prst="rect">
            <a:avLst/>
          </a:prstGeom>
          <a:noFill/>
        </p:spPr>
        <p:txBody>
          <a:bodyPr wrap="square"/>
          <a:lstStyle/>
          <a:p>
            <a:pPr algn="ctr"/>
            <a:r>
              <a:rPr sz="1600" b="0" i="0">
                <a:solidFill>
                  <a:srgbClr val="BBCCEE"/>
                </a:solidFill>
                <a:latin typeface="Calibri"/>
              </a:rPr>
              <a:t>Youssef GARA  —  garayoussef0@gmail.com</a:t>
            </a:r>
          </a:p>
        </p:txBody>
      </p:sp>
      <p:sp>
        <p:nvSpPr>
          <p:cNvPr id="11" name="TextBox 10"/>
          <p:cNvSpPr txBox="1"/>
          <p:nvPr/>
        </p:nvSpPr>
        <p:spPr>
          <a:xfrm>
            <a:off x="0" y="3749039"/>
            <a:ext cx="12188952" cy="411480"/>
          </a:xfrm>
          <a:prstGeom prst="rect">
            <a:avLst/>
          </a:prstGeom>
          <a:noFill/>
        </p:spPr>
        <p:txBody>
          <a:bodyPr wrap="square"/>
          <a:lstStyle/>
          <a:p>
            <a:pPr algn="ctr"/>
            <a:r>
              <a:rPr sz="1300" b="0" i="0">
                <a:solidFill>
                  <a:srgbClr val="88AACC"/>
                </a:solidFill>
                <a:latin typeface="Calibri"/>
              </a:rPr>
              <a:t>3S TalentMatch  •  Matching IA CV/Offres  •  FastAPI + React + BERT v2.0</a:t>
            </a:r>
          </a:p>
        </p:txBody>
      </p:sp>
      <p:sp>
        <p:nvSpPr>
          <p:cNvPr id="12" name="Rectangle 11"/>
          <p:cNvSpPr/>
          <p:nvPr/>
        </p:nvSpPr>
        <p:spPr>
          <a:xfrm>
            <a:off x="109728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5440680"/>
            <a:ext cx="1325880" cy="384048"/>
          </a:xfrm>
          <a:prstGeom prst="rect">
            <a:avLst/>
          </a:prstGeom>
          <a:noFill/>
        </p:spPr>
        <p:txBody>
          <a:bodyPr wrap="square"/>
          <a:lstStyle/>
          <a:p>
            <a:pPr algn="ctr"/>
            <a:r>
              <a:rPr sz="1300" b="1" i="0">
                <a:solidFill>
                  <a:srgbClr val="FFFFFF"/>
                </a:solidFill>
                <a:latin typeface="Calibri"/>
              </a:rPr>
              <a:t>FastAPI</a:t>
            </a:r>
          </a:p>
        </p:txBody>
      </p:sp>
      <p:sp>
        <p:nvSpPr>
          <p:cNvPr id="14" name="Rectangle 13"/>
          <p:cNvSpPr/>
          <p:nvPr/>
        </p:nvSpPr>
        <p:spPr>
          <a:xfrm>
            <a:off x="260604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6040" y="5440680"/>
            <a:ext cx="1325880" cy="384048"/>
          </a:xfrm>
          <a:prstGeom prst="rect">
            <a:avLst/>
          </a:prstGeom>
          <a:noFill/>
        </p:spPr>
        <p:txBody>
          <a:bodyPr wrap="square"/>
          <a:lstStyle/>
          <a:p>
            <a:pPr algn="ctr"/>
            <a:r>
              <a:rPr sz="1300" b="1" i="0">
                <a:solidFill>
                  <a:srgbClr val="FFFFFF"/>
                </a:solidFill>
                <a:latin typeface="Calibri"/>
              </a:rPr>
              <a:t>React</a:t>
            </a:r>
          </a:p>
        </p:txBody>
      </p:sp>
      <p:sp>
        <p:nvSpPr>
          <p:cNvPr id="16" name="Rectangle 15"/>
          <p:cNvSpPr/>
          <p:nvPr/>
        </p:nvSpPr>
        <p:spPr>
          <a:xfrm>
            <a:off x="411480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0" y="5440680"/>
            <a:ext cx="1325880" cy="384048"/>
          </a:xfrm>
          <a:prstGeom prst="rect">
            <a:avLst/>
          </a:prstGeom>
          <a:noFill/>
        </p:spPr>
        <p:txBody>
          <a:bodyPr wrap="square"/>
          <a:lstStyle/>
          <a:p>
            <a:pPr algn="ctr"/>
            <a:r>
              <a:rPr sz="1300" b="1" i="0">
                <a:solidFill>
                  <a:srgbClr val="FFFFFF"/>
                </a:solidFill>
                <a:latin typeface="Calibri"/>
              </a:rPr>
              <a:t>PostgreSQL</a:t>
            </a:r>
          </a:p>
        </p:txBody>
      </p:sp>
      <p:sp>
        <p:nvSpPr>
          <p:cNvPr id="18" name="Rectangle 17"/>
          <p:cNvSpPr/>
          <p:nvPr/>
        </p:nvSpPr>
        <p:spPr>
          <a:xfrm>
            <a:off x="562356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23560" y="5440680"/>
            <a:ext cx="1325880" cy="384048"/>
          </a:xfrm>
          <a:prstGeom prst="rect">
            <a:avLst/>
          </a:prstGeom>
          <a:noFill/>
        </p:spPr>
        <p:txBody>
          <a:bodyPr wrap="square"/>
          <a:lstStyle/>
          <a:p>
            <a:pPr algn="ctr"/>
            <a:r>
              <a:rPr sz="1300" b="1" i="0">
                <a:solidFill>
                  <a:srgbClr val="FFFFFF"/>
                </a:solidFill>
                <a:latin typeface="Calibri"/>
              </a:rPr>
              <a:t>BERT</a:t>
            </a:r>
          </a:p>
        </p:txBody>
      </p:sp>
      <p:sp>
        <p:nvSpPr>
          <p:cNvPr id="20" name="Rectangle 19"/>
          <p:cNvSpPr/>
          <p:nvPr/>
        </p:nvSpPr>
        <p:spPr>
          <a:xfrm>
            <a:off x="713232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0" y="5440680"/>
            <a:ext cx="1325880" cy="384048"/>
          </a:xfrm>
          <a:prstGeom prst="rect">
            <a:avLst/>
          </a:prstGeom>
          <a:noFill/>
        </p:spPr>
        <p:txBody>
          <a:bodyPr wrap="square"/>
          <a:lstStyle/>
          <a:p>
            <a:pPr algn="ctr"/>
            <a:r>
              <a:rPr sz="1300" b="1" i="0">
                <a:solidFill>
                  <a:srgbClr val="FFFFFF"/>
                </a:solidFill>
                <a:latin typeface="Calibri"/>
              </a:rPr>
              <a:t>spaCy</a:t>
            </a:r>
          </a:p>
        </p:txBody>
      </p:sp>
      <p:sp>
        <p:nvSpPr>
          <p:cNvPr id="22" name="Rectangle 21"/>
          <p:cNvSpPr/>
          <p:nvPr/>
        </p:nvSpPr>
        <p:spPr>
          <a:xfrm>
            <a:off x="864108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41080" y="5440680"/>
            <a:ext cx="1325880" cy="384048"/>
          </a:xfrm>
          <a:prstGeom prst="rect">
            <a:avLst/>
          </a:prstGeom>
          <a:noFill/>
        </p:spPr>
        <p:txBody>
          <a:bodyPr wrap="square"/>
          <a:lstStyle/>
          <a:p>
            <a:pPr algn="ctr"/>
            <a:r>
              <a:rPr sz="1300" b="1" i="0">
                <a:solidFill>
                  <a:srgbClr val="FFFFFF"/>
                </a:solidFill>
                <a:latin typeface="Calibri"/>
              </a:rPr>
              <a:t>JWT</a:t>
            </a:r>
          </a:p>
        </p:txBody>
      </p:sp>
      <p:sp>
        <p:nvSpPr>
          <p:cNvPr id="24" name="Rectangle 23"/>
          <p:cNvSpPr/>
          <p:nvPr/>
        </p:nvSpPr>
        <p:spPr>
          <a:xfrm>
            <a:off x="1014984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0" y="5440680"/>
            <a:ext cx="1325880" cy="384048"/>
          </a:xfrm>
          <a:prstGeom prst="rect">
            <a:avLst/>
          </a:prstGeom>
          <a:noFill/>
        </p:spPr>
        <p:txBody>
          <a:bodyPr wrap="square"/>
          <a:lstStyle/>
          <a:p>
            <a:pPr algn="ctr"/>
            <a:r>
              <a:rPr sz="1300" b="1" i="0">
                <a:solidFill>
                  <a:srgbClr val="FFFFFF"/>
                </a:solidFill>
                <a:latin typeface="Calibri"/>
              </a:rPr>
              <a:t>SMTP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