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9C5FA-BECB-43DE-942D-C669DA72680B}" type="datetimeFigureOut">
              <a:rPr lang="fr-FR" smtClean="0"/>
              <a:t>03/06/2026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569CE0-D265-4381-9107-EBC89A2B1686}" type="slidenum">
              <a:rPr lang="fr-FR" smtClean="0"/>
              <a:t>‹N°›</a:t>
            </a:fld>
            <a:endParaRPr lang="fr-FR"/>
          </a:p>
        </p:txBody>
      </p:sp>
    </p:spTree>
    <p:extLst>
      <p:ext uri="{BB962C8B-B14F-4D97-AF65-F5344CB8AC3E}">
        <p14:creationId xmlns:p14="http://schemas.microsoft.com/office/powerpoint/2010/main" val="3631950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8569CE0-D265-4381-9107-EBC89A2B1686}" type="slidenum">
              <a:rPr lang="fr-FR" smtClean="0"/>
              <a:t>14</a:t>
            </a:fld>
            <a:endParaRPr lang="fr-FR"/>
          </a:p>
        </p:txBody>
      </p:sp>
    </p:spTree>
    <p:extLst>
      <p:ext uri="{BB962C8B-B14F-4D97-AF65-F5344CB8AC3E}">
        <p14:creationId xmlns:p14="http://schemas.microsoft.com/office/powerpoint/2010/main" val="1490361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40000" y="1800000"/>
            <a:ext cx="162000" cy="3240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000" y="1980000"/>
            <a:ext cx="6120000" cy="1800000"/>
          </a:xfrm>
          <a:prstGeom prst="rect">
            <a:avLst/>
          </a:prstGeom>
          <a:noFill/>
        </p:spPr>
        <p:txBody>
          <a:bodyPr wrap="square">
            <a:spAutoFit/>
          </a:bodyPr>
          <a:lstStyle/>
          <a:p>
            <a:pPr algn="l"/>
            <a:r>
              <a:rPr sz="3600" b="1">
                <a:solidFill>
                  <a:srgbClr val="FFFFFF"/>
                </a:solidFill>
              </a:rPr>
              <a:t>TalentMatch</a:t>
            </a:r>
          </a:p>
          <a:p>
            <a:pPr algn="l"/>
            <a:r>
              <a:rPr sz="3600" b="1">
                <a:solidFill>
                  <a:srgbClr val="FFFFFF"/>
                </a:solidFill>
              </a:rPr>
              <a:t>Plateforme intelligente de matching</a:t>
            </a:r>
          </a:p>
          <a:p>
            <a:pPr algn="l"/>
            <a:r>
              <a:rPr sz="3600" b="1">
                <a:solidFill>
                  <a:srgbClr val="FFFFFF"/>
                </a:solidFill>
              </a:rPr>
              <a:t>CV / Offres d'emploi</a:t>
            </a:r>
          </a:p>
        </p:txBody>
      </p:sp>
      <p:sp>
        <p:nvSpPr>
          <p:cNvPr id="5" name="Rectangle 4"/>
          <p:cNvSpPr/>
          <p:nvPr/>
        </p:nvSpPr>
        <p:spPr>
          <a:xfrm>
            <a:off x="5220000" y="5292000"/>
            <a:ext cx="2700000" cy="54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20000" y="4968000"/>
            <a:ext cx="5400000" cy="468000"/>
          </a:xfrm>
          <a:prstGeom prst="rect">
            <a:avLst/>
          </a:prstGeom>
          <a:noFill/>
        </p:spPr>
        <p:txBody>
          <a:bodyPr wrap="square">
            <a:spAutoFit/>
          </a:bodyPr>
          <a:lstStyle/>
          <a:p>
            <a:pPr algn="l"/>
            <a:r>
              <a:rPr sz="2000" b="1" i="0">
                <a:solidFill>
                  <a:srgbClr val="FFFFFF"/>
                </a:solidFill>
              </a:rPr>
              <a:t>Rédigé par Youssef Gara</a:t>
            </a:r>
          </a:p>
        </p:txBody>
      </p:sp>
      <p:sp>
        <p:nvSpPr>
          <p:cNvPr id="7" name="Rectangle 6"/>
          <p:cNvSpPr/>
          <p:nvPr/>
        </p:nvSpPr>
        <p:spPr>
          <a:xfrm>
            <a:off x="8820000" y="144000"/>
            <a:ext cx="3240000" cy="16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sprit.png"/>
          <p:cNvPicPr>
            <a:picLocks noChangeAspect="1"/>
          </p:cNvPicPr>
          <p:nvPr/>
        </p:nvPicPr>
        <p:blipFill>
          <a:blip r:embed="rId2"/>
          <a:stretch>
            <a:fillRect/>
          </a:stretch>
        </p:blipFill>
        <p:spPr>
          <a:xfrm>
            <a:off x="8928000" y="144000"/>
            <a:ext cx="3024000" cy="3024000"/>
          </a:xfrm>
          <a:prstGeom prst="rect">
            <a:avLst/>
          </a:prstGeom>
        </p:spPr>
      </p:pic>
      <p:pic>
        <p:nvPicPr>
          <p:cNvPr id="9" name="Picture 8" descr="logo_3s.png"/>
          <p:cNvPicPr>
            <a:picLocks noChangeAspect="1"/>
          </p:cNvPicPr>
          <p:nvPr/>
        </p:nvPicPr>
        <p:blipFill>
          <a:blip r:embed="rId3"/>
          <a:stretch>
            <a:fillRect/>
          </a:stretch>
        </p:blipFill>
        <p:spPr>
          <a:xfrm>
            <a:off x="9000000" y="5220000"/>
            <a:ext cx="1440000" cy="7611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140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40000" y="0"/>
            <a:ext cx="805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20000" y="144000"/>
            <a:ext cx="7920000" cy="900000"/>
          </a:xfrm>
          <a:prstGeom prst="rect">
            <a:avLst/>
          </a:prstGeom>
          <a:noFill/>
        </p:spPr>
        <p:txBody>
          <a:bodyPr wrap="square">
            <a:spAutoFit/>
          </a:bodyPr>
          <a:lstStyle/>
          <a:p>
            <a:pPr algn="ctr"/>
            <a:r>
              <a:rPr sz="2600" b="1" i="0">
                <a:solidFill>
                  <a:srgbClr val="0A2350"/>
                </a:solidFill>
              </a:rPr>
              <a:t>PLAN DE LA PRÉSENTATION</a:t>
            </a:r>
          </a:p>
        </p:txBody>
      </p:sp>
      <p:sp>
        <p:nvSpPr>
          <p:cNvPr id="5" name="Rectangle 4"/>
          <p:cNvSpPr/>
          <p:nvPr/>
        </p:nvSpPr>
        <p:spPr>
          <a:xfrm>
            <a:off x="4320000" y="1026000"/>
            <a:ext cx="7740000" cy="648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00000" y="1152000"/>
            <a:ext cx="6300000" cy="295200"/>
          </a:xfrm>
          <a:prstGeom prst="rect">
            <a:avLst/>
          </a:prstGeom>
          <a:noFill/>
        </p:spPr>
        <p:txBody>
          <a:bodyPr wrap="square">
            <a:spAutoFit/>
          </a:bodyPr>
          <a:lstStyle/>
          <a:p>
            <a:pPr algn="l"/>
            <a:r>
              <a:rPr sz="1100" b="1" i="0">
                <a:solidFill>
                  <a:srgbClr val="0A2350"/>
                </a:solidFill>
              </a:rPr>
              <a:t>Introduction</a:t>
            </a:r>
          </a:p>
        </p:txBody>
      </p:sp>
      <p:sp>
        <p:nvSpPr>
          <p:cNvPr id="7" name="TextBox 6"/>
          <p:cNvSpPr txBox="1"/>
          <p:nvPr/>
        </p:nvSpPr>
        <p:spPr>
          <a:xfrm>
            <a:off x="11340000" y="1152000"/>
            <a:ext cx="720000" cy="295200"/>
          </a:xfrm>
          <a:prstGeom prst="rect">
            <a:avLst/>
          </a:prstGeom>
          <a:noFill/>
        </p:spPr>
        <p:txBody>
          <a:bodyPr wrap="square">
            <a:spAutoFit/>
          </a:bodyPr>
          <a:lstStyle/>
          <a:p>
            <a:pPr algn="r"/>
            <a:r>
              <a:rPr sz="1300" b="1" i="0">
                <a:solidFill>
                  <a:srgbClr val="B88E4C"/>
                </a:solidFill>
              </a:rPr>
              <a:t>1</a:t>
            </a:r>
          </a:p>
        </p:txBody>
      </p:sp>
      <p:sp>
        <p:nvSpPr>
          <p:cNvPr id="8" name="Rectangle 7"/>
          <p:cNvSpPr/>
          <p:nvPr/>
        </p:nvSpPr>
        <p:spPr>
          <a:xfrm>
            <a:off x="4500000" y="14148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00000" y="1483200"/>
            <a:ext cx="6300000" cy="295200"/>
          </a:xfrm>
          <a:prstGeom prst="rect">
            <a:avLst/>
          </a:prstGeom>
          <a:noFill/>
        </p:spPr>
        <p:txBody>
          <a:bodyPr wrap="square">
            <a:spAutoFit/>
          </a:bodyPr>
          <a:lstStyle/>
          <a:p>
            <a:pPr algn="l"/>
            <a:r>
              <a:rPr sz="1100" b="1" i="0">
                <a:solidFill>
                  <a:srgbClr val="0A2350"/>
                </a:solidFill>
              </a:rPr>
              <a:t>Présentation de l'entreprise</a:t>
            </a:r>
          </a:p>
        </p:txBody>
      </p:sp>
      <p:sp>
        <p:nvSpPr>
          <p:cNvPr id="10" name="TextBox 9"/>
          <p:cNvSpPr txBox="1"/>
          <p:nvPr/>
        </p:nvSpPr>
        <p:spPr>
          <a:xfrm>
            <a:off x="11340000" y="1483200"/>
            <a:ext cx="720000" cy="295200"/>
          </a:xfrm>
          <a:prstGeom prst="rect">
            <a:avLst/>
          </a:prstGeom>
          <a:noFill/>
        </p:spPr>
        <p:txBody>
          <a:bodyPr wrap="square">
            <a:spAutoFit/>
          </a:bodyPr>
          <a:lstStyle/>
          <a:p>
            <a:pPr algn="r"/>
            <a:r>
              <a:rPr sz="1300" b="1" i="0">
                <a:solidFill>
                  <a:srgbClr val="B88E4C"/>
                </a:solidFill>
              </a:rPr>
              <a:t>2</a:t>
            </a:r>
          </a:p>
        </p:txBody>
      </p:sp>
      <p:sp>
        <p:nvSpPr>
          <p:cNvPr id="11" name="Rectangle 10"/>
          <p:cNvSpPr/>
          <p:nvPr/>
        </p:nvSpPr>
        <p:spPr>
          <a:xfrm>
            <a:off x="4500000" y="1746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00" y="1814400"/>
            <a:ext cx="6300000" cy="295200"/>
          </a:xfrm>
          <a:prstGeom prst="rect">
            <a:avLst/>
          </a:prstGeom>
          <a:noFill/>
        </p:spPr>
        <p:txBody>
          <a:bodyPr wrap="square">
            <a:spAutoFit/>
          </a:bodyPr>
          <a:lstStyle/>
          <a:p>
            <a:pPr algn="l"/>
            <a:r>
              <a:rPr sz="1100" b="1" i="0">
                <a:solidFill>
                  <a:srgbClr val="0A2350"/>
                </a:solidFill>
              </a:rPr>
              <a:t>Étude de l'existant</a:t>
            </a:r>
          </a:p>
        </p:txBody>
      </p:sp>
      <p:sp>
        <p:nvSpPr>
          <p:cNvPr id="13" name="TextBox 12"/>
          <p:cNvSpPr txBox="1"/>
          <p:nvPr/>
        </p:nvSpPr>
        <p:spPr>
          <a:xfrm>
            <a:off x="11340000" y="1814400"/>
            <a:ext cx="720000" cy="295200"/>
          </a:xfrm>
          <a:prstGeom prst="rect">
            <a:avLst/>
          </a:prstGeom>
          <a:noFill/>
        </p:spPr>
        <p:txBody>
          <a:bodyPr wrap="square">
            <a:spAutoFit/>
          </a:bodyPr>
          <a:lstStyle/>
          <a:p>
            <a:pPr algn="r"/>
            <a:r>
              <a:rPr sz="1300" b="1" i="0">
                <a:solidFill>
                  <a:srgbClr val="B88E4C"/>
                </a:solidFill>
              </a:rPr>
              <a:t>3</a:t>
            </a:r>
          </a:p>
        </p:txBody>
      </p:sp>
      <p:sp>
        <p:nvSpPr>
          <p:cNvPr id="14" name="Rectangle 13"/>
          <p:cNvSpPr/>
          <p:nvPr/>
        </p:nvSpPr>
        <p:spPr>
          <a:xfrm>
            <a:off x="4500000" y="2077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00000" y="2145600"/>
            <a:ext cx="6300000" cy="295200"/>
          </a:xfrm>
          <a:prstGeom prst="rect">
            <a:avLst/>
          </a:prstGeom>
          <a:noFill/>
        </p:spPr>
        <p:txBody>
          <a:bodyPr wrap="square">
            <a:spAutoFit/>
          </a:bodyPr>
          <a:lstStyle/>
          <a:p>
            <a:pPr algn="l"/>
            <a:r>
              <a:rPr sz="1100" b="1" i="0">
                <a:solidFill>
                  <a:srgbClr val="0A2350"/>
                </a:solidFill>
              </a:rPr>
              <a:t>Problématique</a:t>
            </a:r>
          </a:p>
        </p:txBody>
      </p:sp>
      <p:sp>
        <p:nvSpPr>
          <p:cNvPr id="16" name="TextBox 15"/>
          <p:cNvSpPr txBox="1"/>
          <p:nvPr/>
        </p:nvSpPr>
        <p:spPr>
          <a:xfrm>
            <a:off x="11340000" y="2145600"/>
            <a:ext cx="720000" cy="295200"/>
          </a:xfrm>
          <a:prstGeom prst="rect">
            <a:avLst/>
          </a:prstGeom>
          <a:noFill/>
        </p:spPr>
        <p:txBody>
          <a:bodyPr wrap="square">
            <a:spAutoFit/>
          </a:bodyPr>
          <a:lstStyle/>
          <a:p>
            <a:pPr algn="r"/>
            <a:r>
              <a:rPr sz="1300" b="1" i="0">
                <a:solidFill>
                  <a:srgbClr val="B88E4C"/>
                </a:solidFill>
              </a:rPr>
              <a:t>4</a:t>
            </a:r>
          </a:p>
        </p:txBody>
      </p:sp>
      <p:sp>
        <p:nvSpPr>
          <p:cNvPr id="17" name="Rectangle 16"/>
          <p:cNvSpPr/>
          <p:nvPr/>
        </p:nvSpPr>
        <p:spPr>
          <a:xfrm>
            <a:off x="4500000" y="24084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00000" y="2476800"/>
            <a:ext cx="6300000" cy="295200"/>
          </a:xfrm>
          <a:prstGeom prst="rect">
            <a:avLst/>
          </a:prstGeom>
          <a:noFill/>
        </p:spPr>
        <p:txBody>
          <a:bodyPr wrap="square">
            <a:spAutoFit/>
          </a:bodyPr>
          <a:lstStyle/>
          <a:p>
            <a:pPr algn="l"/>
            <a:r>
              <a:rPr sz="1100" b="1" i="0">
                <a:solidFill>
                  <a:srgbClr val="0A2350"/>
                </a:solidFill>
              </a:rPr>
              <a:t>Les défis</a:t>
            </a:r>
          </a:p>
        </p:txBody>
      </p:sp>
      <p:sp>
        <p:nvSpPr>
          <p:cNvPr id="19" name="TextBox 18"/>
          <p:cNvSpPr txBox="1"/>
          <p:nvPr/>
        </p:nvSpPr>
        <p:spPr>
          <a:xfrm>
            <a:off x="11340000" y="2476800"/>
            <a:ext cx="720000" cy="295200"/>
          </a:xfrm>
          <a:prstGeom prst="rect">
            <a:avLst/>
          </a:prstGeom>
          <a:noFill/>
        </p:spPr>
        <p:txBody>
          <a:bodyPr wrap="square">
            <a:spAutoFit/>
          </a:bodyPr>
          <a:lstStyle/>
          <a:p>
            <a:pPr algn="r"/>
            <a:r>
              <a:rPr sz="1300" b="1" i="0">
                <a:solidFill>
                  <a:srgbClr val="B88E4C"/>
                </a:solidFill>
              </a:rPr>
              <a:t>5</a:t>
            </a:r>
          </a:p>
        </p:txBody>
      </p:sp>
      <p:sp>
        <p:nvSpPr>
          <p:cNvPr id="20" name="Rectangle 19"/>
          <p:cNvSpPr/>
          <p:nvPr/>
        </p:nvSpPr>
        <p:spPr>
          <a:xfrm>
            <a:off x="4500000" y="27396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00000" y="2808000"/>
            <a:ext cx="6300000" cy="295200"/>
          </a:xfrm>
          <a:prstGeom prst="rect">
            <a:avLst/>
          </a:prstGeom>
          <a:noFill/>
        </p:spPr>
        <p:txBody>
          <a:bodyPr wrap="square">
            <a:spAutoFit/>
          </a:bodyPr>
          <a:lstStyle/>
          <a:p>
            <a:pPr algn="l"/>
            <a:r>
              <a:rPr sz="1100" b="1" i="0">
                <a:solidFill>
                  <a:srgbClr val="0A2350"/>
                </a:solidFill>
              </a:rPr>
              <a:t>Notre solution</a:t>
            </a:r>
          </a:p>
        </p:txBody>
      </p:sp>
      <p:sp>
        <p:nvSpPr>
          <p:cNvPr id="22" name="TextBox 21"/>
          <p:cNvSpPr txBox="1"/>
          <p:nvPr/>
        </p:nvSpPr>
        <p:spPr>
          <a:xfrm>
            <a:off x="11340000" y="2808000"/>
            <a:ext cx="720000" cy="295200"/>
          </a:xfrm>
          <a:prstGeom prst="rect">
            <a:avLst/>
          </a:prstGeom>
          <a:noFill/>
        </p:spPr>
        <p:txBody>
          <a:bodyPr wrap="square">
            <a:spAutoFit/>
          </a:bodyPr>
          <a:lstStyle/>
          <a:p>
            <a:pPr algn="r"/>
            <a:r>
              <a:rPr sz="1300" b="1" i="0">
                <a:solidFill>
                  <a:srgbClr val="B88E4C"/>
                </a:solidFill>
              </a:rPr>
              <a:t>6</a:t>
            </a:r>
          </a:p>
        </p:txBody>
      </p:sp>
      <p:sp>
        <p:nvSpPr>
          <p:cNvPr id="23" name="Rectangle 22"/>
          <p:cNvSpPr/>
          <p:nvPr/>
        </p:nvSpPr>
        <p:spPr>
          <a:xfrm>
            <a:off x="4500000" y="30708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00000" y="3139200"/>
            <a:ext cx="6300000" cy="295200"/>
          </a:xfrm>
          <a:prstGeom prst="rect">
            <a:avLst/>
          </a:prstGeom>
          <a:noFill/>
        </p:spPr>
        <p:txBody>
          <a:bodyPr wrap="square">
            <a:spAutoFit/>
          </a:bodyPr>
          <a:lstStyle/>
          <a:p>
            <a:pPr algn="l"/>
            <a:r>
              <a:rPr sz="1100" b="1" i="0">
                <a:solidFill>
                  <a:srgbClr val="0A2350"/>
                </a:solidFill>
              </a:rPr>
              <a:t>Besoins Fonctionnels et Non Fonctionnels</a:t>
            </a:r>
          </a:p>
        </p:txBody>
      </p:sp>
      <p:sp>
        <p:nvSpPr>
          <p:cNvPr id="25" name="TextBox 24"/>
          <p:cNvSpPr txBox="1"/>
          <p:nvPr/>
        </p:nvSpPr>
        <p:spPr>
          <a:xfrm>
            <a:off x="11340000" y="3139200"/>
            <a:ext cx="720000" cy="295200"/>
          </a:xfrm>
          <a:prstGeom prst="rect">
            <a:avLst/>
          </a:prstGeom>
          <a:noFill/>
        </p:spPr>
        <p:txBody>
          <a:bodyPr wrap="square">
            <a:spAutoFit/>
          </a:bodyPr>
          <a:lstStyle/>
          <a:p>
            <a:pPr algn="r"/>
            <a:r>
              <a:rPr sz="1300" b="1" i="0">
                <a:solidFill>
                  <a:srgbClr val="B88E4C"/>
                </a:solidFill>
              </a:rPr>
              <a:t>7</a:t>
            </a:r>
          </a:p>
        </p:txBody>
      </p:sp>
      <p:sp>
        <p:nvSpPr>
          <p:cNvPr id="26" name="Rectangle 25"/>
          <p:cNvSpPr/>
          <p:nvPr/>
        </p:nvSpPr>
        <p:spPr>
          <a:xfrm>
            <a:off x="4500000" y="3402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00000" y="3470400"/>
            <a:ext cx="6300000" cy="295200"/>
          </a:xfrm>
          <a:prstGeom prst="rect">
            <a:avLst/>
          </a:prstGeom>
          <a:noFill/>
        </p:spPr>
        <p:txBody>
          <a:bodyPr wrap="square">
            <a:spAutoFit/>
          </a:bodyPr>
          <a:lstStyle/>
          <a:p>
            <a:pPr algn="l"/>
            <a:r>
              <a:rPr sz="1100" b="1" i="0">
                <a:solidFill>
                  <a:srgbClr val="0A2350"/>
                </a:solidFill>
              </a:rPr>
              <a:t>Architecture du système</a:t>
            </a:r>
          </a:p>
        </p:txBody>
      </p:sp>
      <p:sp>
        <p:nvSpPr>
          <p:cNvPr id="28" name="TextBox 27"/>
          <p:cNvSpPr txBox="1"/>
          <p:nvPr/>
        </p:nvSpPr>
        <p:spPr>
          <a:xfrm>
            <a:off x="11340000" y="3470400"/>
            <a:ext cx="720000" cy="295200"/>
          </a:xfrm>
          <a:prstGeom prst="rect">
            <a:avLst/>
          </a:prstGeom>
          <a:noFill/>
        </p:spPr>
        <p:txBody>
          <a:bodyPr wrap="square">
            <a:spAutoFit/>
          </a:bodyPr>
          <a:lstStyle/>
          <a:p>
            <a:pPr algn="r"/>
            <a:r>
              <a:rPr sz="1300" b="1" i="0">
                <a:solidFill>
                  <a:srgbClr val="B88E4C"/>
                </a:solidFill>
              </a:rPr>
              <a:t>8</a:t>
            </a:r>
          </a:p>
        </p:txBody>
      </p:sp>
      <p:sp>
        <p:nvSpPr>
          <p:cNvPr id="29" name="Rectangle 28"/>
          <p:cNvSpPr/>
          <p:nvPr/>
        </p:nvSpPr>
        <p:spPr>
          <a:xfrm>
            <a:off x="4500000" y="3733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00000" y="3801600"/>
            <a:ext cx="6300000" cy="295200"/>
          </a:xfrm>
          <a:prstGeom prst="rect">
            <a:avLst/>
          </a:prstGeom>
          <a:noFill/>
        </p:spPr>
        <p:txBody>
          <a:bodyPr wrap="square">
            <a:spAutoFit/>
          </a:bodyPr>
          <a:lstStyle/>
          <a:p>
            <a:pPr algn="l"/>
            <a:r>
              <a:rPr sz="1100" b="1" i="0">
                <a:solidFill>
                  <a:srgbClr val="0A2350"/>
                </a:solidFill>
              </a:rPr>
              <a:t>Méthodologie</a:t>
            </a:r>
          </a:p>
        </p:txBody>
      </p:sp>
      <p:sp>
        <p:nvSpPr>
          <p:cNvPr id="31" name="TextBox 30"/>
          <p:cNvSpPr txBox="1"/>
          <p:nvPr/>
        </p:nvSpPr>
        <p:spPr>
          <a:xfrm>
            <a:off x="11340000" y="3801600"/>
            <a:ext cx="720000" cy="295200"/>
          </a:xfrm>
          <a:prstGeom prst="rect">
            <a:avLst/>
          </a:prstGeom>
          <a:noFill/>
        </p:spPr>
        <p:txBody>
          <a:bodyPr wrap="square">
            <a:spAutoFit/>
          </a:bodyPr>
          <a:lstStyle/>
          <a:p>
            <a:pPr algn="r"/>
            <a:r>
              <a:rPr sz="1300" b="1" i="0">
                <a:solidFill>
                  <a:srgbClr val="B88E4C"/>
                </a:solidFill>
              </a:rPr>
              <a:t>9</a:t>
            </a:r>
          </a:p>
        </p:txBody>
      </p:sp>
      <p:sp>
        <p:nvSpPr>
          <p:cNvPr id="32" name="Rectangle 31"/>
          <p:cNvSpPr/>
          <p:nvPr/>
        </p:nvSpPr>
        <p:spPr>
          <a:xfrm>
            <a:off x="4500000" y="40644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00000" y="4132800"/>
            <a:ext cx="6300000" cy="261610"/>
          </a:xfrm>
          <a:prstGeom prst="rect">
            <a:avLst/>
          </a:prstGeom>
          <a:noFill/>
        </p:spPr>
        <p:txBody>
          <a:bodyPr wrap="square">
            <a:spAutoFit/>
          </a:bodyPr>
          <a:lstStyle/>
          <a:p>
            <a:pPr algn="l"/>
            <a:r>
              <a:rPr lang="fr-FR" sz="1100" b="1" i="0" dirty="0">
                <a:solidFill>
                  <a:srgbClr val="0A2350"/>
                </a:solidFill>
              </a:rPr>
              <a:t> Diagramme </a:t>
            </a:r>
            <a:r>
              <a:rPr sz="1100" b="1" i="0" dirty="0">
                <a:solidFill>
                  <a:srgbClr val="0A2350"/>
                </a:solidFill>
              </a:rPr>
              <a:t>Cas </a:t>
            </a:r>
            <a:r>
              <a:rPr sz="1100" b="1" i="0" dirty="0" err="1">
                <a:solidFill>
                  <a:srgbClr val="0A2350"/>
                </a:solidFill>
              </a:rPr>
              <a:t>d'utilisation</a:t>
            </a:r>
            <a:endParaRPr sz="1100" b="1" i="0" dirty="0">
              <a:solidFill>
                <a:srgbClr val="0A2350"/>
              </a:solidFill>
            </a:endParaRPr>
          </a:p>
        </p:txBody>
      </p:sp>
      <p:sp>
        <p:nvSpPr>
          <p:cNvPr id="34" name="TextBox 33"/>
          <p:cNvSpPr txBox="1"/>
          <p:nvPr/>
        </p:nvSpPr>
        <p:spPr>
          <a:xfrm>
            <a:off x="11340000" y="4132800"/>
            <a:ext cx="720000" cy="295200"/>
          </a:xfrm>
          <a:prstGeom prst="rect">
            <a:avLst/>
          </a:prstGeom>
          <a:noFill/>
        </p:spPr>
        <p:txBody>
          <a:bodyPr wrap="square">
            <a:spAutoFit/>
          </a:bodyPr>
          <a:lstStyle/>
          <a:p>
            <a:pPr algn="r"/>
            <a:r>
              <a:rPr sz="1300" b="1" i="0">
                <a:solidFill>
                  <a:srgbClr val="B88E4C"/>
                </a:solidFill>
              </a:rPr>
              <a:t>10</a:t>
            </a:r>
          </a:p>
        </p:txBody>
      </p:sp>
      <p:sp>
        <p:nvSpPr>
          <p:cNvPr id="35" name="Rectangle 34"/>
          <p:cNvSpPr/>
          <p:nvPr/>
        </p:nvSpPr>
        <p:spPr>
          <a:xfrm>
            <a:off x="4500000" y="43956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00000" y="4464000"/>
            <a:ext cx="6300000" cy="295200"/>
          </a:xfrm>
          <a:prstGeom prst="rect">
            <a:avLst/>
          </a:prstGeom>
          <a:noFill/>
        </p:spPr>
        <p:txBody>
          <a:bodyPr wrap="square">
            <a:spAutoFit/>
          </a:bodyPr>
          <a:lstStyle/>
          <a:p>
            <a:pPr algn="l"/>
            <a:r>
              <a:rPr sz="1100" b="1" i="0">
                <a:solidFill>
                  <a:srgbClr val="0A2350"/>
                </a:solidFill>
              </a:rPr>
              <a:t>Technologies utilisées</a:t>
            </a:r>
          </a:p>
        </p:txBody>
      </p:sp>
      <p:sp>
        <p:nvSpPr>
          <p:cNvPr id="37" name="TextBox 36"/>
          <p:cNvSpPr txBox="1"/>
          <p:nvPr/>
        </p:nvSpPr>
        <p:spPr>
          <a:xfrm>
            <a:off x="11340000" y="4464000"/>
            <a:ext cx="720000" cy="295200"/>
          </a:xfrm>
          <a:prstGeom prst="rect">
            <a:avLst/>
          </a:prstGeom>
          <a:noFill/>
        </p:spPr>
        <p:txBody>
          <a:bodyPr wrap="square">
            <a:spAutoFit/>
          </a:bodyPr>
          <a:lstStyle/>
          <a:p>
            <a:pPr algn="r"/>
            <a:r>
              <a:rPr sz="1300" b="1" i="0">
                <a:solidFill>
                  <a:srgbClr val="B88E4C"/>
                </a:solidFill>
              </a:rPr>
              <a:t>11</a:t>
            </a:r>
          </a:p>
        </p:txBody>
      </p:sp>
      <p:sp>
        <p:nvSpPr>
          <p:cNvPr id="38" name="Rectangle 37"/>
          <p:cNvSpPr/>
          <p:nvPr/>
        </p:nvSpPr>
        <p:spPr>
          <a:xfrm>
            <a:off x="4500000" y="47268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00000" y="4795200"/>
            <a:ext cx="6300000" cy="295200"/>
          </a:xfrm>
          <a:prstGeom prst="rect">
            <a:avLst/>
          </a:prstGeom>
          <a:noFill/>
        </p:spPr>
        <p:txBody>
          <a:bodyPr wrap="square">
            <a:spAutoFit/>
          </a:bodyPr>
          <a:lstStyle/>
          <a:p>
            <a:pPr algn="l"/>
            <a:r>
              <a:rPr sz="1100" b="1" i="0">
                <a:solidFill>
                  <a:srgbClr val="0A2350"/>
                </a:solidFill>
              </a:rPr>
              <a:t>Avancement actuel</a:t>
            </a:r>
          </a:p>
        </p:txBody>
      </p:sp>
      <p:sp>
        <p:nvSpPr>
          <p:cNvPr id="40" name="TextBox 39"/>
          <p:cNvSpPr txBox="1"/>
          <p:nvPr/>
        </p:nvSpPr>
        <p:spPr>
          <a:xfrm>
            <a:off x="11340000" y="4795200"/>
            <a:ext cx="720000" cy="295200"/>
          </a:xfrm>
          <a:prstGeom prst="rect">
            <a:avLst/>
          </a:prstGeom>
          <a:noFill/>
        </p:spPr>
        <p:txBody>
          <a:bodyPr wrap="square">
            <a:spAutoFit/>
          </a:bodyPr>
          <a:lstStyle/>
          <a:p>
            <a:pPr algn="r"/>
            <a:r>
              <a:rPr sz="1300" b="1" i="0">
                <a:solidFill>
                  <a:srgbClr val="B88E4C"/>
                </a:solidFill>
              </a:rPr>
              <a:t>12</a:t>
            </a:r>
          </a:p>
        </p:txBody>
      </p:sp>
      <p:sp>
        <p:nvSpPr>
          <p:cNvPr id="41" name="Rectangle 40"/>
          <p:cNvSpPr/>
          <p:nvPr/>
        </p:nvSpPr>
        <p:spPr>
          <a:xfrm>
            <a:off x="4500000" y="5058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00000" y="5126400"/>
            <a:ext cx="6300000" cy="295200"/>
          </a:xfrm>
          <a:prstGeom prst="rect">
            <a:avLst/>
          </a:prstGeom>
          <a:noFill/>
        </p:spPr>
        <p:txBody>
          <a:bodyPr wrap="square">
            <a:spAutoFit/>
          </a:bodyPr>
          <a:lstStyle/>
          <a:p>
            <a:pPr algn="l"/>
            <a:r>
              <a:rPr sz="1100" b="1" i="0">
                <a:solidFill>
                  <a:srgbClr val="0A2350"/>
                </a:solidFill>
              </a:rPr>
              <a:t>Perspectives</a:t>
            </a:r>
          </a:p>
        </p:txBody>
      </p:sp>
      <p:sp>
        <p:nvSpPr>
          <p:cNvPr id="43" name="TextBox 42"/>
          <p:cNvSpPr txBox="1"/>
          <p:nvPr/>
        </p:nvSpPr>
        <p:spPr>
          <a:xfrm>
            <a:off x="11340000" y="5126400"/>
            <a:ext cx="720000" cy="295200"/>
          </a:xfrm>
          <a:prstGeom prst="rect">
            <a:avLst/>
          </a:prstGeom>
          <a:noFill/>
        </p:spPr>
        <p:txBody>
          <a:bodyPr wrap="square">
            <a:spAutoFit/>
          </a:bodyPr>
          <a:lstStyle/>
          <a:p>
            <a:pPr algn="r"/>
            <a:r>
              <a:rPr sz="1300" b="1" i="0">
                <a:solidFill>
                  <a:srgbClr val="B88E4C"/>
                </a:solidFill>
              </a:rPr>
              <a:t>13</a:t>
            </a:r>
          </a:p>
        </p:txBody>
      </p:sp>
      <p:sp>
        <p:nvSpPr>
          <p:cNvPr id="44" name="Rectangle 43"/>
          <p:cNvSpPr/>
          <p:nvPr/>
        </p:nvSpPr>
        <p:spPr>
          <a:xfrm>
            <a:off x="4500000" y="5389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00000" y="5457600"/>
            <a:ext cx="6300000" cy="295200"/>
          </a:xfrm>
          <a:prstGeom prst="rect">
            <a:avLst/>
          </a:prstGeom>
          <a:noFill/>
        </p:spPr>
        <p:txBody>
          <a:bodyPr wrap="square">
            <a:spAutoFit/>
          </a:bodyPr>
          <a:lstStyle/>
          <a:p>
            <a:pPr algn="l"/>
            <a:r>
              <a:rPr sz="1100" b="1" i="0">
                <a:solidFill>
                  <a:srgbClr val="0A2350"/>
                </a:solidFill>
              </a:rPr>
              <a:t>Conclusion</a:t>
            </a:r>
          </a:p>
        </p:txBody>
      </p:sp>
      <p:sp>
        <p:nvSpPr>
          <p:cNvPr id="46" name="TextBox 45"/>
          <p:cNvSpPr txBox="1"/>
          <p:nvPr/>
        </p:nvSpPr>
        <p:spPr>
          <a:xfrm>
            <a:off x="11340000" y="5457600"/>
            <a:ext cx="720000" cy="295200"/>
          </a:xfrm>
          <a:prstGeom prst="rect">
            <a:avLst/>
          </a:prstGeom>
          <a:noFill/>
        </p:spPr>
        <p:txBody>
          <a:bodyPr wrap="square">
            <a:spAutoFit/>
          </a:bodyPr>
          <a:lstStyle/>
          <a:p>
            <a:pPr algn="r"/>
            <a:r>
              <a:rPr sz="1300" b="1" i="0">
                <a:solidFill>
                  <a:srgbClr val="B88E4C"/>
                </a:solidFill>
              </a:rPr>
              <a:t>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I. INTRODUCTION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00000" y="1152000"/>
            <a:ext cx="5760000" cy="4680000"/>
          </a:xfrm>
          <a:prstGeom prst="rect">
            <a:avLst/>
          </a:prstGeom>
          <a:noFill/>
        </p:spPr>
        <p:txBody>
          <a:bodyPr wrap="square">
            <a:spAutoFit/>
          </a:bodyPr>
          <a:lstStyle/>
          <a:p>
            <a:pPr algn="l"/>
            <a:r>
              <a:rPr sz="1800" b="0" i="0">
                <a:solidFill>
                  <a:srgbClr val="191919"/>
                </a:solidFill>
              </a:rPr>
              <a:t>Ce projet présente la conception de TalentMatch, une plateforme de matching intelligente qui automatise la mise en correspondance entre candidats et offres d'emploi grâce à l'intelligence artificielle et au traitement du langage naturel (NLP).
TalentMatch analyse sémantiquement les CVs et les offres pour proposer un classement des candidats calibré et explicable, au-delà de la simple correspondance par mots-clés.</a:t>
            </a:r>
          </a:p>
        </p:txBody>
      </p:sp>
      <p:sp>
        <p:nvSpPr>
          <p:cNvPr id="7" name="Diamond 6"/>
          <p:cNvSpPr/>
          <p:nvPr/>
        </p:nvSpPr>
        <p:spPr>
          <a:xfrm>
            <a:off x="8100000" y="900000"/>
            <a:ext cx="2340000" cy="2340000"/>
          </a:xfrm>
          <a:prstGeom prst="diamond">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00000" y="1727999"/>
            <a:ext cx="2340000" cy="792000"/>
          </a:xfrm>
          <a:prstGeom prst="rect">
            <a:avLst/>
          </a:prstGeom>
          <a:noFill/>
        </p:spPr>
        <p:txBody>
          <a:bodyPr wrap="square">
            <a:spAutoFit/>
          </a:bodyPr>
          <a:lstStyle/>
          <a:p>
            <a:pPr algn="ctr"/>
            <a:r>
              <a:rPr sz="1100" b="1" i="0">
                <a:solidFill>
                  <a:srgbClr val="FFFFFF"/>
                </a:solidFill>
              </a:rPr>
              <a:t>Extraction
NLP</a:t>
            </a:r>
          </a:p>
        </p:txBody>
      </p:sp>
      <p:sp>
        <p:nvSpPr>
          <p:cNvPr id="9" name="Diamond 8"/>
          <p:cNvSpPr/>
          <p:nvPr/>
        </p:nvSpPr>
        <p:spPr>
          <a:xfrm>
            <a:off x="10080000" y="900000"/>
            <a:ext cx="2340000" cy="2340000"/>
          </a:xfrm>
          <a:prstGeom prst="diamond">
            <a:avLst/>
          </a:prstGeom>
          <a:solidFill>
            <a:srgbClr val="28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80000" y="1727999"/>
            <a:ext cx="2340000" cy="792000"/>
          </a:xfrm>
          <a:prstGeom prst="rect">
            <a:avLst/>
          </a:prstGeom>
          <a:noFill/>
        </p:spPr>
        <p:txBody>
          <a:bodyPr wrap="square">
            <a:spAutoFit/>
          </a:bodyPr>
          <a:lstStyle/>
          <a:p>
            <a:pPr algn="ctr"/>
            <a:r>
              <a:rPr sz="1100" b="1" i="0">
                <a:solidFill>
                  <a:srgbClr val="FFFFFF"/>
                </a:solidFill>
              </a:rPr>
              <a:t>Matching
IA</a:t>
            </a:r>
          </a:p>
        </p:txBody>
      </p:sp>
      <p:sp>
        <p:nvSpPr>
          <p:cNvPr id="11" name="Diamond 10"/>
          <p:cNvSpPr/>
          <p:nvPr/>
        </p:nvSpPr>
        <p:spPr>
          <a:xfrm>
            <a:off x="8100000" y="3420000"/>
            <a:ext cx="2340000" cy="2340000"/>
          </a:xfrm>
          <a:prstGeom prst="diamond">
            <a:avLst/>
          </a:prstGeom>
          <a:solidFill>
            <a:srgbClr val="466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00000" y="4247999"/>
            <a:ext cx="2340000" cy="792000"/>
          </a:xfrm>
          <a:prstGeom prst="rect">
            <a:avLst/>
          </a:prstGeom>
          <a:noFill/>
        </p:spPr>
        <p:txBody>
          <a:bodyPr wrap="square">
            <a:spAutoFit/>
          </a:bodyPr>
          <a:lstStyle/>
          <a:p>
            <a:pPr algn="ctr"/>
            <a:r>
              <a:rPr sz="1100" b="1" i="0">
                <a:solidFill>
                  <a:srgbClr val="FFFFFF"/>
                </a:solidFill>
              </a:rPr>
              <a:t>Scoring
BGE-M3</a:t>
            </a:r>
          </a:p>
        </p:txBody>
      </p:sp>
      <p:sp>
        <p:nvSpPr>
          <p:cNvPr id="13" name="Diamond 12"/>
          <p:cNvSpPr/>
          <p:nvPr/>
        </p:nvSpPr>
        <p:spPr>
          <a:xfrm>
            <a:off x="10080000" y="3420000"/>
            <a:ext cx="2340000" cy="2340000"/>
          </a:xfrm>
          <a:prstGeom prst="diamond">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80000" y="4247999"/>
            <a:ext cx="2340000" cy="792000"/>
          </a:xfrm>
          <a:prstGeom prst="rect">
            <a:avLst/>
          </a:prstGeom>
          <a:noFill/>
        </p:spPr>
        <p:txBody>
          <a:bodyPr wrap="square">
            <a:spAutoFit/>
          </a:bodyPr>
          <a:lstStyle/>
          <a:p>
            <a:pPr algn="ctr"/>
            <a:r>
              <a:rPr sz="1100" b="1" i="0">
                <a:solidFill>
                  <a:srgbClr val="FFFFFF"/>
                </a:solidFill>
              </a:rPr>
              <a:t>Rapport
explicable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Projet de Stage — 3S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go_3s.png"/>
          <p:cNvPicPr>
            <a:picLocks noChangeAspect="1"/>
          </p:cNvPicPr>
          <p:nvPr/>
        </p:nvPicPr>
        <p:blipFill>
          <a:blip r:embed="rId2"/>
          <a:stretch>
            <a:fillRect/>
          </a:stretch>
        </p:blipFill>
        <p:spPr>
          <a:xfrm>
            <a:off x="6840000" y="1620000"/>
            <a:ext cx="2160000" cy="1141714"/>
          </a:xfrm>
          <a:prstGeom prst="rect">
            <a:avLst/>
          </a:prstGeom>
        </p:spPr>
      </p:pic>
      <p:sp>
        <p:nvSpPr>
          <p:cNvPr id="7" name="Rectangle 6"/>
          <p:cNvSpPr/>
          <p:nvPr/>
        </p:nvSpPr>
        <p:spPr>
          <a:xfrm>
            <a:off x="1800000" y="1260000"/>
            <a:ext cx="3960000" cy="216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44000" y="1404000"/>
            <a:ext cx="3671999" cy="324000"/>
          </a:xfrm>
          <a:prstGeom prst="rect">
            <a:avLst/>
          </a:prstGeom>
          <a:noFill/>
        </p:spPr>
        <p:txBody>
          <a:bodyPr wrap="square">
            <a:spAutoFit/>
          </a:bodyPr>
          <a:lstStyle/>
          <a:p>
            <a:pPr algn="ctr"/>
            <a:r>
              <a:rPr sz="1300" b="0" i="0">
                <a:solidFill>
                  <a:srgbClr val="E8E8E8"/>
                </a:solidFill>
              </a:rPr>
              <a:t>Encadrante société</a:t>
            </a:r>
          </a:p>
        </p:txBody>
      </p:sp>
      <p:sp>
        <p:nvSpPr>
          <p:cNvPr id="9" name="TextBox 8"/>
          <p:cNvSpPr txBox="1"/>
          <p:nvPr/>
        </p:nvSpPr>
        <p:spPr>
          <a:xfrm>
            <a:off x="1944000" y="1674000"/>
            <a:ext cx="3671999" cy="324000"/>
          </a:xfrm>
          <a:prstGeom prst="rect">
            <a:avLst/>
          </a:prstGeom>
          <a:noFill/>
        </p:spPr>
        <p:txBody>
          <a:bodyPr wrap="square">
            <a:spAutoFit/>
          </a:bodyPr>
          <a:lstStyle/>
          <a:p>
            <a:pPr algn="ctr"/>
            <a:r>
              <a:rPr sz="1500" b="1" i="0">
                <a:solidFill>
                  <a:srgbClr val="FFFFFF"/>
                </a:solidFill>
              </a:rPr>
              <a:t>Mme Sirine Nasri</a:t>
            </a:r>
          </a:p>
        </p:txBody>
      </p:sp>
      <p:sp>
        <p:nvSpPr>
          <p:cNvPr id="10" name="TextBox 9"/>
          <p:cNvSpPr txBox="1"/>
          <p:nvPr/>
        </p:nvSpPr>
        <p:spPr>
          <a:xfrm>
            <a:off x="1944000" y="2088000"/>
            <a:ext cx="3671999" cy="324000"/>
          </a:xfrm>
          <a:prstGeom prst="rect">
            <a:avLst/>
          </a:prstGeom>
          <a:noFill/>
        </p:spPr>
        <p:txBody>
          <a:bodyPr wrap="square">
            <a:spAutoFit/>
          </a:bodyPr>
          <a:lstStyle/>
          <a:p>
            <a:pPr algn="ctr"/>
            <a:r>
              <a:rPr sz="1300" b="0" i="0">
                <a:solidFill>
                  <a:srgbClr val="E8E8E8"/>
                </a:solidFill>
              </a:rPr>
              <a:t>Encadrante académique</a:t>
            </a:r>
          </a:p>
        </p:txBody>
      </p:sp>
      <p:sp>
        <p:nvSpPr>
          <p:cNvPr id="11" name="TextBox 10"/>
          <p:cNvSpPr txBox="1"/>
          <p:nvPr/>
        </p:nvSpPr>
        <p:spPr>
          <a:xfrm>
            <a:off x="1944000" y="2358000"/>
            <a:ext cx="3671999" cy="324000"/>
          </a:xfrm>
          <a:prstGeom prst="rect">
            <a:avLst/>
          </a:prstGeom>
          <a:noFill/>
        </p:spPr>
        <p:txBody>
          <a:bodyPr wrap="square">
            <a:spAutoFit/>
          </a:bodyPr>
          <a:lstStyle/>
          <a:p>
            <a:pPr algn="ctr"/>
            <a:r>
              <a:rPr sz="1500" b="1" i="0">
                <a:solidFill>
                  <a:srgbClr val="FFFFFF"/>
                </a:solidFill>
              </a:rPr>
              <a:t>Mme Loujayne Bouzarti</a:t>
            </a:r>
          </a:p>
        </p:txBody>
      </p:sp>
      <p:sp>
        <p:nvSpPr>
          <p:cNvPr id="12" name="TextBox 11"/>
          <p:cNvSpPr txBox="1"/>
          <p:nvPr/>
        </p:nvSpPr>
        <p:spPr>
          <a:xfrm>
            <a:off x="1944000" y="2772000"/>
            <a:ext cx="3671999" cy="324000"/>
          </a:xfrm>
          <a:prstGeom prst="rect">
            <a:avLst/>
          </a:prstGeom>
          <a:noFill/>
        </p:spPr>
        <p:txBody>
          <a:bodyPr wrap="square">
            <a:spAutoFit/>
          </a:bodyPr>
          <a:lstStyle/>
          <a:p>
            <a:pPr algn="ctr"/>
            <a:r>
              <a:rPr sz="1300" b="0" i="0">
                <a:solidFill>
                  <a:srgbClr val="E8E8E8"/>
                </a:solidFill>
              </a:rPr>
              <a:t>Tunis  •  Fév – Août 2026 (6 mois)</a:t>
            </a:r>
          </a:p>
        </p:txBody>
      </p:sp>
      <p:sp>
        <p:nvSpPr>
          <p:cNvPr id="13" name="TextBox 12"/>
          <p:cNvSpPr txBox="1"/>
          <p:nvPr/>
        </p:nvSpPr>
        <p:spPr>
          <a:xfrm>
            <a:off x="6300000" y="1512000"/>
            <a:ext cx="5580000" cy="756000"/>
          </a:xfrm>
          <a:prstGeom prst="rect">
            <a:avLst/>
          </a:prstGeom>
          <a:noFill/>
        </p:spPr>
        <p:txBody>
          <a:bodyPr wrap="square">
            <a:spAutoFit/>
          </a:bodyPr>
          <a:lstStyle/>
          <a:p>
            <a:pPr algn="l"/>
            <a:r>
              <a:rPr sz="1200" b="0" i="0">
                <a:solidFill>
                  <a:srgbClr val="191919"/>
                </a:solidFill>
              </a:rPr>
              <a:t>•  3S est un acteur clé dans les solutions RH et IT en Tunisie, accompagnant les entreprises dans leur transformation digitale.</a:t>
            </a:r>
          </a:p>
        </p:txBody>
      </p:sp>
      <p:sp>
        <p:nvSpPr>
          <p:cNvPr id="14" name="TextBox 13"/>
          <p:cNvSpPr txBox="1"/>
          <p:nvPr/>
        </p:nvSpPr>
        <p:spPr>
          <a:xfrm>
            <a:off x="6300000" y="2340000"/>
            <a:ext cx="5580000" cy="756000"/>
          </a:xfrm>
          <a:prstGeom prst="rect">
            <a:avLst/>
          </a:prstGeom>
          <a:noFill/>
        </p:spPr>
        <p:txBody>
          <a:bodyPr wrap="square">
            <a:spAutoFit/>
          </a:bodyPr>
          <a:lstStyle/>
          <a:p>
            <a:pPr algn="l"/>
            <a:r>
              <a:rPr sz="1200" b="0" i="0">
                <a:solidFill>
                  <a:srgbClr val="191919"/>
                </a:solidFill>
              </a:rPr>
              <a:t>•  Expertise en développement de logiciels sur mesure, gestion des ressources humaines et conseil en systèmes d'information.</a:t>
            </a:r>
          </a:p>
        </p:txBody>
      </p:sp>
      <p:sp>
        <p:nvSpPr>
          <p:cNvPr id="15" name="TextBox 14"/>
          <p:cNvSpPr txBox="1"/>
          <p:nvPr/>
        </p:nvSpPr>
        <p:spPr>
          <a:xfrm>
            <a:off x="6300000" y="3168000"/>
            <a:ext cx="5580000" cy="756000"/>
          </a:xfrm>
          <a:prstGeom prst="rect">
            <a:avLst/>
          </a:prstGeom>
          <a:noFill/>
        </p:spPr>
        <p:txBody>
          <a:bodyPr wrap="square">
            <a:spAutoFit/>
          </a:bodyPr>
          <a:lstStyle/>
          <a:p>
            <a:pPr algn="l"/>
            <a:r>
              <a:rPr sz="1200" b="0" i="0">
                <a:solidFill>
                  <a:srgbClr val="191919"/>
                </a:solidFill>
              </a:rPr>
              <a:t>•  Culture d'innovation axée sur la qualité, la sécurité et l'excellence opérationnelle au service de ses clients.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Étude de l'existant</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144000" y="1080000"/>
          <a:ext cx="11880000" cy="4968000"/>
        </p:xfrm>
        <a:graphic>
          <a:graphicData uri="http://schemas.openxmlformats.org/drawingml/2006/table">
            <a:tbl>
              <a:tblPr firstRow="1" bandRow="1">
                <a:tableStyleId>{5C22544A-7EE6-4342-B048-85BDC9FD1C3A}</a:tableStyleId>
              </a:tblPr>
              <a:tblGrid>
                <a:gridCol w="3960000"/>
                <a:gridCol w="2700000"/>
                <a:gridCol w="2700000"/>
                <a:gridCol w="2520000"/>
              </a:tblGrid>
              <a:tr h="612000">
                <a:tc>
                  <a:txBody>
                    <a:bodyPr wrap="square"/>
                    <a:lstStyle/>
                    <a:p>
                      <a:pPr algn="l"/>
                      <a:r>
                        <a:rPr b="1" sz="1100" i="0">
                          <a:solidFill>
                            <a:srgbClr val="FFFFFF"/>
                          </a:solidFill>
                        </a:rPr>
                        <a:t>Solution</a:t>
                      </a:r>
                    </a:p>
                  </a:txBody>
                  <a:tcPr marT="63500" marB="63500" marL="101600" marR="76200">
                    <a:solidFill>
                      <a:srgbClr val="0A2350"/>
                    </a:solidFill>
                  </a:tcPr>
                </a:tc>
                <a:tc>
                  <a:txBody>
                    <a:bodyPr wrap="square"/>
                    <a:lstStyle/>
                    <a:p>
                      <a:pPr algn="ctr"/>
                      <a:r>
                        <a:rPr b="1" sz="1100" i="0">
                          <a:solidFill>
                            <a:srgbClr val="FFFFFF"/>
                          </a:solidFill>
                        </a:rPr>
                        <a:t>Recherche
d'offres</a:t>
                      </a:r>
                    </a:p>
                  </a:txBody>
                  <a:tcPr marT="63500" marB="63500" marL="101600" marR="76200">
                    <a:solidFill>
                      <a:srgbClr val="0A2350"/>
                    </a:solidFill>
                  </a:tcPr>
                </a:tc>
                <a:tc>
                  <a:txBody>
                    <a:bodyPr wrap="square"/>
                    <a:lstStyle/>
                    <a:p>
                      <a:pPr algn="ctr"/>
                      <a:r>
                        <a:rPr b="1" sz="1100" i="0">
                          <a:solidFill>
                            <a:srgbClr val="FFFFFF"/>
                          </a:solidFill>
                        </a:rPr>
                        <a:t>Adapté
marché TN</a:t>
                      </a:r>
                    </a:p>
                  </a:txBody>
                  <a:tcPr marT="63500" marB="63500" marL="101600" marR="76200">
                    <a:solidFill>
                      <a:srgbClr val="0A2350"/>
                    </a:solidFill>
                  </a:tcPr>
                </a:tc>
                <a:tc>
                  <a:txBody>
                    <a:bodyPr wrap="square"/>
                    <a:lstStyle/>
                    <a:p>
                      <a:pPr algn="ctr"/>
                      <a:r>
                        <a:rPr b="1" sz="1100" i="0">
                          <a:solidFill>
                            <a:srgbClr val="FFFFFF"/>
                          </a:solidFill>
                        </a:rPr>
                        <a:t>Coût</a:t>
                      </a:r>
                    </a:p>
                  </a:txBody>
                  <a:tcPr marT="63500" marB="63500" marL="101600" marR="76200">
                    <a:solidFill>
                      <a:srgbClr val="0A2350"/>
                    </a:solidFill>
                  </a:tcPr>
                </a:tc>
              </a:tr>
              <a:tr h="871200">
                <a:tc>
                  <a:txBody>
                    <a:bodyPr wrap="square"/>
                    <a:lstStyle/>
                    <a:p>
                      <a:pPr algn="l"/>
                      <a:r>
                        <a:rPr b="0" sz="1100" i="0">
                          <a:solidFill>
                            <a:srgbClr val="0A2350"/>
                          </a:solidFill>
                        </a:rPr>
                        <a:t>LinkedIn Recruiter</a:t>
                      </a:r>
                    </a:p>
                  </a:txBody>
                  <a:tcPr marT="63500" marB="63500" marL="127000" marR="76200">
                    <a:solidFill>
                      <a:srgbClr val="F5F5F8"/>
                    </a:solidFill>
                  </a:tcPr>
                </a:tc>
                <a:tc>
                  <a:txBody>
                    <a:bodyPr wrap="square"/>
                    <a:lstStyle/>
                    <a:p>
                      <a:pPr algn="ctr"/>
                      <a:r>
                        <a:rPr b="0" sz="1200" i="0">
                          <a:solidFill>
                            <a:srgbClr val="228B22"/>
                          </a:solidFill>
                        </a:rPr>
                        <a:t>Oui</a:t>
                      </a:r>
                    </a:p>
                  </a:txBody>
                  <a:tcPr marT="63500" marB="63500" marL="101600" marR="76200">
                    <a:solidFill>
                      <a:srgbClr val="DCF5DC"/>
                    </a:solidFill>
                  </a:tcPr>
                </a:tc>
                <a:tc>
                  <a:txBody>
                    <a:bodyPr wrap="square"/>
                    <a:lstStyle/>
                    <a:p>
                      <a:pPr algn="ctr"/>
                      <a:r>
                        <a:rPr b="0" sz="1200" i="0">
                          <a:solidFill>
                            <a:srgbClr val="B41E1E"/>
                          </a:solidFill>
                        </a:rPr>
                        <a:t>Non</a:t>
                      </a:r>
                    </a:p>
                  </a:txBody>
                  <a:tcPr marT="63500" marB="63500" marL="101600" marR="76200">
                    <a:solidFill>
                      <a:srgbClr val="FADCDC"/>
                    </a:solidFill>
                  </a:tcPr>
                </a:tc>
                <a:tc>
                  <a:txBody>
                    <a:bodyPr wrap="square"/>
                    <a:lstStyle/>
                    <a:p>
                      <a:pPr algn="ctr"/>
                      <a:r>
                        <a:rPr b="0" sz="1200" i="0">
                          <a:solidFill>
                            <a:srgbClr val="B41E1E"/>
                          </a:solidFill>
                        </a:rPr>
                        <a:t>Payant</a:t>
                      </a:r>
                    </a:p>
                  </a:txBody>
                  <a:tcPr marT="63500" marB="63500" marL="101600" marR="76200">
                    <a:solidFill>
                      <a:srgbClr val="FADCDC"/>
                    </a:solidFill>
                  </a:tcPr>
                </a:tc>
              </a:tr>
              <a:tr h="871200">
                <a:tc>
                  <a:txBody>
                    <a:bodyPr wrap="square"/>
                    <a:lstStyle/>
                    <a:p>
                      <a:pPr algn="l"/>
                      <a:r>
                        <a:rPr b="0" sz="1100" i="0">
                          <a:solidFill>
                            <a:srgbClr val="0A2350"/>
                          </a:solidFill>
                        </a:rPr>
                        <a:t>Indeed</a:t>
                      </a:r>
                    </a:p>
                  </a:txBody>
                  <a:tcPr marT="63500" marB="63500" marL="127000" marR="76200">
                    <a:solidFill>
                      <a:srgbClr val="FFFFFF"/>
                    </a:solidFill>
                  </a:tcPr>
                </a:tc>
                <a:tc>
                  <a:txBody>
                    <a:bodyPr wrap="square"/>
                    <a:lstStyle/>
                    <a:p>
                      <a:pPr algn="ctr"/>
                      <a:r>
                        <a:rPr b="0" sz="1200" i="0">
                          <a:solidFill>
                            <a:srgbClr val="228B22"/>
                          </a:solidFill>
                        </a:rPr>
                        <a:t>Oui</a:t>
                      </a:r>
                    </a:p>
                  </a:txBody>
                  <a:tcPr marT="63500" marB="63500" marL="101600" marR="76200">
                    <a:solidFill>
                      <a:srgbClr val="DCF5DC"/>
                    </a:solidFill>
                  </a:tcPr>
                </a:tc>
                <a:tc>
                  <a:txBody>
                    <a:bodyPr wrap="square"/>
                    <a:lstStyle/>
                    <a:p>
                      <a:pPr algn="ctr"/>
                      <a:r>
                        <a:rPr b="0" sz="1200" i="0">
                          <a:solidFill>
                            <a:srgbClr val="B41E1E"/>
                          </a:solidFill>
                        </a:rPr>
                        <a:t>Non</a:t>
                      </a:r>
                    </a:p>
                  </a:txBody>
                  <a:tcPr marT="63500" marB="63500" marL="101600" marR="76200">
                    <a:solidFill>
                      <a:srgbClr val="FADCDC"/>
                    </a:solidFill>
                  </a:tcPr>
                </a:tc>
                <a:tc>
                  <a:txBody>
                    <a:bodyPr wrap="square"/>
                    <a:lstStyle/>
                    <a:p>
                      <a:pPr algn="ctr"/>
                      <a:r>
                        <a:rPr b="0" sz="1200" i="0">
                          <a:solidFill>
                            <a:srgbClr val="B41E1E"/>
                          </a:solidFill>
                        </a:rPr>
                        <a:t>Payant</a:t>
                      </a:r>
                    </a:p>
                  </a:txBody>
                  <a:tcPr marT="63500" marB="63500" marL="101600" marR="76200">
                    <a:solidFill>
                      <a:srgbClr val="FADCDC"/>
                    </a:solidFill>
                  </a:tcPr>
                </a:tc>
              </a:tr>
              <a:tr h="871200">
                <a:tc>
                  <a:txBody>
                    <a:bodyPr wrap="square"/>
                    <a:lstStyle/>
                    <a:p>
                      <a:pPr algn="l"/>
                      <a:r>
                        <a:rPr b="0" sz="1100" i="0">
                          <a:solidFill>
                            <a:srgbClr val="0A2350"/>
                          </a:solidFill>
                        </a:rPr>
                        <a:t>ANAPEC</a:t>
                      </a:r>
                    </a:p>
                  </a:txBody>
                  <a:tcPr marT="63500" marB="63500" marL="127000" marR="76200">
                    <a:solidFill>
                      <a:srgbClr val="F5F5F8"/>
                    </a:solidFill>
                  </a:tcPr>
                </a:tc>
                <a:tc>
                  <a:txBody>
                    <a:bodyPr wrap="square"/>
                    <a:lstStyle/>
                    <a:p>
                      <a:pPr algn="ctr"/>
                      <a:r>
                        <a:rPr b="0" sz="1200" i="0">
                          <a:solidFill>
                            <a:srgbClr val="228B22"/>
                          </a:solidFill>
                        </a:rPr>
                        <a:t>Oui</a:t>
                      </a:r>
                    </a:p>
                  </a:txBody>
                  <a:tcPr marT="63500" marB="63500" marL="101600" marR="76200">
                    <a:solidFill>
                      <a:srgbClr val="DCF5DC"/>
                    </a:solidFill>
                  </a:tcPr>
                </a:tc>
                <a:tc>
                  <a:txBody>
                    <a:bodyPr wrap="square"/>
                    <a:lstStyle/>
                    <a:p>
                      <a:pPr algn="ctr"/>
                      <a:r>
                        <a:rPr b="0" sz="1200" i="0">
                          <a:solidFill>
                            <a:srgbClr val="228B22"/>
                          </a:solidFill>
                        </a:rPr>
                        <a:t>Oui</a:t>
                      </a:r>
                    </a:p>
                  </a:txBody>
                  <a:tcPr marT="63500" marB="63500" marL="101600" marR="76200">
                    <a:solidFill>
                      <a:srgbClr val="DCF5DC"/>
                    </a:solidFill>
                  </a:tcPr>
                </a:tc>
                <a:tc>
                  <a:txBody>
                    <a:bodyPr wrap="square"/>
                    <a:lstStyle/>
                    <a:p>
                      <a:pPr algn="ctr"/>
                      <a:r>
                        <a:rPr b="0" sz="1200" i="0">
                          <a:solidFill>
                            <a:srgbClr val="228B22"/>
                          </a:solidFill>
                        </a:rPr>
                        <a:t>Gratuit</a:t>
                      </a:r>
                    </a:p>
                  </a:txBody>
                  <a:tcPr marT="63500" marB="63500" marL="101600" marR="76200">
                    <a:solidFill>
                      <a:srgbClr val="DCF5DC"/>
                    </a:solidFill>
                  </a:tcPr>
                </a:tc>
              </a:tr>
              <a:tr h="871200">
                <a:tc>
                  <a:txBody>
                    <a:bodyPr wrap="square"/>
                    <a:lstStyle/>
                    <a:p>
                      <a:pPr algn="l"/>
                      <a:r>
                        <a:rPr b="0" sz="1100" i="0">
                          <a:solidFill>
                            <a:srgbClr val="0A2350"/>
                          </a:solidFill>
                        </a:rPr>
                        <a:t>Workday / ATS génériques</a:t>
                      </a:r>
                    </a:p>
                  </a:txBody>
                  <a:tcPr marT="63500" marB="63500" marL="127000" marR="76200">
                    <a:solidFill>
                      <a:srgbClr val="FFFFFF"/>
                    </a:solidFill>
                  </a:tcPr>
                </a:tc>
                <a:tc>
                  <a:txBody>
                    <a:bodyPr wrap="square"/>
                    <a:lstStyle/>
                    <a:p>
                      <a:pPr algn="ctr"/>
                      <a:r>
                        <a:rPr b="0" sz="1200" i="0">
                          <a:solidFill>
                            <a:srgbClr val="228B22"/>
                          </a:solidFill>
                        </a:rPr>
                        <a:t>Oui</a:t>
                      </a:r>
                    </a:p>
                  </a:txBody>
                  <a:tcPr marT="63500" marB="63500" marL="101600" marR="76200">
                    <a:solidFill>
                      <a:srgbClr val="DCF5DC"/>
                    </a:solidFill>
                  </a:tcPr>
                </a:tc>
                <a:tc>
                  <a:txBody>
                    <a:bodyPr wrap="square"/>
                    <a:lstStyle/>
                    <a:p>
                      <a:pPr algn="ctr"/>
                      <a:r>
                        <a:rPr b="0" sz="1200" i="0">
                          <a:solidFill>
                            <a:srgbClr val="B41E1E"/>
                          </a:solidFill>
                        </a:rPr>
                        <a:t>Non</a:t>
                      </a:r>
                    </a:p>
                  </a:txBody>
                  <a:tcPr marT="63500" marB="63500" marL="101600" marR="76200">
                    <a:solidFill>
                      <a:srgbClr val="FADCDC"/>
                    </a:solidFill>
                  </a:tcPr>
                </a:tc>
                <a:tc>
                  <a:txBody>
                    <a:bodyPr wrap="square"/>
                    <a:lstStyle/>
                    <a:p>
                      <a:pPr algn="ctr"/>
                      <a:r>
                        <a:rPr b="0" sz="1200" i="0">
                          <a:solidFill>
                            <a:srgbClr val="B41E1E"/>
                          </a:solidFill>
                        </a:rPr>
                        <a:t>Payant</a:t>
                      </a:r>
                    </a:p>
                  </a:txBody>
                  <a:tcPr marT="63500" marB="63500" marL="101600" marR="76200">
                    <a:solidFill>
                      <a:srgbClr val="FADCDC"/>
                    </a:solidFill>
                  </a:tcPr>
                </a:tc>
              </a:tr>
              <a:tr h="871200">
                <a:tc>
                  <a:txBody>
                    <a:bodyPr wrap="square"/>
                    <a:lstStyle/>
                    <a:p>
                      <a:pPr algn="l"/>
                      <a:r>
                        <a:rPr b="1" sz="1100" i="0">
                          <a:solidFill>
                            <a:srgbClr val="0A3C0A"/>
                          </a:solidFill>
                        </a:rPr>
                        <a:t>3S TalentMatch  ✓</a:t>
                      </a:r>
                    </a:p>
                  </a:txBody>
                  <a:tcPr marT="63500" marB="63500" marL="127000" marR="76200">
                    <a:solidFill>
                      <a:srgbClr val="FFFCE6"/>
                    </a:solidFill>
                  </a:tcPr>
                </a:tc>
                <a:tc>
                  <a:txBody>
                    <a:bodyPr wrap="square"/>
                    <a:lstStyle/>
                    <a:p>
                      <a:pPr algn="ctr"/>
                      <a:r>
                        <a:rPr b="1" sz="1200" i="0">
                          <a:solidFill>
                            <a:srgbClr val="228B22"/>
                          </a:solidFill>
                        </a:rPr>
                        <a:t>Oui</a:t>
                      </a:r>
                    </a:p>
                  </a:txBody>
                  <a:tcPr marT="63500" marB="63500" marL="101600" marR="76200">
                    <a:solidFill>
                      <a:srgbClr val="F0FFF0"/>
                    </a:solidFill>
                  </a:tcPr>
                </a:tc>
                <a:tc>
                  <a:txBody>
                    <a:bodyPr wrap="square"/>
                    <a:lstStyle/>
                    <a:p>
                      <a:pPr algn="ctr"/>
                      <a:r>
                        <a:rPr b="1" sz="1200" i="0">
                          <a:solidFill>
                            <a:srgbClr val="228B22"/>
                          </a:solidFill>
                        </a:rPr>
                        <a:t>Oui</a:t>
                      </a:r>
                    </a:p>
                  </a:txBody>
                  <a:tcPr marT="63500" marB="63500" marL="101600" marR="76200">
                    <a:solidFill>
                      <a:srgbClr val="F0FFF0"/>
                    </a:solidFill>
                  </a:tcPr>
                </a:tc>
                <a:tc>
                  <a:txBody>
                    <a:bodyPr wrap="square"/>
                    <a:lstStyle/>
                    <a:p>
                      <a:pPr algn="ctr"/>
                      <a:r>
                        <a:rPr b="1" sz="1200" i="0">
                          <a:solidFill>
                            <a:srgbClr val="228B22"/>
                          </a:solidFill>
                        </a:rPr>
                        <a:t>Gratuit</a:t>
                      </a:r>
                    </a:p>
                  </a:txBody>
                  <a:tcPr marT="63500" marB="63500" marL="101600" marR="76200">
                    <a:solidFill>
                      <a:srgbClr val="F0FFF0"/>
                    </a:solidFill>
                  </a:tcPr>
                </a:tc>
              </a:tr>
            </a:tbl>
          </a:graphicData>
        </a:graphic>
      </p:graphicFrame>
      <p:sp>
        <p:nvSpPr>
          <p:cNvPr id="7" name="TextBox 6"/>
          <p:cNvSpPr txBox="1"/>
          <p:nvPr/>
        </p:nvSpPr>
        <p:spPr>
          <a:xfrm>
            <a:off x="144000" y="6156000"/>
            <a:ext cx="11880000" cy="503999"/>
          </a:xfrm>
          <a:prstGeom prst="rect">
            <a:avLst/>
          </a:prstGeom>
          <a:noFill/>
        </p:spPr>
        <p:txBody>
          <a:bodyPr wrap="square">
            <a:spAutoFit/>
          </a:bodyPr>
          <a:lstStyle/>
          <a:p>
            <a:pPr algn="ctr"/>
            <a:r>
              <a:rPr sz="900" i="1">
                <a:solidFill>
                  <a:srgbClr val="505064"/>
                </a:solidFill>
              </a:rPr>
              <a:t>Adapté marché TN = interface, offres et base candidats orientées Tunisie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Problématique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00000" y="1152000"/>
            <a:ext cx="5760000" cy="4680000"/>
          </a:xfrm>
          <a:prstGeom prst="rect">
            <a:avLst/>
          </a:prstGeom>
          <a:noFill/>
        </p:spPr>
        <p:txBody>
          <a:bodyPr wrap="square">
            <a:spAutoFit/>
          </a:bodyPr>
          <a:lstStyle/>
          <a:p>
            <a:pPr algn="l"/>
            <a:r>
              <a:rPr sz="1800" b="0" i="0">
                <a:solidFill>
                  <a:srgbClr val="191919"/>
                </a:solidFill>
              </a:rPr>
              <a:t>Le recrutement actuel souffre d'un volume croissant de candidatures traitées manuellement, sans analyse sémantique du profil. Un recruteur consulte un CV en moyenne 23 secondes, générant de nombreux faux positifs et des profils adaptés ignorés.
Cette gestion fragmentée empêche une réactivité optimale et retarde considérablement la mise en relation entre candidats et recruteurs.
Comment faire correspondre intelligemment un candidat à une offre, au-delà de la simple recherche par mots-clés ?</a:t>
            </a:r>
          </a:p>
        </p:txBody>
      </p:sp>
      <p:sp>
        <p:nvSpPr>
          <p:cNvPr id="7" name="Oval 6"/>
          <p:cNvSpPr/>
          <p:nvPr/>
        </p:nvSpPr>
        <p:spPr>
          <a:xfrm>
            <a:off x="7020000" y="0"/>
            <a:ext cx="3960000" cy="3960000"/>
          </a:xfrm>
          <a:prstGeom prst="ellips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632000" y="612000"/>
            <a:ext cx="2736000" cy="2736000"/>
          </a:xfrm>
          <a:prstGeom prst="ellipse">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280000" y="126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368000" y="1908000"/>
            <a:ext cx="1260000" cy="144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872000" y="1800000"/>
            <a:ext cx="576000" cy="576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908001" y="2412000"/>
            <a:ext cx="503999" cy="90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Les défis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miley Face 5"/>
          <p:cNvSpPr/>
          <p:nvPr/>
        </p:nvSpPr>
        <p:spPr>
          <a:xfrm>
            <a:off x="1620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808000" y="1512000"/>
            <a:ext cx="1007999" cy="1007999"/>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00000" y="2592000"/>
            <a:ext cx="3060000" cy="432000"/>
          </a:xfrm>
          <a:prstGeom prst="rect">
            <a:avLst/>
          </a:prstGeom>
          <a:noFill/>
        </p:spPr>
        <p:txBody>
          <a:bodyPr wrap="square">
            <a:spAutoFit/>
          </a:bodyPr>
          <a:lstStyle/>
          <a:p>
            <a:pPr algn="l"/>
            <a:r>
              <a:rPr sz="1300" b="1" i="0">
                <a:solidFill>
                  <a:srgbClr val="0A2350"/>
                </a:solidFill>
              </a:rPr>
              <a:t>Extraction &amp; Parsing NLP</a:t>
            </a:r>
          </a:p>
        </p:txBody>
      </p:sp>
      <p:sp>
        <p:nvSpPr>
          <p:cNvPr id="9" name="TextBox 8"/>
          <p:cNvSpPr txBox="1"/>
          <p:nvPr/>
        </p:nvSpPr>
        <p:spPr>
          <a:xfrm>
            <a:off x="1800000" y="2988000"/>
            <a:ext cx="3060000" cy="1008000"/>
          </a:xfrm>
          <a:prstGeom prst="rect">
            <a:avLst/>
          </a:prstGeom>
          <a:noFill/>
        </p:spPr>
        <p:txBody>
          <a:bodyPr wrap="square">
            <a:spAutoFit/>
          </a:bodyPr>
          <a:lstStyle/>
          <a:p>
            <a:pPr algn="l"/>
            <a:r>
              <a:rPr sz="1100" b="0" i="0">
                <a:solidFill>
                  <a:srgbClr val="191919"/>
                </a:solidFill>
              </a:rPr>
              <a:t>Structurer automatiquement les informations depuis des CVs hétérogènes (PDF, DOCX, images scannées) via spaCy et OCR.</a:t>
            </a:r>
          </a:p>
        </p:txBody>
      </p:sp>
      <p:sp>
        <p:nvSpPr>
          <p:cNvPr id="10" name="Smiley Face 9"/>
          <p:cNvSpPr/>
          <p:nvPr/>
        </p:nvSpPr>
        <p:spPr>
          <a:xfrm>
            <a:off x="5292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80000" y="1512000"/>
            <a:ext cx="1007999" cy="1007999"/>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72000" y="2592000"/>
            <a:ext cx="3060000" cy="432000"/>
          </a:xfrm>
          <a:prstGeom prst="rect">
            <a:avLst/>
          </a:prstGeom>
          <a:noFill/>
        </p:spPr>
        <p:txBody>
          <a:bodyPr wrap="square">
            <a:spAutoFit/>
          </a:bodyPr>
          <a:lstStyle/>
          <a:p>
            <a:pPr algn="l"/>
            <a:r>
              <a:rPr sz="1300" b="1" i="0">
                <a:solidFill>
                  <a:srgbClr val="0A2350"/>
                </a:solidFill>
              </a:rPr>
              <a:t>Matching sémantique</a:t>
            </a:r>
          </a:p>
        </p:txBody>
      </p:sp>
      <p:sp>
        <p:nvSpPr>
          <p:cNvPr id="13" name="TextBox 12"/>
          <p:cNvSpPr txBox="1"/>
          <p:nvPr/>
        </p:nvSpPr>
        <p:spPr>
          <a:xfrm>
            <a:off x="5472000" y="2988000"/>
            <a:ext cx="3060000" cy="1008000"/>
          </a:xfrm>
          <a:prstGeom prst="rect">
            <a:avLst/>
          </a:prstGeom>
          <a:noFill/>
        </p:spPr>
        <p:txBody>
          <a:bodyPr wrap="square">
            <a:spAutoFit/>
          </a:bodyPr>
          <a:lstStyle/>
          <a:p>
            <a:pPr algn="l"/>
            <a:r>
              <a:rPr sz="1100" b="0" i="0">
                <a:solidFill>
                  <a:srgbClr val="191919"/>
                </a:solidFill>
              </a:rPr>
              <a:t>Aller au-delà des mots-clés pour comprendre la pertinence réelle d'un profil grâce à BGE-M3 et Cross-Encoder reranker.</a:t>
            </a:r>
          </a:p>
        </p:txBody>
      </p:sp>
      <p:sp>
        <p:nvSpPr>
          <p:cNvPr id="14" name="Smiley Face 13"/>
          <p:cNvSpPr/>
          <p:nvPr/>
        </p:nvSpPr>
        <p:spPr>
          <a:xfrm>
            <a:off x="8964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152000" y="1512000"/>
            <a:ext cx="1007999" cy="1007999"/>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592000"/>
            <a:ext cx="3060000" cy="432000"/>
          </a:xfrm>
          <a:prstGeom prst="rect">
            <a:avLst/>
          </a:prstGeom>
          <a:noFill/>
        </p:spPr>
        <p:txBody>
          <a:bodyPr wrap="square">
            <a:spAutoFit/>
          </a:bodyPr>
          <a:lstStyle/>
          <a:p>
            <a:pPr algn="l"/>
            <a:r>
              <a:rPr sz="1300" b="1" i="0">
                <a:solidFill>
                  <a:srgbClr val="0A2350"/>
                </a:solidFill>
              </a:rPr>
              <a:t>Explainabilité du score</a:t>
            </a:r>
          </a:p>
        </p:txBody>
      </p:sp>
      <p:sp>
        <p:nvSpPr>
          <p:cNvPr id="17" name="TextBox 16"/>
          <p:cNvSpPr txBox="1"/>
          <p:nvPr/>
        </p:nvSpPr>
        <p:spPr>
          <a:xfrm>
            <a:off x="9144000" y="2988000"/>
            <a:ext cx="3060000" cy="1008000"/>
          </a:xfrm>
          <a:prstGeom prst="rect">
            <a:avLst/>
          </a:prstGeom>
          <a:noFill/>
        </p:spPr>
        <p:txBody>
          <a:bodyPr wrap="square">
            <a:spAutoFit/>
          </a:bodyPr>
          <a:lstStyle/>
          <a:p>
            <a:pPr algn="l"/>
            <a:r>
              <a:rPr sz="1100" b="0" i="0">
                <a:solidFill>
                  <a:srgbClr val="191919"/>
                </a:solidFill>
              </a:rPr>
              <a:t>Fournir un résultat transparent, détaillé et actionnable pour le recruteur via la formule calibrée v5 (40/25/20/15 %).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Notre solution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00000" y="1440000"/>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ight Triangle 6"/>
          <p:cNvSpPr/>
          <p:nvPr/>
        </p:nvSpPr>
        <p:spPr>
          <a:xfrm flipH="1">
            <a:off x="5220000" y="1440000"/>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44000" y="1728000"/>
            <a:ext cx="720000" cy="792000"/>
          </a:xfrm>
          <a:prstGeom prst="rect">
            <a:avLst/>
          </a:prstGeom>
          <a:noFill/>
        </p:spPr>
        <p:txBody>
          <a:bodyPr wrap="square">
            <a:spAutoFit/>
          </a:bodyPr>
          <a:lstStyle/>
          <a:p>
            <a:pPr algn="ctr"/>
            <a:r>
              <a:rPr sz="3000" b="1" i="0">
                <a:solidFill>
                  <a:srgbClr val="FFFFFF"/>
                </a:solidFill>
              </a:rPr>
              <a:t>1</a:t>
            </a:r>
          </a:p>
        </p:txBody>
      </p:sp>
      <p:sp>
        <p:nvSpPr>
          <p:cNvPr id="9" name="TextBox 8"/>
          <p:cNvSpPr txBox="1"/>
          <p:nvPr/>
        </p:nvSpPr>
        <p:spPr>
          <a:xfrm>
            <a:off x="2772000" y="1691999"/>
            <a:ext cx="2520000" cy="900000"/>
          </a:xfrm>
          <a:prstGeom prst="rect">
            <a:avLst/>
          </a:prstGeom>
          <a:noFill/>
        </p:spPr>
        <p:txBody>
          <a:bodyPr wrap="square">
            <a:spAutoFit/>
          </a:bodyPr>
          <a:lstStyle/>
          <a:p>
            <a:pPr algn="l"/>
            <a:r>
              <a:rPr sz="1200" b="1" i="0">
                <a:solidFill>
                  <a:srgbClr val="FFFFFF"/>
                </a:solidFill>
              </a:rPr>
              <a:t>Extraction automatique des CVs
(PDF · DOCX · OCR)</a:t>
            </a:r>
          </a:p>
        </p:txBody>
      </p:sp>
      <p:sp>
        <p:nvSpPr>
          <p:cNvPr id="10" name="Rectangle 9"/>
          <p:cNvSpPr/>
          <p:nvPr/>
        </p:nvSpPr>
        <p:spPr>
          <a:xfrm>
            <a:off x="6480000" y="1440000"/>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Triangle 10"/>
          <p:cNvSpPr/>
          <p:nvPr/>
        </p:nvSpPr>
        <p:spPr>
          <a:xfrm flipH="1">
            <a:off x="9900000" y="1440000"/>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4000" y="1728000"/>
            <a:ext cx="720000" cy="792000"/>
          </a:xfrm>
          <a:prstGeom prst="rect">
            <a:avLst/>
          </a:prstGeom>
          <a:noFill/>
        </p:spPr>
        <p:txBody>
          <a:bodyPr wrap="square">
            <a:spAutoFit/>
          </a:bodyPr>
          <a:lstStyle/>
          <a:p>
            <a:pPr algn="ctr"/>
            <a:r>
              <a:rPr sz="3000" b="1" i="0">
                <a:solidFill>
                  <a:srgbClr val="FFFFFF"/>
                </a:solidFill>
              </a:rPr>
              <a:t>3</a:t>
            </a:r>
          </a:p>
        </p:txBody>
      </p:sp>
      <p:sp>
        <p:nvSpPr>
          <p:cNvPr id="13" name="TextBox 12"/>
          <p:cNvSpPr txBox="1"/>
          <p:nvPr/>
        </p:nvSpPr>
        <p:spPr>
          <a:xfrm>
            <a:off x="7452000" y="1691999"/>
            <a:ext cx="2520000" cy="900000"/>
          </a:xfrm>
          <a:prstGeom prst="rect">
            <a:avLst/>
          </a:prstGeom>
          <a:noFill/>
        </p:spPr>
        <p:txBody>
          <a:bodyPr wrap="square">
            <a:spAutoFit/>
          </a:bodyPr>
          <a:lstStyle/>
          <a:p>
            <a:pPr algn="l"/>
            <a:r>
              <a:rPr sz="1200" b="1" i="0">
                <a:solidFill>
                  <a:srgbClr val="FFFFFF"/>
                </a:solidFill>
              </a:rPr>
              <a:t>Scoring IA
(BGE-M3 + Cross-Encoder)</a:t>
            </a:r>
          </a:p>
        </p:txBody>
      </p:sp>
      <p:sp>
        <p:nvSpPr>
          <p:cNvPr id="14" name="Rectangle 13"/>
          <p:cNvSpPr/>
          <p:nvPr/>
        </p:nvSpPr>
        <p:spPr>
          <a:xfrm>
            <a:off x="1800000" y="3311999"/>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Triangle 14"/>
          <p:cNvSpPr/>
          <p:nvPr/>
        </p:nvSpPr>
        <p:spPr>
          <a:xfrm flipH="1">
            <a:off x="5220000" y="3311999"/>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44000" y="3599999"/>
            <a:ext cx="720000" cy="792000"/>
          </a:xfrm>
          <a:prstGeom prst="rect">
            <a:avLst/>
          </a:prstGeom>
          <a:noFill/>
        </p:spPr>
        <p:txBody>
          <a:bodyPr wrap="square">
            <a:spAutoFit/>
          </a:bodyPr>
          <a:lstStyle/>
          <a:p>
            <a:pPr algn="ctr"/>
            <a:r>
              <a:rPr sz="3000" b="1" i="0">
                <a:solidFill>
                  <a:srgbClr val="FFFFFF"/>
                </a:solidFill>
              </a:rPr>
              <a:t>2</a:t>
            </a:r>
          </a:p>
        </p:txBody>
      </p:sp>
      <p:sp>
        <p:nvSpPr>
          <p:cNvPr id="17" name="TextBox 16"/>
          <p:cNvSpPr txBox="1"/>
          <p:nvPr/>
        </p:nvSpPr>
        <p:spPr>
          <a:xfrm>
            <a:off x="2772000" y="3563998"/>
            <a:ext cx="2520000" cy="900000"/>
          </a:xfrm>
          <a:prstGeom prst="rect">
            <a:avLst/>
          </a:prstGeom>
          <a:noFill/>
        </p:spPr>
        <p:txBody>
          <a:bodyPr wrap="square">
            <a:spAutoFit/>
          </a:bodyPr>
          <a:lstStyle/>
          <a:p>
            <a:pPr algn="l"/>
            <a:r>
              <a:rPr sz="1200" b="1" i="0">
                <a:solidFill>
                  <a:srgbClr val="FFFFFF"/>
                </a:solidFill>
              </a:rPr>
              <a:t>Parsing NLP structuré
(spaCy · CamemBERT)</a:t>
            </a:r>
          </a:p>
        </p:txBody>
      </p:sp>
      <p:sp>
        <p:nvSpPr>
          <p:cNvPr id="18" name="Rectangle 17"/>
          <p:cNvSpPr/>
          <p:nvPr/>
        </p:nvSpPr>
        <p:spPr>
          <a:xfrm>
            <a:off x="6480000" y="3311999"/>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Triangle 18"/>
          <p:cNvSpPr/>
          <p:nvPr/>
        </p:nvSpPr>
        <p:spPr>
          <a:xfrm flipH="1">
            <a:off x="9900000" y="3311999"/>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4000" y="3599999"/>
            <a:ext cx="720000" cy="792000"/>
          </a:xfrm>
          <a:prstGeom prst="rect">
            <a:avLst/>
          </a:prstGeom>
          <a:noFill/>
        </p:spPr>
        <p:txBody>
          <a:bodyPr wrap="square">
            <a:spAutoFit/>
          </a:bodyPr>
          <a:lstStyle/>
          <a:p>
            <a:pPr algn="ctr"/>
            <a:r>
              <a:rPr sz="3000" b="1" i="0">
                <a:solidFill>
                  <a:srgbClr val="FFFFFF"/>
                </a:solidFill>
              </a:rPr>
              <a:t>4</a:t>
            </a:r>
          </a:p>
        </p:txBody>
      </p:sp>
      <p:sp>
        <p:nvSpPr>
          <p:cNvPr id="21" name="TextBox 20"/>
          <p:cNvSpPr txBox="1"/>
          <p:nvPr/>
        </p:nvSpPr>
        <p:spPr>
          <a:xfrm>
            <a:off x="7452000" y="3563998"/>
            <a:ext cx="2520000" cy="900000"/>
          </a:xfrm>
          <a:prstGeom prst="rect">
            <a:avLst/>
          </a:prstGeom>
          <a:noFill/>
        </p:spPr>
        <p:txBody>
          <a:bodyPr wrap="square">
            <a:spAutoFit/>
          </a:bodyPr>
          <a:lstStyle/>
          <a:p>
            <a:pPr algn="l"/>
            <a:r>
              <a:rPr sz="1200" b="1" i="0">
                <a:solidFill>
                  <a:srgbClr val="FFFFFF"/>
                </a:solidFill>
              </a:rPr>
              <a:t>Classement &amp; rapport explicable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Besoins fonctionnels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68000" y="936000"/>
            <a:ext cx="1584000" cy="1584000"/>
          </a:xfrm>
          <a:prstGeom prst="rect">
            <a:avLst/>
          </a:prstGeom>
          <a:noFill/>
        </p:spPr>
        <p:txBody>
          <a:bodyPr wrap="square">
            <a:spAutoFit/>
          </a:bodyPr>
          <a:lstStyle/>
          <a:p>
            <a:pPr algn="ctr"/>
            <a:r>
              <a:rPr sz="1000" b="1" i="0">
                <a:solidFill>
                  <a:srgbClr val="FFFFFF"/>
                </a:solidFill>
              </a:rPr>
              <a:t>Auth
multi-rôles</a:t>
            </a:r>
          </a:p>
        </p:txBody>
      </p:sp>
      <p:sp>
        <p:nvSpPr>
          <p:cNvPr id="8" name="TextBox 7"/>
          <p:cNvSpPr txBox="1"/>
          <p:nvPr/>
        </p:nvSpPr>
        <p:spPr>
          <a:xfrm>
            <a:off x="1908000" y="2628000"/>
            <a:ext cx="2340000" cy="648000"/>
          </a:xfrm>
          <a:prstGeom prst="rect">
            <a:avLst/>
          </a:prstGeom>
          <a:noFill/>
        </p:spPr>
        <p:txBody>
          <a:bodyPr wrap="square">
            <a:spAutoFit/>
          </a:bodyPr>
          <a:lstStyle/>
          <a:p>
            <a:pPr algn="ctr"/>
            <a:r>
              <a:rPr sz="1100" b="1" i="0">
                <a:solidFill>
                  <a:srgbClr val="191919"/>
                </a:solidFill>
              </a:rPr>
              <a:t>Authentification
multi-rôles</a:t>
            </a:r>
          </a:p>
        </p:txBody>
      </p:sp>
      <p:sp>
        <p:nvSpPr>
          <p:cNvPr id="9" name="Oval 8"/>
          <p:cNvSpPr/>
          <p:nvPr/>
        </p:nvSpPr>
        <p:spPr>
          <a:xfrm>
            <a:off x="57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68000" y="936000"/>
            <a:ext cx="1584000" cy="1584000"/>
          </a:xfrm>
          <a:prstGeom prst="rect">
            <a:avLst/>
          </a:prstGeom>
          <a:noFill/>
        </p:spPr>
        <p:txBody>
          <a:bodyPr wrap="square">
            <a:spAutoFit/>
          </a:bodyPr>
          <a:lstStyle/>
          <a:p>
            <a:pPr algn="ctr"/>
            <a:r>
              <a:rPr sz="1000" b="1" i="0">
                <a:solidFill>
                  <a:srgbClr val="FFFFFF"/>
                </a:solidFill>
              </a:rPr>
              <a:t>Upload
CV</a:t>
            </a:r>
          </a:p>
        </p:txBody>
      </p:sp>
      <p:sp>
        <p:nvSpPr>
          <p:cNvPr id="11" name="TextBox 10"/>
          <p:cNvSpPr txBox="1"/>
          <p:nvPr/>
        </p:nvSpPr>
        <p:spPr>
          <a:xfrm>
            <a:off x="5508000" y="2628000"/>
            <a:ext cx="2340000" cy="648000"/>
          </a:xfrm>
          <a:prstGeom prst="rect">
            <a:avLst/>
          </a:prstGeom>
          <a:noFill/>
        </p:spPr>
        <p:txBody>
          <a:bodyPr wrap="square">
            <a:spAutoFit/>
          </a:bodyPr>
          <a:lstStyle/>
          <a:p>
            <a:pPr algn="ctr"/>
            <a:r>
              <a:rPr sz="1100" b="1" i="0">
                <a:solidFill>
                  <a:srgbClr val="191919"/>
                </a:solidFill>
              </a:rPr>
              <a:t>Upload de CV
(PDF / DOCX / OCR)</a:t>
            </a:r>
          </a:p>
        </p:txBody>
      </p:sp>
      <p:sp>
        <p:nvSpPr>
          <p:cNvPr id="12" name="Oval 11"/>
          <p:cNvSpPr/>
          <p:nvPr/>
        </p:nvSpPr>
        <p:spPr>
          <a:xfrm>
            <a:off x="93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68000" y="936000"/>
            <a:ext cx="1584000" cy="1584000"/>
          </a:xfrm>
          <a:prstGeom prst="rect">
            <a:avLst/>
          </a:prstGeom>
          <a:noFill/>
        </p:spPr>
        <p:txBody>
          <a:bodyPr wrap="square">
            <a:spAutoFit/>
          </a:bodyPr>
          <a:lstStyle/>
          <a:p>
            <a:pPr algn="ctr"/>
            <a:r>
              <a:rPr sz="1000" b="1" i="0">
                <a:solidFill>
                  <a:srgbClr val="FFFFFF"/>
                </a:solidFill>
              </a:rPr>
              <a:t>Gestion
Offres</a:t>
            </a:r>
          </a:p>
        </p:txBody>
      </p:sp>
      <p:sp>
        <p:nvSpPr>
          <p:cNvPr id="14" name="TextBox 13"/>
          <p:cNvSpPr txBox="1"/>
          <p:nvPr/>
        </p:nvSpPr>
        <p:spPr>
          <a:xfrm>
            <a:off x="9108000" y="2628000"/>
            <a:ext cx="2340000" cy="648000"/>
          </a:xfrm>
          <a:prstGeom prst="rect">
            <a:avLst/>
          </a:prstGeom>
          <a:noFill/>
        </p:spPr>
        <p:txBody>
          <a:bodyPr wrap="square">
            <a:spAutoFit/>
          </a:bodyPr>
          <a:lstStyle/>
          <a:p>
            <a:pPr algn="ctr"/>
            <a:r>
              <a:rPr sz="1100" b="1" i="0">
                <a:solidFill>
                  <a:srgbClr val="191919"/>
                </a:solidFill>
              </a:rPr>
              <a:t>Gestion des
offres d'emploi</a:t>
            </a:r>
          </a:p>
        </p:txBody>
      </p:sp>
      <p:sp>
        <p:nvSpPr>
          <p:cNvPr id="15" name="Oval 14"/>
          <p:cNvSpPr/>
          <p:nvPr/>
        </p:nvSpPr>
        <p:spPr>
          <a:xfrm>
            <a:off x="21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68000" y="3456000"/>
            <a:ext cx="1584000" cy="1584000"/>
          </a:xfrm>
          <a:prstGeom prst="rect">
            <a:avLst/>
          </a:prstGeom>
          <a:noFill/>
        </p:spPr>
        <p:txBody>
          <a:bodyPr wrap="square">
            <a:spAutoFit/>
          </a:bodyPr>
          <a:lstStyle/>
          <a:p>
            <a:pPr algn="ctr"/>
            <a:r>
              <a:rPr sz="1000" b="1" i="0">
                <a:solidFill>
                  <a:srgbClr val="FFFFFF"/>
                </a:solidFill>
              </a:rPr>
              <a:t>Matching
IA</a:t>
            </a:r>
          </a:p>
        </p:txBody>
      </p:sp>
      <p:sp>
        <p:nvSpPr>
          <p:cNvPr id="17" name="TextBox 16"/>
          <p:cNvSpPr txBox="1"/>
          <p:nvPr/>
        </p:nvSpPr>
        <p:spPr>
          <a:xfrm>
            <a:off x="1908000" y="5148000"/>
            <a:ext cx="2340000" cy="648000"/>
          </a:xfrm>
          <a:prstGeom prst="rect">
            <a:avLst/>
          </a:prstGeom>
          <a:noFill/>
        </p:spPr>
        <p:txBody>
          <a:bodyPr wrap="square">
            <a:spAutoFit/>
          </a:bodyPr>
          <a:lstStyle/>
          <a:p>
            <a:pPr algn="ctr"/>
            <a:r>
              <a:rPr sz="1100" b="1" i="0">
                <a:solidFill>
                  <a:srgbClr val="191919"/>
                </a:solidFill>
              </a:rPr>
              <a:t>Matching IA
automatique</a:t>
            </a:r>
          </a:p>
        </p:txBody>
      </p:sp>
      <p:sp>
        <p:nvSpPr>
          <p:cNvPr id="18" name="Oval 17"/>
          <p:cNvSpPr/>
          <p:nvPr/>
        </p:nvSpPr>
        <p:spPr>
          <a:xfrm>
            <a:off x="57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68000" y="3456000"/>
            <a:ext cx="1584000" cy="1584000"/>
          </a:xfrm>
          <a:prstGeom prst="rect">
            <a:avLst/>
          </a:prstGeom>
          <a:noFill/>
        </p:spPr>
        <p:txBody>
          <a:bodyPr wrap="square">
            <a:spAutoFit/>
          </a:bodyPr>
          <a:lstStyle/>
          <a:p>
            <a:pPr algn="ctr"/>
            <a:r>
              <a:rPr sz="1000" b="1" i="0">
                <a:solidFill>
                  <a:srgbClr val="FFFFFF"/>
                </a:solidFill>
              </a:rPr>
              <a:t>Dashboard
Admin</a:t>
            </a:r>
          </a:p>
        </p:txBody>
      </p:sp>
      <p:sp>
        <p:nvSpPr>
          <p:cNvPr id="20" name="TextBox 19"/>
          <p:cNvSpPr txBox="1"/>
          <p:nvPr/>
        </p:nvSpPr>
        <p:spPr>
          <a:xfrm>
            <a:off x="5508000" y="5148000"/>
            <a:ext cx="2340000" cy="648000"/>
          </a:xfrm>
          <a:prstGeom prst="rect">
            <a:avLst/>
          </a:prstGeom>
          <a:noFill/>
        </p:spPr>
        <p:txBody>
          <a:bodyPr wrap="square">
            <a:spAutoFit/>
          </a:bodyPr>
          <a:lstStyle/>
          <a:p>
            <a:pPr algn="ctr"/>
            <a:r>
              <a:rPr sz="1100" b="1" i="0">
                <a:solidFill>
                  <a:srgbClr val="191919"/>
                </a:solidFill>
              </a:rPr>
              <a:t>Dashboard
analytique</a:t>
            </a:r>
          </a:p>
        </p:txBody>
      </p:sp>
      <p:sp>
        <p:nvSpPr>
          <p:cNvPr id="21" name="Oval 20"/>
          <p:cNvSpPr/>
          <p:nvPr/>
        </p:nvSpPr>
        <p:spPr>
          <a:xfrm>
            <a:off x="93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68000" y="3456000"/>
            <a:ext cx="1584000" cy="1584000"/>
          </a:xfrm>
          <a:prstGeom prst="rect">
            <a:avLst/>
          </a:prstGeom>
          <a:noFill/>
        </p:spPr>
        <p:txBody>
          <a:bodyPr wrap="square">
            <a:spAutoFit/>
          </a:bodyPr>
          <a:lstStyle/>
          <a:p>
            <a:pPr algn="ctr"/>
            <a:r>
              <a:rPr sz="1000" b="1" i="0">
                <a:solidFill>
                  <a:srgbClr val="FFFFFF"/>
                </a:solidFill>
              </a:rPr>
              <a:t>Notif.
Email</a:t>
            </a:r>
          </a:p>
        </p:txBody>
      </p:sp>
      <p:sp>
        <p:nvSpPr>
          <p:cNvPr id="23" name="TextBox 22"/>
          <p:cNvSpPr txBox="1"/>
          <p:nvPr/>
        </p:nvSpPr>
        <p:spPr>
          <a:xfrm>
            <a:off x="9108000" y="5148000"/>
            <a:ext cx="2340000" cy="648000"/>
          </a:xfrm>
          <a:prstGeom prst="rect">
            <a:avLst/>
          </a:prstGeom>
          <a:noFill/>
        </p:spPr>
        <p:txBody>
          <a:bodyPr wrap="square">
            <a:spAutoFit/>
          </a:bodyPr>
          <a:lstStyle/>
          <a:p>
            <a:pPr algn="ctr"/>
            <a:r>
              <a:rPr sz="1100" b="1" i="0">
                <a:solidFill>
                  <a:srgbClr val="191919"/>
                </a:solidFill>
              </a:rPr>
              <a:t>Notifications
par email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Besoins non fonctionnels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68000" y="936000"/>
            <a:ext cx="1584000" cy="1584000"/>
          </a:xfrm>
          <a:prstGeom prst="rect">
            <a:avLst/>
          </a:prstGeom>
          <a:noFill/>
        </p:spPr>
        <p:txBody>
          <a:bodyPr wrap="square">
            <a:spAutoFit/>
          </a:bodyPr>
          <a:lstStyle/>
          <a:p>
            <a:pPr algn="ctr"/>
            <a:r>
              <a:rPr sz="1000" b="1" i="0">
                <a:solidFill>
                  <a:srgbClr val="FFFFFF"/>
                </a:solidFill>
              </a:rPr>
              <a:t>Securite
JWT+RGPD</a:t>
            </a:r>
          </a:p>
        </p:txBody>
      </p:sp>
      <p:sp>
        <p:nvSpPr>
          <p:cNvPr id="8" name="TextBox 7"/>
          <p:cNvSpPr txBox="1"/>
          <p:nvPr/>
        </p:nvSpPr>
        <p:spPr>
          <a:xfrm>
            <a:off x="1908000" y="2628000"/>
            <a:ext cx="2340000" cy="648000"/>
          </a:xfrm>
          <a:prstGeom prst="rect">
            <a:avLst/>
          </a:prstGeom>
          <a:noFill/>
        </p:spPr>
        <p:txBody>
          <a:bodyPr wrap="square">
            <a:spAutoFit/>
          </a:bodyPr>
          <a:lstStyle/>
          <a:p>
            <a:pPr algn="ctr"/>
            <a:r>
              <a:rPr sz="1100" b="1" i="0">
                <a:solidFill>
                  <a:srgbClr val="191919"/>
                </a:solidFill>
              </a:rPr>
              <a:t>Sécurité
(JWT + RGPD)</a:t>
            </a:r>
          </a:p>
        </p:txBody>
      </p:sp>
      <p:sp>
        <p:nvSpPr>
          <p:cNvPr id="9" name="Oval 8"/>
          <p:cNvSpPr/>
          <p:nvPr/>
        </p:nvSpPr>
        <p:spPr>
          <a:xfrm>
            <a:off x="57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68000" y="936000"/>
            <a:ext cx="1584000" cy="1584000"/>
          </a:xfrm>
          <a:prstGeom prst="rect">
            <a:avLst/>
          </a:prstGeom>
          <a:noFill/>
        </p:spPr>
        <p:txBody>
          <a:bodyPr wrap="square">
            <a:spAutoFit/>
          </a:bodyPr>
          <a:lstStyle/>
          <a:p>
            <a:pPr algn="ctr"/>
            <a:r>
              <a:rPr sz="1000" b="1" i="0">
                <a:solidFill>
                  <a:srgbClr val="FFFFFF"/>
                </a:solidFill>
              </a:rPr>
              <a:t>Perf.
&lt; 3s</a:t>
            </a:r>
          </a:p>
        </p:txBody>
      </p:sp>
      <p:sp>
        <p:nvSpPr>
          <p:cNvPr id="11" name="TextBox 10"/>
          <p:cNvSpPr txBox="1"/>
          <p:nvPr/>
        </p:nvSpPr>
        <p:spPr>
          <a:xfrm>
            <a:off x="5508000" y="2628000"/>
            <a:ext cx="2340000" cy="648000"/>
          </a:xfrm>
          <a:prstGeom prst="rect">
            <a:avLst/>
          </a:prstGeom>
          <a:noFill/>
        </p:spPr>
        <p:txBody>
          <a:bodyPr wrap="square">
            <a:spAutoFit/>
          </a:bodyPr>
          <a:lstStyle/>
          <a:p>
            <a:pPr algn="ctr"/>
            <a:r>
              <a:rPr sz="1100" b="1" i="0">
                <a:solidFill>
                  <a:srgbClr val="191919"/>
                </a:solidFill>
              </a:rPr>
              <a:t>Performance
(&lt; 3s scoring)</a:t>
            </a:r>
          </a:p>
        </p:txBody>
      </p:sp>
      <p:sp>
        <p:nvSpPr>
          <p:cNvPr id="12" name="Oval 11"/>
          <p:cNvSpPr/>
          <p:nvPr/>
        </p:nvSpPr>
        <p:spPr>
          <a:xfrm>
            <a:off x="93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68000" y="936000"/>
            <a:ext cx="1584000" cy="1584000"/>
          </a:xfrm>
          <a:prstGeom prst="rect">
            <a:avLst/>
          </a:prstGeom>
          <a:noFill/>
        </p:spPr>
        <p:txBody>
          <a:bodyPr wrap="square">
            <a:spAutoFit/>
          </a:bodyPr>
          <a:lstStyle/>
          <a:p>
            <a:pPr algn="ctr"/>
            <a:r>
              <a:rPr sz="1000" b="1" i="0">
                <a:solidFill>
                  <a:srgbClr val="FFFFFF"/>
                </a:solidFill>
              </a:rPr>
              <a:t>Scale
Cloud</a:t>
            </a:r>
          </a:p>
        </p:txBody>
      </p:sp>
      <p:sp>
        <p:nvSpPr>
          <p:cNvPr id="14" name="TextBox 13"/>
          <p:cNvSpPr txBox="1"/>
          <p:nvPr/>
        </p:nvSpPr>
        <p:spPr>
          <a:xfrm>
            <a:off x="9108000" y="2628000"/>
            <a:ext cx="2340000" cy="648000"/>
          </a:xfrm>
          <a:prstGeom prst="rect">
            <a:avLst/>
          </a:prstGeom>
          <a:noFill/>
        </p:spPr>
        <p:txBody>
          <a:bodyPr wrap="square">
            <a:spAutoFit/>
          </a:bodyPr>
          <a:lstStyle/>
          <a:p>
            <a:pPr algn="ctr"/>
            <a:r>
              <a:rPr sz="1100" b="1" i="0">
                <a:solidFill>
                  <a:srgbClr val="191919"/>
                </a:solidFill>
              </a:rPr>
              <a:t>Scalabilité
(Railway cloud)</a:t>
            </a:r>
          </a:p>
        </p:txBody>
      </p:sp>
      <p:sp>
        <p:nvSpPr>
          <p:cNvPr id="15" name="Oval 14"/>
          <p:cNvSpPr/>
          <p:nvPr/>
        </p:nvSpPr>
        <p:spPr>
          <a:xfrm>
            <a:off x="21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68000" y="3456000"/>
            <a:ext cx="1584000" cy="1584000"/>
          </a:xfrm>
          <a:prstGeom prst="rect">
            <a:avLst/>
          </a:prstGeom>
          <a:noFill/>
        </p:spPr>
        <p:txBody>
          <a:bodyPr wrap="square">
            <a:spAutoFit/>
          </a:bodyPr>
          <a:lstStyle/>
          <a:p>
            <a:pPr algn="ctr"/>
            <a:r>
              <a:rPr sz="1000" b="1" i="0">
                <a:solidFill>
                  <a:srgbClr val="FFFFFF"/>
                </a:solidFill>
              </a:rPr>
              <a:t>Dispo.
99%+</a:t>
            </a:r>
          </a:p>
        </p:txBody>
      </p:sp>
      <p:sp>
        <p:nvSpPr>
          <p:cNvPr id="17" name="TextBox 16"/>
          <p:cNvSpPr txBox="1"/>
          <p:nvPr/>
        </p:nvSpPr>
        <p:spPr>
          <a:xfrm>
            <a:off x="1908000" y="5148000"/>
            <a:ext cx="2340000" cy="648000"/>
          </a:xfrm>
          <a:prstGeom prst="rect">
            <a:avLst/>
          </a:prstGeom>
          <a:noFill/>
        </p:spPr>
        <p:txBody>
          <a:bodyPr wrap="square">
            <a:spAutoFit/>
          </a:bodyPr>
          <a:lstStyle/>
          <a:p>
            <a:pPr algn="ctr"/>
            <a:r>
              <a:rPr sz="1100" b="1" i="0">
                <a:solidFill>
                  <a:srgbClr val="191919"/>
                </a:solidFill>
              </a:rPr>
              <a:t>Disponibilité
(uptime 99%+)</a:t>
            </a:r>
          </a:p>
        </p:txBody>
      </p:sp>
      <p:sp>
        <p:nvSpPr>
          <p:cNvPr id="18" name="Oval 17"/>
          <p:cNvSpPr/>
          <p:nvPr/>
        </p:nvSpPr>
        <p:spPr>
          <a:xfrm>
            <a:off x="57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68000" y="3456000"/>
            <a:ext cx="1584000" cy="1584000"/>
          </a:xfrm>
          <a:prstGeom prst="rect">
            <a:avLst/>
          </a:prstGeom>
          <a:noFill/>
        </p:spPr>
        <p:txBody>
          <a:bodyPr wrap="square">
            <a:spAutoFit/>
          </a:bodyPr>
          <a:lstStyle/>
          <a:p>
            <a:pPr algn="ctr"/>
            <a:r>
              <a:rPr sz="1000" b="1" i="0">
                <a:solidFill>
                  <a:srgbClr val="FFFFFF"/>
                </a:solidFill>
              </a:rPr>
              <a:t>Maint.
Code</a:t>
            </a:r>
          </a:p>
        </p:txBody>
      </p:sp>
      <p:sp>
        <p:nvSpPr>
          <p:cNvPr id="20" name="TextBox 19"/>
          <p:cNvSpPr txBox="1"/>
          <p:nvPr/>
        </p:nvSpPr>
        <p:spPr>
          <a:xfrm>
            <a:off x="5508000" y="5148000"/>
            <a:ext cx="2340000" cy="648000"/>
          </a:xfrm>
          <a:prstGeom prst="rect">
            <a:avLst/>
          </a:prstGeom>
          <a:noFill/>
        </p:spPr>
        <p:txBody>
          <a:bodyPr wrap="square">
            <a:spAutoFit/>
          </a:bodyPr>
          <a:lstStyle/>
          <a:p>
            <a:pPr algn="ctr"/>
            <a:r>
              <a:rPr sz="1100" b="1" i="0">
                <a:solidFill>
                  <a:srgbClr val="191919"/>
                </a:solidFill>
              </a:rPr>
              <a:t>Maintenabilité
(code modulaire)</a:t>
            </a:r>
          </a:p>
        </p:txBody>
      </p:sp>
      <p:sp>
        <p:nvSpPr>
          <p:cNvPr id="21" name="Oval 20"/>
          <p:cNvSpPr/>
          <p:nvPr/>
        </p:nvSpPr>
        <p:spPr>
          <a:xfrm>
            <a:off x="93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68000" y="3456000"/>
            <a:ext cx="1584000" cy="1584000"/>
          </a:xfrm>
          <a:prstGeom prst="rect">
            <a:avLst/>
          </a:prstGeom>
          <a:noFill/>
        </p:spPr>
        <p:txBody>
          <a:bodyPr wrap="square">
            <a:spAutoFit/>
          </a:bodyPr>
          <a:lstStyle/>
          <a:p>
            <a:pPr algn="ctr"/>
            <a:r>
              <a:rPr sz="1000" b="1" i="0">
                <a:solidFill>
                  <a:srgbClr val="FFFFFF"/>
                </a:solidFill>
              </a:rPr>
              <a:t>RGPD
Conf.</a:t>
            </a:r>
          </a:p>
        </p:txBody>
      </p:sp>
      <p:sp>
        <p:nvSpPr>
          <p:cNvPr id="23" name="TextBox 22"/>
          <p:cNvSpPr txBox="1"/>
          <p:nvPr/>
        </p:nvSpPr>
        <p:spPr>
          <a:xfrm>
            <a:off x="9108000" y="5148000"/>
            <a:ext cx="2340000" cy="648000"/>
          </a:xfrm>
          <a:prstGeom prst="rect">
            <a:avLst/>
          </a:prstGeom>
          <a:noFill/>
        </p:spPr>
        <p:txBody>
          <a:bodyPr wrap="square">
            <a:spAutoFit/>
          </a:bodyPr>
          <a:lstStyle/>
          <a:p>
            <a:pPr algn="ctr"/>
            <a:r>
              <a:rPr sz="1100" b="1" i="0">
                <a:solidFill>
                  <a:srgbClr val="191919"/>
                </a:solidFill>
              </a:rPr>
              <a:t>Conformité
RGPD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Architecture du système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rchitecture.png"/>
          <p:cNvPicPr>
            <a:picLocks noChangeAspect="1"/>
          </p:cNvPicPr>
          <p:nvPr/>
        </p:nvPicPr>
        <p:blipFill>
          <a:blip r:embed="rId2"/>
          <a:stretch>
            <a:fillRect/>
          </a:stretch>
        </p:blipFill>
        <p:spPr>
          <a:xfrm>
            <a:off x="1620000" y="972000"/>
            <a:ext cx="10080000" cy="540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Methodologie — Approche Agile Scrum</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Stage PFE 6 mois  |  6 Sprints d'1 mois  |  Fevrier 2026 - Aout 2026</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10 / 15</a:t>
            </a:r>
          </a:p>
        </p:txBody>
      </p:sp>
      <p:sp>
        <p:nvSpPr>
          <p:cNvPr id="12" name="Rectangle 11"/>
          <p:cNvSpPr/>
          <p:nvPr/>
        </p:nvSpPr>
        <p:spPr>
          <a:xfrm>
            <a:off x="347472" y="1572768"/>
            <a:ext cx="11475720" cy="76200"/>
          </a:xfrm>
          <a:prstGeom prst="rect">
            <a:avLst/>
          </a:prstGeom>
          <a:solidFill>
            <a:srgbClr val="CC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7472" y="1572768"/>
            <a:ext cx="5733288"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0760" y="1572768"/>
            <a:ext cx="1911095"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7472"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 y="1700784"/>
            <a:ext cx="822960" cy="203200"/>
          </a:xfrm>
          <a:prstGeom prst="rect">
            <a:avLst/>
          </a:prstGeom>
          <a:noFill/>
        </p:spPr>
        <p:txBody>
          <a:bodyPr wrap="square"/>
          <a:lstStyle/>
          <a:p>
            <a:pPr algn="ctr"/>
            <a:r>
              <a:rPr sz="900" b="0" i="0">
                <a:solidFill>
                  <a:srgbClr val="6B7280"/>
                </a:solidFill>
                <a:latin typeface="Calibri"/>
              </a:rPr>
              <a:t>Fev</a:t>
            </a:r>
          </a:p>
        </p:txBody>
      </p:sp>
      <p:sp>
        <p:nvSpPr>
          <p:cNvPr id="17" name="Rectangle 16"/>
          <p:cNvSpPr/>
          <p:nvPr/>
        </p:nvSpPr>
        <p:spPr>
          <a:xfrm>
            <a:off x="2258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02536" y="1700784"/>
            <a:ext cx="822960" cy="203200"/>
          </a:xfrm>
          <a:prstGeom prst="rect">
            <a:avLst/>
          </a:prstGeom>
          <a:noFill/>
        </p:spPr>
        <p:txBody>
          <a:bodyPr wrap="square"/>
          <a:lstStyle/>
          <a:p>
            <a:pPr algn="ctr"/>
            <a:r>
              <a:rPr sz="900" b="0" i="0">
                <a:solidFill>
                  <a:srgbClr val="6B7280"/>
                </a:solidFill>
                <a:latin typeface="Calibri"/>
              </a:rPr>
              <a:t>Mar</a:t>
            </a:r>
          </a:p>
        </p:txBody>
      </p:sp>
      <p:sp>
        <p:nvSpPr>
          <p:cNvPr id="19" name="Rectangle 18"/>
          <p:cNvSpPr/>
          <p:nvPr/>
        </p:nvSpPr>
        <p:spPr>
          <a:xfrm>
            <a:off x="4169663"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913631" y="1700784"/>
            <a:ext cx="822960" cy="203200"/>
          </a:xfrm>
          <a:prstGeom prst="rect">
            <a:avLst/>
          </a:prstGeom>
          <a:noFill/>
        </p:spPr>
        <p:txBody>
          <a:bodyPr wrap="square"/>
          <a:lstStyle/>
          <a:p>
            <a:pPr algn="ctr"/>
            <a:r>
              <a:rPr sz="900" b="0" i="0">
                <a:solidFill>
                  <a:srgbClr val="6B7280"/>
                </a:solidFill>
                <a:latin typeface="Calibri"/>
              </a:rPr>
              <a:t>Avr</a:t>
            </a:r>
          </a:p>
        </p:txBody>
      </p:sp>
      <p:sp>
        <p:nvSpPr>
          <p:cNvPr id="21" name="Rectangle 20"/>
          <p:cNvSpPr/>
          <p:nvPr/>
        </p:nvSpPr>
        <p:spPr>
          <a:xfrm>
            <a:off x="6071616"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15584" y="1700784"/>
            <a:ext cx="822960" cy="203200"/>
          </a:xfrm>
          <a:prstGeom prst="rect">
            <a:avLst/>
          </a:prstGeom>
          <a:noFill/>
        </p:spPr>
        <p:txBody>
          <a:bodyPr wrap="square"/>
          <a:lstStyle/>
          <a:p>
            <a:pPr algn="ctr"/>
            <a:r>
              <a:rPr sz="900" b="0" i="0">
                <a:solidFill>
                  <a:srgbClr val="6B7280"/>
                </a:solidFill>
                <a:latin typeface="Calibri"/>
              </a:rPr>
              <a:t>Mai</a:t>
            </a:r>
          </a:p>
        </p:txBody>
      </p:sp>
      <p:sp>
        <p:nvSpPr>
          <p:cNvPr id="23" name="Rectangle 22"/>
          <p:cNvSpPr/>
          <p:nvPr/>
        </p:nvSpPr>
        <p:spPr>
          <a:xfrm>
            <a:off x="7973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17536" y="1700784"/>
            <a:ext cx="822960" cy="203200"/>
          </a:xfrm>
          <a:prstGeom prst="rect">
            <a:avLst/>
          </a:prstGeom>
          <a:noFill/>
        </p:spPr>
        <p:txBody>
          <a:bodyPr wrap="square"/>
          <a:lstStyle/>
          <a:p>
            <a:pPr algn="ctr"/>
            <a:r>
              <a:rPr sz="900" b="0" i="0">
                <a:solidFill>
                  <a:srgbClr val="6B7280"/>
                </a:solidFill>
                <a:latin typeface="Calibri"/>
              </a:rPr>
              <a:t>Juin</a:t>
            </a:r>
          </a:p>
        </p:txBody>
      </p:sp>
      <p:sp>
        <p:nvSpPr>
          <p:cNvPr id="25" name="Rectangle 24"/>
          <p:cNvSpPr/>
          <p:nvPr/>
        </p:nvSpPr>
        <p:spPr>
          <a:xfrm>
            <a:off x="98755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19488" y="1700784"/>
            <a:ext cx="822960" cy="203200"/>
          </a:xfrm>
          <a:prstGeom prst="rect">
            <a:avLst/>
          </a:prstGeom>
          <a:noFill/>
        </p:spPr>
        <p:txBody>
          <a:bodyPr wrap="square"/>
          <a:lstStyle/>
          <a:p>
            <a:pPr algn="ctr"/>
            <a:r>
              <a:rPr sz="900" b="0" i="0">
                <a:solidFill>
                  <a:srgbClr val="6B7280"/>
                </a:solidFill>
                <a:latin typeface="Calibri"/>
              </a:rPr>
              <a:t>Juil</a:t>
            </a:r>
          </a:p>
        </p:txBody>
      </p:sp>
      <p:sp>
        <p:nvSpPr>
          <p:cNvPr id="27" name="Rectangle 26"/>
          <p:cNvSpPr/>
          <p:nvPr/>
        </p:nvSpPr>
        <p:spPr>
          <a:xfrm>
            <a:off x="114757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219688" y="1700784"/>
            <a:ext cx="822960" cy="203200"/>
          </a:xfrm>
          <a:prstGeom prst="rect">
            <a:avLst/>
          </a:prstGeom>
          <a:noFill/>
        </p:spPr>
        <p:txBody>
          <a:bodyPr wrap="square"/>
          <a:lstStyle/>
          <a:p>
            <a:pPr algn="ctr"/>
            <a:r>
              <a:rPr sz="900" b="0" i="0">
                <a:solidFill>
                  <a:srgbClr val="6B7280"/>
                </a:solidFill>
                <a:latin typeface="Calibri"/>
              </a:rPr>
              <a:t>Aout</a:t>
            </a:r>
          </a:p>
        </p:txBody>
      </p:sp>
      <p:sp>
        <p:nvSpPr>
          <p:cNvPr id="29" name="Rectangle 28"/>
          <p:cNvSpPr/>
          <p:nvPr/>
        </p:nvSpPr>
        <p:spPr>
          <a:xfrm>
            <a:off x="6035040" y="1435608"/>
            <a:ext cx="38100" cy="457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8557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7472"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47472" y="1938528"/>
            <a:ext cx="63500" cy="4224528"/>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47472" y="1938528"/>
            <a:ext cx="1847088" cy="5943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6372" y="1956816"/>
            <a:ext cx="1188720" cy="304800"/>
          </a:xfrm>
          <a:prstGeom prst="rect">
            <a:avLst/>
          </a:prstGeom>
          <a:noFill/>
        </p:spPr>
        <p:txBody>
          <a:bodyPr wrap="square"/>
          <a:lstStyle/>
          <a:p>
            <a:pPr algn="l"/>
            <a:r>
              <a:rPr sz="1400" b="1" i="0">
                <a:solidFill>
                  <a:srgbClr val="FFFFFF"/>
                </a:solidFill>
                <a:latin typeface="Calibri"/>
              </a:rPr>
              <a:t>Sprint 1</a:t>
            </a:r>
          </a:p>
        </p:txBody>
      </p:sp>
      <p:sp>
        <p:nvSpPr>
          <p:cNvPr id="37" name="Rectangle 36"/>
          <p:cNvSpPr/>
          <p:nvPr/>
        </p:nvSpPr>
        <p:spPr>
          <a:xfrm>
            <a:off x="154940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549400" y="2029968"/>
            <a:ext cx="594360" cy="203200"/>
          </a:xfrm>
          <a:prstGeom prst="rect">
            <a:avLst/>
          </a:prstGeom>
          <a:noFill/>
        </p:spPr>
        <p:txBody>
          <a:bodyPr wrap="square"/>
          <a:lstStyle/>
          <a:p>
            <a:pPr algn="ctr"/>
            <a:r>
              <a:rPr sz="800" b="1" i="0">
                <a:solidFill>
                  <a:srgbClr val="10B981"/>
                </a:solidFill>
                <a:latin typeface="Calibri"/>
              </a:rPr>
              <a:t>OK</a:t>
            </a:r>
          </a:p>
        </p:txBody>
      </p:sp>
      <p:sp>
        <p:nvSpPr>
          <p:cNvPr id="39" name="TextBox 38"/>
          <p:cNvSpPr txBox="1"/>
          <p:nvPr/>
        </p:nvSpPr>
        <p:spPr>
          <a:xfrm>
            <a:off x="436372" y="2560320"/>
            <a:ext cx="1720088" cy="228600"/>
          </a:xfrm>
          <a:prstGeom prst="rect">
            <a:avLst/>
          </a:prstGeom>
          <a:noFill/>
        </p:spPr>
        <p:txBody>
          <a:bodyPr wrap="square"/>
          <a:lstStyle/>
          <a:p>
            <a:pPr algn="l"/>
            <a:r>
              <a:rPr sz="800" b="0" i="1">
                <a:solidFill>
                  <a:srgbClr val="6B7280"/>
                </a:solidFill>
                <a:latin typeface="Calibri"/>
              </a:rPr>
              <a:t>Fevrier 2026</a:t>
            </a:r>
          </a:p>
        </p:txBody>
      </p:sp>
      <p:sp>
        <p:nvSpPr>
          <p:cNvPr id="40" name="Rectangle 39"/>
          <p:cNvSpPr/>
          <p:nvPr/>
        </p:nvSpPr>
        <p:spPr>
          <a:xfrm>
            <a:off x="42367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36372" y="2816352"/>
            <a:ext cx="1694688" cy="3200400"/>
          </a:xfrm>
          <a:prstGeom prst="rect">
            <a:avLst/>
          </a:prstGeom>
          <a:noFill/>
        </p:spPr>
        <p:txBody>
          <a:bodyPr wrap="square">
            <a:spAutoFit/>
          </a:bodyPr>
          <a:lstStyle/>
          <a:p>
            <a:pPr algn="l"/>
            <a:r>
              <a:rPr sz="1050">
                <a:solidFill>
                  <a:srgbClr val="1A1A2E"/>
                </a:solidFill>
                <a:latin typeface="Calibri"/>
              </a:rPr>
              <a:t> &gt; Cahier des charges</a:t>
            </a:r>
          </a:p>
          <a:p>
            <a:pPr algn="l"/>
            <a:r>
              <a:rPr sz="1050">
                <a:solidFill>
                  <a:srgbClr val="1A1A2E"/>
                </a:solidFill>
                <a:latin typeface="Calibri"/>
              </a:rPr>
              <a:t> &gt; Conception UML</a:t>
            </a:r>
          </a:p>
          <a:p>
            <a:pPr algn="l"/>
            <a:r>
              <a:rPr sz="1050">
                <a:solidFill>
                  <a:srgbClr val="1A1A2E"/>
                </a:solidFill>
                <a:latin typeface="Calibri"/>
              </a:rPr>
              <a:t> &gt; Architecture technique</a:t>
            </a:r>
          </a:p>
          <a:p>
            <a:pPr algn="l"/>
            <a:r>
              <a:rPr sz="1050">
                <a:solidFill>
                  <a:srgbClr val="1A1A2E"/>
                </a:solidFill>
                <a:latin typeface="Calibri"/>
              </a:rPr>
              <a:t> &gt; Setup environnement</a:t>
            </a:r>
          </a:p>
          <a:p>
            <a:pPr algn="l"/>
            <a:r>
              <a:rPr sz="1050">
                <a:solidFill>
                  <a:srgbClr val="1A1A2E"/>
                </a:solidFill>
                <a:latin typeface="Calibri"/>
              </a:rPr>
              <a:t> &gt; (backend, BDD, frontend)</a:t>
            </a:r>
          </a:p>
        </p:txBody>
      </p:sp>
      <p:sp>
        <p:nvSpPr>
          <p:cNvPr id="42" name="TextBox 41"/>
          <p:cNvSpPr txBox="1"/>
          <p:nvPr/>
        </p:nvSpPr>
        <p:spPr>
          <a:xfrm>
            <a:off x="2207260" y="3931920"/>
            <a:ext cx="128524" cy="304800"/>
          </a:xfrm>
          <a:prstGeom prst="rect">
            <a:avLst/>
          </a:prstGeom>
          <a:noFill/>
        </p:spPr>
        <p:txBody>
          <a:bodyPr wrap="square"/>
          <a:lstStyle/>
          <a:p>
            <a:pPr algn="ctr"/>
            <a:r>
              <a:rPr sz="1100" b="1" i="0">
                <a:solidFill>
                  <a:srgbClr val="E88710"/>
                </a:solidFill>
                <a:latin typeface="Calibri"/>
              </a:rPr>
              <a:t>&gt;</a:t>
            </a:r>
          </a:p>
        </p:txBody>
      </p:sp>
      <p:sp>
        <p:nvSpPr>
          <p:cNvPr id="43" name="Rectangle 42"/>
          <p:cNvSpPr/>
          <p:nvPr/>
        </p:nvSpPr>
        <p:spPr>
          <a:xfrm>
            <a:off x="2310384"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272284"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272284" y="1938528"/>
            <a:ext cx="63500" cy="4224528"/>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272284" y="1938528"/>
            <a:ext cx="1847088" cy="594360"/>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361184" y="1956816"/>
            <a:ext cx="1188720" cy="304800"/>
          </a:xfrm>
          <a:prstGeom prst="rect">
            <a:avLst/>
          </a:prstGeom>
          <a:noFill/>
        </p:spPr>
        <p:txBody>
          <a:bodyPr wrap="square"/>
          <a:lstStyle/>
          <a:p>
            <a:pPr algn="l"/>
            <a:r>
              <a:rPr sz="1400" b="1" i="0">
                <a:solidFill>
                  <a:srgbClr val="FFFFFF"/>
                </a:solidFill>
                <a:latin typeface="Calibri"/>
              </a:rPr>
              <a:t>Sprint 2</a:t>
            </a:r>
          </a:p>
        </p:txBody>
      </p:sp>
      <p:sp>
        <p:nvSpPr>
          <p:cNvPr id="48" name="Rectangle 47"/>
          <p:cNvSpPr/>
          <p:nvPr/>
        </p:nvSpPr>
        <p:spPr>
          <a:xfrm>
            <a:off x="3474212"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474212" y="2029968"/>
            <a:ext cx="594360" cy="203200"/>
          </a:xfrm>
          <a:prstGeom prst="rect">
            <a:avLst/>
          </a:prstGeom>
          <a:noFill/>
        </p:spPr>
        <p:txBody>
          <a:bodyPr wrap="square"/>
          <a:lstStyle/>
          <a:p>
            <a:pPr algn="ctr"/>
            <a:r>
              <a:rPr sz="800" b="1" i="0">
                <a:solidFill>
                  <a:srgbClr val="10B981"/>
                </a:solidFill>
                <a:latin typeface="Calibri"/>
              </a:rPr>
              <a:t>OK</a:t>
            </a:r>
          </a:p>
        </p:txBody>
      </p:sp>
      <p:sp>
        <p:nvSpPr>
          <p:cNvPr id="50" name="TextBox 49"/>
          <p:cNvSpPr txBox="1"/>
          <p:nvPr/>
        </p:nvSpPr>
        <p:spPr>
          <a:xfrm>
            <a:off x="2361184" y="2560320"/>
            <a:ext cx="1720088" cy="228600"/>
          </a:xfrm>
          <a:prstGeom prst="rect">
            <a:avLst/>
          </a:prstGeom>
          <a:noFill/>
        </p:spPr>
        <p:txBody>
          <a:bodyPr wrap="square"/>
          <a:lstStyle/>
          <a:p>
            <a:pPr algn="l"/>
            <a:r>
              <a:rPr sz="800" b="0" i="1">
                <a:solidFill>
                  <a:srgbClr val="6B7280"/>
                </a:solidFill>
                <a:latin typeface="Calibri"/>
              </a:rPr>
              <a:t>Mars 2026</a:t>
            </a:r>
          </a:p>
        </p:txBody>
      </p:sp>
      <p:sp>
        <p:nvSpPr>
          <p:cNvPr id="51" name="Rectangle 50"/>
          <p:cNvSpPr/>
          <p:nvPr/>
        </p:nvSpPr>
        <p:spPr>
          <a:xfrm>
            <a:off x="2348484"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361184" y="2816352"/>
            <a:ext cx="1694688" cy="3200400"/>
          </a:xfrm>
          <a:prstGeom prst="rect">
            <a:avLst/>
          </a:prstGeom>
          <a:noFill/>
        </p:spPr>
        <p:txBody>
          <a:bodyPr wrap="square">
            <a:spAutoFit/>
          </a:bodyPr>
          <a:lstStyle/>
          <a:p>
            <a:pPr algn="l"/>
            <a:r>
              <a:rPr sz="1050">
                <a:solidFill>
                  <a:srgbClr val="1A1A2E"/>
                </a:solidFill>
                <a:latin typeface="Calibri"/>
              </a:rPr>
              <a:t> &gt; Upload CV (PDF/DOCX)</a:t>
            </a:r>
          </a:p>
          <a:p>
            <a:pPr algn="l"/>
            <a:r>
              <a:rPr sz="1050">
                <a:solidFill>
                  <a:srgbClr val="1A1A2E"/>
                </a:solidFill>
                <a:latin typeface="Calibri"/>
              </a:rPr>
              <a:t> &gt; Extraction texte</a:t>
            </a:r>
          </a:p>
          <a:p>
            <a:pPr algn="l"/>
            <a:r>
              <a:rPr sz="1050">
                <a:solidFill>
                  <a:srgbClr val="1A1A2E"/>
                </a:solidFill>
                <a:latin typeface="Calibri"/>
              </a:rPr>
              <a:t> &gt; Integration OCR</a:t>
            </a:r>
          </a:p>
          <a:p>
            <a:pPr algn="l"/>
            <a:r>
              <a:rPr sz="1050">
                <a:solidFill>
                  <a:srgbClr val="1A1A2E"/>
                </a:solidFill>
                <a:latin typeface="Calibri"/>
              </a:rPr>
              <a:t> &gt; (EasyOCR)</a:t>
            </a:r>
          </a:p>
          <a:p>
            <a:pPr algn="l"/>
            <a:r>
              <a:rPr sz="1050">
                <a:solidFill>
                  <a:srgbClr val="1A1A2E"/>
                </a:solidFill>
                <a:latin typeface="Calibri"/>
              </a:rPr>
              <a:t> &gt; Stockage BDD</a:t>
            </a:r>
          </a:p>
        </p:txBody>
      </p:sp>
      <p:sp>
        <p:nvSpPr>
          <p:cNvPr id="53" name="TextBox 52"/>
          <p:cNvSpPr txBox="1"/>
          <p:nvPr/>
        </p:nvSpPr>
        <p:spPr>
          <a:xfrm>
            <a:off x="4132072" y="3931920"/>
            <a:ext cx="128524" cy="304800"/>
          </a:xfrm>
          <a:prstGeom prst="rect">
            <a:avLst/>
          </a:prstGeom>
          <a:noFill/>
        </p:spPr>
        <p:txBody>
          <a:bodyPr wrap="square"/>
          <a:lstStyle/>
          <a:p>
            <a:pPr algn="ctr"/>
            <a:r>
              <a:rPr sz="1100" b="1" i="0">
                <a:solidFill>
                  <a:srgbClr val="E88710"/>
                </a:solidFill>
                <a:latin typeface="Calibri"/>
              </a:rPr>
              <a:t>&gt;</a:t>
            </a:r>
          </a:p>
        </p:txBody>
      </p:sp>
      <p:sp>
        <p:nvSpPr>
          <p:cNvPr id="54" name="Rectangle 53"/>
          <p:cNvSpPr/>
          <p:nvPr/>
        </p:nvSpPr>
        <p:spPr>
          <a:xfrm>
            <a:off x="4235196"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197096"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197096" y="1938528"/>
            <a:ext cx="63500" cy="4224528"/>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197096" y="1938528"/>
            <a:ext cx="1847088" cy="594360"/>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285996" y="1956816"/>
            <a:ext cx="1188720" cy="304800"/>
          </a:xfrm>
          <a:prstGeom prst="rect">
            <a:avLst/>
          </a:prstGeom>
          <a:noFill/>
        </p:spPr>
        <p:txBody>
          <a:bodyPr wrap="square"/>
          <a:lstStyle/>
          <a:p>
            <a:pPr algn="l"/>
            <a:r>
              <a:rPr sz="1400" b="1" i="0">
                <a:solidFill>
                  <a:srgbClr val="FFFFFF"/>
                </a:solidFill>
                <a:latin typeface="Calibri"/>
              </a:rPr>
              <a:t>Sprint 3</a:t>
            </a:r>
          </a:p>
        </p:txBody>
      </p:sp>
      <p:sp>
        <p:nvSpPr>
          <p:cNvPr id="59" name="Rectangle 58"/>
          <p:cNvSpPr/>
          <p:nvPr/>
        </p:nvSpPr>
        <p:spPr>
          <a:xfrm>
            <a:off x="5399024"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399024" y="2029968"/>
            <a:ext cx="594360" cy="203200"/>
          </a:xfrm>
          <a:prstGeom prst="rect">
            <a:avLst/>
          </a:prstGeom>
          <a:noFill/>
        </p:spPr>
        <p:txBody>
          <a:bodyPr wrap="square"/>
          <a:lstStyle/>
          <a:p>
            <a:pPr algn="ctr"/>
            <a:r>
              <a:rPr sz="800" b="1" i="0">
                <a:solidFill>
                  <a:srgbClr val="10B981"/>
                </a:solidFill>
                <a:latin typeface="Calibri"/>
              </a:rPr>
              <a:t>OK</a:t>
            </a:r>
          </a:p>
        </p:txBody>
      </p:sp>
      <p:sp>
        <p:nvSpPr>
          <p:cNvPr id="61" name="TextBox 60"/>
          <p:cNvSpPr txBox="1"/>
          <p:nvPr/>
        </p:nvSpPr>
        <p:spPr>
          <a:xfrm>
            <a:off x="4285996" y="2560320"/>
            <a:ext cx="1720088" cy="228600"/>
          </a:xfrm>
          <a:prstGeom prst="rect">
            <a:avLst/>
          </a:prstGeom>
          <a:noFill/>
        </p:spPr>
        <p:txBody>
          <a:bodyPr wrap="square"/>
          <a:lstStyle/>
          <a:p>
            <a:pPr algn="l"/>
            <a:r>
              <a:rPr sz="800" b="0" i="1">
                <a:solidFill>
                  <a:srgbClr val="6B7280"/>
                </a:solidFill>
                <a:latin typeface="Calibri"/>
              </a:rPr>
              <a:t>Avril 2026</a:t>
            </a:r>
          </a:p>
        </p:txBody>
      </p:sp>
      <p:sp>
        <p:nvSpPr>
          <p:cNvPr id="62" name="Rectangle 61"/>
          <p:cNvSpPr/>
          <p:nvPr/>
        </p:nvSpPr>
        <p:spPr>
          <a:xfrm>
            <a:off x="4273296"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285996" y="2816352"/>
            <a:ext cx="1694688" cy="3200400"/>
          </a:xfrm>
          <a:prstGeom prst="rect">
            <a:avLst/>
          </a:prstGeom>
          <a:noFill/>
        </p:spPr>
        <p:txBody>
          <a:bodyPr wrap="square">
            <a:spAutoFit/>
          </a:bodyPr>
          <a:lstStyle/>
          <a:p>
            <a:pPr algn="l"/>
            <a:r>
              <a:rPr sz="1050">
                <a:solidFill>
                  <a:srgbClr val="1A1A2E"/>
                </a:solidFill>
                <a:latin typeface="Calibri"/>
              </a:rPr>
              <a:t> &gt; Pipeline NLP spaCy</a:t>
            </a:r>
          </a:p>
          <a:p>
            <a:pPr algn="l"/>
            <a:r>
              <a:rPr sz="1050">
                <a:solidFill>
                  <a:srgbClr val="1A1A2E"/>
                </a:solidFill>
                <a:latin typeface="Calibri"/>
              </a:rPr>
              <a:t> &gt; Extraction skills</a:t>
            </a:r>
          </a:p>
          <a:p>
            <a:pPr algn="l"/>
            <a:r>
              <a:rPr sz="1050">
                <a:solidFill>
                  <a:srgbClr val="1A1A2E"/>
                </a:solidFill>
                <a:latin typeface="Calibri"/>
              </a:rPr>
              <a:t> &gt; Extraction experiences</a:t>
            </a:r>
          </a:p>
          <a:p>
            <a:pPr algn="l"/>
            <a:r>
              <a:rPr sz="1050">
                <a:solidFill>
                  <a:srgbClr val="1A1A2E"/>
                </a:solidFill>
                <a:latin typeface="Calibri"/>
              </a:rPr>
              <a:t> &gt; Extraction formations</a:t>
            </a:r>
          </a:p>
          <a:p>
            <a:pPr algn="l"/>
            <a:r>
              <a:rPr sz="1050">
                <a:solidFill>
                  <a:srgbClr val="1A1A2E"/>
                </a:solidFill>
                <a:latin typeface="Calibri"/>
              </a:rPr>
              <a:t> &gt; Tests unitaires</a:t>
            </a:r>
          </a:p>
        </p:txBody>
      </p:sp>
      <p:sp>
        <p:nvSpPr>
          <p:cNvPr id="64" name="TextBox 63"/>
          <p:cNvSpPr txBox="1"/>
          <p:nvPr/>
        </p:nvSpPr>
        <p:spPr>
          <a:xfrm>
            <a:off x="6056884" y="3931920"/>
            <a:ext cx="128524" cy="304800"/>
          </a:xfrm>
          <a:prstGeom prst="rect">
            <a:avLst/>
          </a:prstGeom>
          <a:noFill/>
        </p:spPr>
        <p:txBody>
          <a:bodyPr wrap="square"/>
          <a:lstStyle/>
          <a:p>
            <a:pPr algn="ctr"/>
            <a:r>
              <a:rPr sz="1100" b="1" i="0">
                <a:solidFill>
                  <a:srgbClr val="E88710"/>
                </a:solidFill>
                <a:latin typeface="Calibri"/>
              </a:rPr>
              <a:t>&gt;</a:t>
            </a:r>
          </a:p>
        </p:txBody>
      </p:sp>
      <p:sp>
        <p:nvSpPr>
          <p:cNvPr id="65" name="Rectangle 64"/>
          <p:cNvSpPr/>
          <p:nvPr/>
        </p:nvSpPr>
        <p:spPr>
          <a:xfrm>
            <a:off x="6160008"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121908"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121908" y="1938528"/>
            <a:ext cx="63500" cy="4224528"/>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6121908" y="1938528"/>
            <a:ext cx="1847088" cy="5943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210808" y="1956816"/>
            <a:ext cx="1188720" cy="304800"/>
          </a:xfrm>
          <a:prstGeom prst="rect">
            <a:avLst/>
          </a:prstGeom>
          <a:noFill/>
        </p:spPr>
        <p:txBody>
          <a:bodyPr wrap="square"/>
          <a:lstStyle/>
          <a:p>
            <a:pPr algn="l"/>
            <a:r>
              <a:rPr sz="1400" b="1" i="0">
                <a:solidFill>
                  <a:srgbClr val="FFFFFF"/>
                </a:solidFill>
                <a:latin typeface="Calibri"/>
              </a:rPr>
              <a:t>Sprint 4</a:t>
            </a:r>
          </a:p>
        </p:txBody>
      </p:sp>
      <p:sp>
        <p:nvSpPr>
          <p:cNvPr id="70" name="Rectangle 69"/>
          <p:cNvSpPr/>
          <p:nvPr/>
        </p:nvSpPr>
        <p:spPr>
          <a:xfrm>
            <a:off x="7323836"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323836" y="2029968"/>
            <a:ext cx="594360" cy="203200"/>
          </a:xfrm>
          <a:prstGeom prst="rect">
            <a:avLst/>
          </a:prstGeom>
          <a:noFill/>
        </p:spPr>
        <p:txBody>
          <a:bodyPr wrap="square"/>
          <a:lstStyle/>
          <a:p>
            <a:pPr algn="ctr"/>
            <a:r>
              <a:rPr sz="800" b="1" i="0">
                <a:solidFill>
                  <a:srgbClr val="E88710"/>
                </a:solidFill>
                <a:latin typeface="Calibri"/>
              </a:rPr>
              <a:t>...</a:t>
            </a:r>
          </a:p>
        </p:txBody>
      </p:sp>
      <p:sp>
        <p:nvSpPr>
          <p:cNvPr id="72" name="TextBox 71"/>
          <p:cNvSpPr txBox="1"/>
          <p:nvPr/>
        </p:nvSpPr>
        <p:spPr>
          <a:xfrm>
            <a:off x="6210808" y="2560320"/>
            <a:ext cx="1720088" cy="228600"/>
          </a:xfrm>
          <a:prstGeom prst="rect">
            <a:avLst/>
          </a:prstGeom>
          <a:noFill/>
        </p:spPr>
        <p:txBody>
          <a:bodyPr wrap="square"/>
          <a:lstStyle/>
          <a:p>
            <a:pPr algn="l"/>
            <a:r>
              <a:rPr sz="800" b="0" i="1">
                <a:solidFill>
                  <a:srgbClr val="6B7280"/>
                </a:solidFill>
                <a:latin typeface="Calibri"/>
              </a:rPr>
              <a:t>Mai 2026</a:t>
            </a:r>
          </a:p>
        </p:txBody>
      </p:sp>
      <p:sp>
        <p:nvSpPr>
          <p:cNvPr id="73" name="Rectangle 72"/>
          <p:cNvSpPr/>
          <p:nvPr/>
        </p:nvSpPr>
        <p:spPr>
          <a:xfrm>
            <a:off x="6198108"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210808" y="2816352"/>
            <a:ext cx="1694688" cy="3200400"/>
          </a:xfrm>
          <a:prstGeom prst="rect">
            <a:avLst/>
          </a:prstGeom>
          <a:noFill/>
        </p:spPr>
        <p:txBody>
          <a:bodyPr wrap="square">
            <a:spAutoFit/>
          </a:bodyPr>
          <a:lstStyle/>
          <a:p>
            <a:pPr algn="l"/>
            <a:r>
              <a:rPr sz="1050">
                <a:solidFill>
                  <a:srgbClr val="1A1A2E"/>
                </a:solidFill>
                <a:latin typeface="Calibri"/>
              </a:rPr>
              <a:t> &gt; BGE-M3 + Cross-Encoder</a:t>
            </a:r>
          </a:p>
          <a:p>
            <a:pPr algn="l"/>
            <a:r>
              <a:rPr sz="1050">
                <a:solidFill>
                  <a:srgbClr val="1A1A2E"/>
                </a:solidFill>
                <a:latin typeface="Calibri"/>
              </a:rPr>
              <a:t> &gt; Matching candidat-offre</a:t>
            </a:r>
          </a:p>
          <a:p>
            <a:pPr algn="l"/>
            <a:r>
              <a:rPr sz="1050">
                <a:solidFill>
                  <a:srgbClr val="1A1A2E"/>
                </a:solidFill>
                <a:latin typeface="Calibri"/>
              </a:rPr>
              <a:t> &gt; Score IA (0-100%)</a:t>
            </a:r>
          </a:p>
          <a:p>
            <a:pPr algn="l"/>
            <a:r>
              <a:rPr sz="1050">
                <a:solidFill>
                  <a:srgbClr val="1A1A2E"/>
                </a:solidFill>
                <a:latin typeface="Calibri"/>
              </a:rPr>
              <a:t> &gt; Dashboard RH</a:t>
            </a:r>
          </a:p>
          <a:p>
            <a:pPr algn="l"/>
            <a:r>
              <a:rPr sz="1050">
                <a:solidFill>
                  <a:srgbClr val="1A1A2E"/>
                </a:solidFill>
                <a:latin typeface="Calibri"/>
              </a:rPr>
              <a:t> &gt; Optimisation perfs</a:t>
            </a:r>
          </a:p>
        </p:txBody>
      </p:sp>
      <p:sp>
        <p:nvSpPr>
          <p:cNvPr id="75" name="TextBox 74"/>
          <p:cNvSpPr txBox="1"/>
          <p:nvPr/>
        </p:nvSpPr>
        <p:spPr>
          <a:xfrm>
            <a:off x="7981696" y="3931920"/>
            <a:ext cx="128524" cy="304800"/>
          </a:xfrm>
          <a:prstGeom prst="rect">
            <a:avLst/>
          </a:prstGeom>
          <a:noFill/>
        </p:spPr>
        <p:txBody>
          <a:bodyPr wrap="square"/>
          <a:lstStyle/>
          <a:p>
            <a:pPr algn="ctr"/>
            <a:r>
              <a:rPr sz="1100" b="1" i="0">
                <a:solidFill>
                  <a:srgbClr val="E88710"/>
                </a:solidFill>
                <a:latin typeface="Calibri"/>
              </a:rPr>
              <a:t>&gt;</a:t>
            </a:r>
          </a:p>
        </p:txBody>
      </p:sp>
      <p:sp>
        <p:nvSpPr>
          <p:cNvPr id="76" name="Rectangle 75"/>
          <p:cNvSpPr/>
          <p:nvPr/>
        </p:nvSpPr>
        <p:spPr>
          <a:xfrm>
            <a:off x="8084820"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8046720"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8046720" y="1938528"/>
            <a:ext cx="63500" cy="4224528"/>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8046720" y="1938528"/>
            <a:ext cx="1847088" cy="5943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135620" y="1956816"/>
            <a:ext cx="1188720" cy="304800"/>
          </a:xfrm>
          <a:prstGeom prst="rect">
            <a:avLst/>
          </a:prstGeom>
          <a:noFill/>
        </p:spPr>
        <p:txBody>
          <a:bodyPr wrap="square"/>
          <a:lstStyle/>
          <a:p>
            <a:pPr algn="l"/>
            <a:r>
              <a:rPr sz="1400" b="1" i="0">
                <a:solidFill>
                  <a:srgbClr val="FFFFFF"/>
                </a:solidFill>
                <a:latin typeface="Calibri"/>
              </a:rPr>
              <a:t>Sprint 5</a:t>
            </a:r>
          </a:p>
        </p:txBody>
      </p:sp>
      <p:sp>
        <p:nvSpPr>
          <p:cNvPr id="81" name="Rectangle 80"/>
          <p:cNvSpPr/>
          <p:nvPr/>
        </p:nvSpPr>
        <p:spPr>
          <a:xfrm>
            <a:off x="9248648"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248648" y="2029968"/>
            <a:ext cx="594360" cy="203200"/>
          </a:xfrm>
          <a:prstGeom prst="rect">
            <a:avLst/>
          </a:prstGeom>
          <a:noFill/>
        </p:spPr>
        <p:txBody>
          <a:bodyPr wrap="square"/>
          <a:lstStyle/>
          <a:p>
            <a:pPr algn="ctr"/>
            <a:r>
              <a:rPr sz="800" b="1" i="0">
                <a:solidFill>
                  <a:srgbClr val="6B7280"/>
                </a:solidFill>
                <a:latin typeface="Calibri"/>
              </a:rPr>
              <a:t>TODO</a:t>
            </a:r>
          </a:p>
        </p:txBody>
      </p:sp>
      <p:sp>
        <p:nvSpPr>
          <p:cNvPr id="83" name="TextBox 82"/>
          <p:cNvSpPr txBox="1"/>
          <p:nvPr/>
        </p:nvSpPr>
        <p:spPr>
          <a:xfrm>
            <a:off x="8135620" y="2560320"/>
            <a:ext cx="1720088" cy="228600"/>
          </a:xfrm>
          <a:prstGeom prst="rect">
            <a:avLst/>
          </a:prstGeom>
          <a:noFill/>
        </p:spPr>
        <p:txBody>
          <a:bodyPr wrap="square"/>
          <a:lstStyle/>
          <a:p>
            <a:pPr algn="l"/>
            <a:r>
              <a:rPr sz="800" b="0" i="1">
                <a:solidFill>
                  <a:srgbClr val="6B7280"/>
                </a:solidFill>
                <a:latin typeface="Calibri"/>
              </a:rPr>
              <a:t>Juin 2026</a:t>
            </a:r>
          </a:p>
        </p:txBody>
      </p:sp>
      <p:sp>
        <p:nvSpPr>
          <p:cNvPr id="84" name="Rectangle 83"/>
          <p:cNvSpPr/>
          <p:nvPr/>
        </p:nvSpPr>
        <p:spPr>
          <a:xfrm>
            <a:off x="8122920"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135620" y="2816352"/>
            <a:ext cx="1694688" cy="3200400"/>
          </a:xfrm>
          <a:prstGeom prst="rect">
            <a:avLst/>
          </a:prstGeom>
          <a:noFill/>
        </p:spPr>
        <p:txBody>
          <a:bodyPr wrap="square">
            <a:spAutoFit/>
          </a:bodyPr>
          <a:lstStyle/>
          <a:p>
            <a:pPr algn="l"/>
            <a:r>
              <a:rPr sz="1050">
                <a:solidFill>
                  <a:srgbClr val="AAAAAA"/>
                </a:solidFill>
                <a:latin typeface="Calibri"/>
              </a:rPr>
              <a:t> &gt; Securite &amp; Auth</a:t>
            </a:r>
          </a:p>
          <a:p>
            <a:pPr algn="l"/>
            <a:r>
              <a:rPr sz="1050">
                <a:solidFill>
                  <a:srgbClr val="AAAAAA"/>
                </a:solidFill>
                <a:latin typeface="Calibri"/>
              </a:rPr>
              <a:t> &gt; Roles &amp; RGPD</a:t>
            </a:r>
          </a:p>
          <a:p>
            <a:pPr algn="l"/>
            <a:r>
              <a:rPr sz="1050">
                <a:solidFill>
                  <a:srgbClr val="AAAAAA"/>
                </a:solidFill>
                <a:latin typeface="Calibri"/>
              </a:rPr>
              <a:t> &gt; Tests integration</a:t>
            </a:r>
          </a:p>
          <a:p>
            <a:pPr algn="l"/>
            <a:r>
              <a:rPr sz="1050">
                <a:solidFill>
                  <a:srgbClr val="AAAAAA"/>
                </a:solidFill>
                <a:latin typeface="Calibri"/>
              </a:rPr>
              <a:t> &gt; Ameliorations UX</a:t>
            </a:r>
          </a:p>
          <a:p>
            <a:pPr algn="l"/>
            <a:r>
              <a:rPr sz="1050">
                <a:solidFill>
                  <a:srgbClr val="AAAAAA"/>
                </a:solidFill>
                <a:latin typeface="Calibri"/>
              </a:rPr>
              <a:t> &gt; Notifications</a:t>
            </a:r>
          </a:p>
        </p:txBody>
      </p:sp>
      <p:sp>
        <p:nvSpPr>
          <p:cNvPr id="86" name="TextBox 85"/>
          <p:cNvSpPr txBox="1"/>
          <p:nvPr/>
        </p:nvSpPr>
        <p:spPr>
          <a:xfrm>
            <a:off x="9906508" y="3931920"/>
            <a:ext cx="128524" cy="304800"/>
          </a:xfrm>
          <a:prstGeom prst="rect">
            <a:avLst/>
          </a:prstGeom>
          <a:noFill/>
        </p:spPr>
        <p:txBody>
          <a:bodyPr wrap="square"/>
          <a:lstStyle/>
          <a:p>
            <a:pPr algn="ctr"/>
            <a:r>
              <a:rPr sz="1100" b="1" i="0">
                <a:solidFill>
                  <a:srgbClr val="E88710"/>
                </a:solidFill>
                <a:latin typeface="Calibri"/>
              </a:rPr>
              <a:t>&gt;</a:t>
            </a:r>
          </a:p>
        </p:txBody>
      </p:sp>
      <p:sp>
        <p:nvSpPr>
          <p:cNvPr id="87" name="Rectangle 86"/>
          <p:cNvSpPr/>
          <p:nvPr/>
        </p:nvSpPr>
        <p:spPr>
          <a:xfrm>
            <a:off x="1000963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9971532"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9971532" y="1938528"/>
            <a:ext cx="63500" cy="4224528"/>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9971532" y="1938528"/>
            <a:ext cx="1847088" cy="594360"/>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0060432" y="1956816"/>
            <a:ext cx="1188720" cy="304800"/>
          </a:xfrm>
          <a:prstGeom prst="rect">
            <a:avLst/>
          </a:prstGeom>
          <a:noFill/>
        </p:spPr>
        <p:txBody>
          <a:bodyPr wrap="square"/>
          <a:lstStyle/>
          <a:p>
            <a:pPr algn="l"/>
            <a:r>
              <a:rPr sz="1400" b="1" i="0">
                <a:solidFill>
                  <a:srgbClr val="FFFFFF"/>
                </a:solidFill>
                <a:latin typeface="Calibri"/>
              </a:rPr>
              <a:t>Sprint 6</a:t>
            </a:r>
          </a:p>
        </p:txBody>
      </p:sp>
      <p:sp>
        <p:nvSpPr>
          <p:cNvPr id="92" name="Rectangle 91"/>
          <p:cNvSpPr/>
          <p:nvPr/>
        </p:nvSpPr>
        <p:spPr>
          <a:xfrm>
            <a:off x="1117346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11173460" y="2029968"/>
            <a:ext cx="594360" cy="203200"/>
          </a:xfrm>
          <a:prstGeom prst="rect">
            <a:avLst/>
          </a:prstGeom>
          <a:noFill/>
        </p:spPr>
        <p:txBody>
          <a:bodyPr wrap="square"/>
          <a:lstStyle/>
          <a:p>
            <a:pPr algn="ctr"/>
            <a:r>
              <a:rPr sz="800" b="1" i="0">
                <a:solidFill>
                  <a:srgbClr val="6B7280"/>
                </a:solidFill>
                <a:latin typeface="Calibri"/>
              </a:rPr>
              <a:t>TODO</a:t>
            </a:r>
          </a:p>
        </p:txBody>
      </p:sp>
      <p:sp>
        <p:nvSpPr>
          <p:cNvPr id="94" name="TextBox 93"/>
          <p:cNvSpPr txBox="1"/>
          <p:nvPr/>
        </p:nvSpPr>
        <p:spPr>
          <a:xfrm>
            <a:off x="10060432" y="2560320"/>
            <a:ext cx="1720088" cy="228600"/>
          </a:xfrm>
          <a:prstGeom prst="rect">
            <a:avLst/>
          </a:prstGeom>
          <a:noFill/>
        </p:spPr>
        <p:txBody>
          <a:bodyPr wrap="square"/>
          <a:lstStyle/>
          <a:p>
            <a:pPr algn="l"/>
            <a:r>
              <a:rPr sz="800" b="0" i="1">
                <a:solidFill>
                  <a:srgbClr val="6B7280"/>
                </a:solidFill>
                <a:latin typeface="Calibri"/>
              </a:rPr>
              <a:t>Juil - Aout 2026</a:t>
            </a:r>
          </a:p>
        </p:txBody>
      </p:sp>
      <p:sp>
        <p:nvSpPr>
          <p:cNvPr id="95" name="Rectangle 94"/>
          <p:cNvSpPr/>
          <p:nvPr/>
        </p:nvSpPr>
        <p:spPr>
          <a:xfrm>
            <a:off x="1004773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0060432" y="2816352"/>
            <a:ext cx="1694688" cy="3200400"/>
          </a:xfrm>
          <a:prstGeom prst="rect">
            <a:avLst/>
          </a:prstGeom>
          <a:noFill/>
        </p:spPr>
        <p:txBody>
          <a:bodyPr wrap="square">
            <a:spAutoFit/>
          </a:bodyPr>
          <a:lstStyle/>
          <a:p>
            <a:pPr algn="l"/>
            <a:r>
              <a:rPr sz="1050">
                <a:solidFill>
                  <a:srgbClr val="AAAAAA"/>
                </a:solidFill>
                <a:latin typeface="Calibri"/>
              </a:rPr>
              <a:t> &gt; Validation finale</a:t>
            </a:r>
          </a:p>
          <a:p>
            <a:pPr algn="l"/>
            <a:r>
              <a:rPr sz="1050">
                <a:solidFill>
                  <a:srgbClr val="AAAAAA"/>
                </a:solidFill>
                <a:latin typeface="Calibri"/>
              </a:rPr>
              <a:t> &gt; Documentation</a:t>
            </a:r>
          </a:p>
          <a:p>
            <a:pPr algn="l"/>
            <a:r>
              <a:rPr sz="1050">
                <a:solidFill>
                  <a:srgbClr val="AAAAAA"/>
                </a:solidFill>
                <a:latin typeface="Calibri"/>
              </a:rPr>
              <a:t> &gt; Deploiement</a:t>
            </a:r>
          </a:p>
          <a:p>
            <a:pPr algn="l"/>
            <a:r>
              <a:rPr sz="1050">
                <a:solidFill>
                  <a:srgbClr val="AAAAAA"/>
                </a:solidFill>
                <a:latin typeface="Calibri"/>
              </a:rPr>
              <a:t> &gt; Preparation soutenance</a:t>
            </a:r>
          </a:p>
        </p:txBody>
      </p:sp>
      <p:sp>
        <p:nvSpPr>
          <p:cNvPr id="97" name="Rectangle 96"/>
          <p:cNvSpPr/>
          <p:nvPr/>
        </p:nvSpPr>
        <p:spPr>
          <a:xfrm>
            <a:off x="347472" y="6373368"/>
            <a:ext cx="11475720" cy="203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02920" y="6387084"/>
            <a:ext cx="11155680" cy="177800"/>
          </a:xfrm>
          <a:prstGeom prst="rect">
            <a:avLst/>
          </a:prstGeom>
          <a:noFill/>
        </p:spPr>
        <p:txBody>
          <a:bodyPr wrap="square"/>
          <a:lstStyle/>
          <a:p>
            <a:pPr algn="l"/>
            <a:r>
              <a:rPr sz="900" b="0" i="0">
                <a:solidFill>
                  <a:srgbClr val="AABBCC"/>
                </a:solidFill>
                <a:latin typeface="Calibri"/>
              </a:rPr>
              <a:t>Agile Scrum  |  Reviews regulieres avec encadrantes  |  Git  |  VS Code  |  PyCharm  |  Postman  |  Trello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523220"/>
          </a:xfrm>
          <a:prstGeom prst="rect">
            <a:avLst/>
          </a:prstGeom>
          <a:noFill/>
        </p:spPr>
        <p:txBody>
          <a:bodyPr wrap="square">
            <a:spAutoFit/>
          </a:bodyPr>
          <a:lstStyle/>
          <a:p>
            <a:r>
              <a:rPr lang="fr-FR" sz="2800" b="1" dirty="0">
                <a:solidFill>
                  <a:srgbClr val="0A2350"/>
                </a:solidFill>
              </a:rPr>
              <a:t> Diagramme </a:t>
            </a:r>
            <a:r>
              <a:rPr sz="2800" b="1" dirty="0">
                <a:solidFill>
                  <a:srgbClr val="0A2350"/>
                </a:solidFill>
              </a:rPr>
              <a:t>Cas </a:t>
            </a:r>
            <a:r>
              <a:rPr sz="2800" b="1" dirty="0" err="1">
                <a:solidFill>
                  <a:srgbClr val="0A2350"/>
                </a:solidFill>
              </a:rPr>
              <a:t>d'utilisation</a:t>
            </a:r>
            <a:endParaRPr sz="2800" b="1" dirty="0">
              <a:solidFill>
                <a:srgbClr val="0A2350"/>
              </a:solidFill>
            </a:endParaRP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as_utilisation.png"/>
          <p:cNvPicPr>
            <a:picLocks noChangeAspect="1"/>
          </p:cNvPicPr>
          <p:nvPr/>
        </p:nvPicPr>
        <p:blipFill>
          <a:blip r:embed="rId2"/>
          <a:stretch>
            <a:fillRect/>
          </a:stretch>
        </p:blipFill>
        <p:spPr>
          <a:xfrm>
            <a:off x="876000" y="1007999"/>
            <a:ext cx="10440000" cy="522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Technologies utilisées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908000" y="1152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88000" y="1206000"/>
            <a:ext cx="4320000" cy="360000"/>
          </a:xfrm>
          <a:prstGeom prst="rect">
            <a:avLst/>
          </a:prstGeom>
          <a:noFill/>
        </p:spPr>
        <p:txBody>
          <a:bodyPr wrap="square">
            <a:spAutoFit/>
          </a:bodyPr>
          <a:lstStyle/>
          <a:p>
            <a:pPr algn="ctr"/>
            <a:r>
              <a:rPr sz="1400" b="1" i="0">
                <a:solidFill>
                  <a:srgbClr val="FFFFFF"/>
                </a:solidFill>
              </a:rPr>
              <a:t>Frontend</a:t>
            </a:r>
          </a:p>
        </p:txBody>
      </p:sp>
      <p:sp>
        <p:nvSpPr>
          <p:cNvPr id="9" name="TextBox 8"/>
          <p:cNvSpPr txBox="1"/>
          <p:nvPr/>
        </p:nvSpPr>
        <p:spPr>
          <a:xfrm>
            <a:off x="2088000" y="1692000"/>
            <a:ext cx="4320000" cy="396000"/>
          </a:xfrm>
          <a:prstGeom prst="rect">
            <a:avLst/>
          </a:prstGeom>
          <a:noFill/>
        </p:spPr>
        <p:txBody>
          <a:bodyPr wrap="square">
            <a:spAutoFit/>
          </a:bodyPr>
          <a:lstStyle/>
          <a:p>
            <a:pPr algn="l"/>
            <a:r>
              <a:rPr sz="1200" b="1" i="0" dirty="0">
                <a:solidFill>
                  <a:srgbClr val="191919"/>
                </a:solidFill>
              </a:rPr>
              <a:t>  •  React 18 + Vite 5</a:t>
            </a:r>
          </a:p>
        </p:txBody>
      </p:sp>
      <p:sp>
        <p:nvSpPr>
          <p:cNvPr id="10" name="TextBox 9"/>
          <p:cNvSpPr txBox="1"/>
          <p:nvPr/>
        </p:nvSpPr>
        <p:spPr>
          <a:xfrm>
            <a:off x="2088000" y="2124000"/>
            <a:ext cx="4320000" cy="396000"/>
          </a:xfrm>
          <a:prstGeom prst="rect">
            <a:avLst/>
          </a:prstGeom>
          <a:noFill/>
        </p:spPr>
        <p:txBody>
          <a:bodyPr wrap="square">
            <a:spAutoFit/>
          </a:bodyPr>
          <a:lstStyle/>
          <a:p>
            <a:pPr algn="l"/>
            <a:r>
              <a:rPr sz="1200" b="1" i="0">
                <a:solidFill>
                  <a:srgbClr val="191919"/>
                </a:solidFill>
              </a:rPr>
              <a:t>  •  React Router 6</a:t>
            </a:r>
          </a:p>
        </p:txBody>
      </p:sp>
      <p:sp>
        <p:nvSpPr>
          <p:cNvPr id="11" name="TextBox 10"/>
          <p:cNvSpPr txBox="1"/>
          <p:nvPr/>
        </p:nvSpPr>
        <p:spPr>
          <a:xfrm>
            <a:off x="2088000" y="2556000"/>
            <a:ext cx="4320000" cy="396000"/>
          </a:xfrm>
          <a:prstGeom prst="rect">
            <a:avLst/>
          </a:prstGeom>
          <a:noFill/>
        </p:spPr>
        <p:txBody>
          <a:bodyPr wrap="square">
            <a:spAutoFit/>
          </a:bodyPr>
          <a:lstStyle/>
          <a:p>
            <a:pPr algn="l"/>
            <a:r>
              <a:rPr sz="1200" b="1" i="0" dirty="0">
                <a:solidFill>
                  <a:srgbClr val="191919"/>
                </a:solidFill>
              </a:rPr>
              <a:t>  •  Tailwind CSS</a:t>
            </a:r>
          </a:p>
        </p:txBody>
      </p:sp>
      <p:sp>
        <p:nvSpPr>
          <p:cNvPr id="12" name="Rectangle 11"/>
          <p:cNvSpPr/>
          <p:nvPr/>
        </p:nvSpPr>
        <p:spPr>
          <a:xfrm>
            <a:off x="6948000" y="1152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28000" y="1206000"/>
            <a:ext cx="4320000" cy="360000"/>
          </a:xfrm>
          <a:prstGeom prst="rect">
            <a:avLst/>
          </a:prstGeom>
          <a:noFill/>
        </p:spPr>
        <p:txBody>
          <a:bodyPr wrap="square">
            <a:spAutoFit/>
          </a:bodyPr>
          <a:lstStyle/>
          <a:p>
            <a:pPr algn="ctr"/>
            <a:r>
              <a:rPr sz="1400" b="1" i="0">
                <a:solidFill>
                  <a:srgbClr val="FFFFFF"/>
                </a:solidFill>
              </a:rPr>
              <a:t>Backend</a:t>
            </a:r>
          </a:p>
        </p:txBody>
      </p:sp>
      <p:sp>
        <p:nvSpPr>
          <p:cNvPr id="14" name="TextBox 13"/>
          <p:cNvSpPr txBox="1"/>
          <p:nvPr/>
        </p:nvSpPr>
        <p:spPr>
          <a:xfrm>
            <a:off x="7128000" y="1692000"/>
            <a:ext cx="4320000" cy="396000"/>
          </a:xfrm>
          <a:prstGeom prst="rect">
            <a:avLst/>
          </a:prstGeom>
          <a:noFill/>
        </p:spPr>
        <p:txBody>
          <a:bodyPr wrap="square">
            <a:spAutoFit/>
          </a:bodyPr>
          <a:lstStyle/>
          <a:p>
            <a:pPr algn="l"/>
            <a:r>
              <a:rPr sz="1200" b="1" i="0">
                <a:solidFill>
                  <a:srgbClr val="191919"/>
                </a:solidFill>
              </a:rPr>
              <a:t>  •  FastAPI (Python)</a:t>
            </a:r>
          </a:p>
        </p:txBody>
      </p:sp>
      <p:sp>
        <p:nvSpPr>
          <p:cNvPr id="15" name="TextBox 14"/>
          <p:cNvSpPr txBox="1"/>
          <p:nvPr/>
        </p:nvSpPr>
        <p:spPr>
          <a:xfrm>
            <a:off x="7128000" y="2124000"/>
            <a:ext cx="4320000" cy="396000"/>
          </a:xfrm>
          <a:prstGeom prst="rect">
            <a:avLst/>
          </a:prstGeom>
          <a:noFill/>
        </p:spPr>
        <p:txBody>
          <a:bodyPr wrap="square">
            <a:spAutoFit/>
          </a:bodyPr>
          <a:lstStyle/>
          <a:p>
            <a:pPr algn="l"/>
            <a:r>
              <a:rPr sz="1200" b="1" i="0">
                <a:solidFill>
                  <a:srgbClr val="191919"/>
                </a:solidFill>
              </a:rPr>
              <a:t>  •  SQLAlchemy 2 + Alembic</a:t>
            </a:r>
          </a:p>
        </p:txBody>
      </p:sp>
      <p:sp>
        <p:nvSpPr>
          <p:cNvPr id="16" name="TextBox 15"/>
          <p:cNvSpPr txBox="1"/>
          <p:nvPr/>
        </p:nvSpPr>
        <p:spPr>
          <a:xfrm>
            <a:off x="7128000" y="2556000"/>
            <a:ext cx="4320000" cy="396000"/>
          </a:xfrm>
          <a:prstGeom prst="rect">
            <a:avLst/>
          </a:prstGeom>
          <a:noFill/>
        </p:spPr>
        <p:txBody>
          <a:bodyPr wrap="square">
            <a:spAutoFit/>
          </a:bodyPr>
          <a:lstStyle/>
          <a:p>
            <a:pPr algn="l"/>
            <a:r>
              <a:rPr sz="1200" b="1" i="0" dirty="0">
                <a:solidFill>
                  <a:srgbClr val="191919"/>
                </a:solidFill>
              </a:rPr>
              <a:t>  •  PostgreSQL 16</a:t>
            </a:r>
          </a:p>
        </p:txBody>
      </p:sp>
      <p:sp>
        <p:nvSpPr>
          <p:cNvPr id="17" name="Rectangle 16"/>
          <p:cNvSpPr/>
          <p:nvPr/>
        </p:nvSpPr>
        <p:spPr>
          <a:xfrm>
            <a:off x="1908000" y="3600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88000" y="3654000"/>
            <a:ext cx="4320000" cy="360000"/>
          </a:xfrm>
          <a:prstGeom prst="rect">
            <a:avLst/>
          </a:prstGeom>
          <a:noFill/>
        </p:spPr>
        <p:txBody>
          <a:bodyPr wrap="square">
            <a:spAutoFit/>
          </a:bodyPr>
          <a:lstStyle/>
          <a:p>
            <a:pPr algn="ctr"/>
            <a:r>
              <a:rPr sz="1400" b="1" i="0">
                <a:solidFill>
                  <a:srgbClr val="FFFFFF"/>
                </a:solidFill>
              </a:rPr>
              <a:t>Modèles IA</a:t>
            </a:r>
          </a:p>
        </p:txBody>
      </p:sp>
      <p:sp>
        <p:nvSpPr>
          <p:cNvPr id="19" name="TextBox 18"/>
          <p:cNvSpPr txBox="1"/>
          <p:nvPr/>
        </p:nvSpPr>
        <p:spPr>
          <a:xfrm>
            <a:off x="2088000" y="4140000"/>
            <a:ext cx="4320000" cy="396000"/>
          </a:xfrm>
          <a:prstGeom prst="rect">
            <a:avLst/>
          </a:prstGeom>
          <a:noFill/>
        </p:spPr>
        <p:txBody>
          <a:bodyPr wrap="square">
            <a:spAutoFit/>
          </a:bodyPr>
          <a:lstStyle/>
          <a:p>
            <a:pPr algn="l"/>
            <a:r>
              <a:rPr sz="1200" b="1" i="0" dirty="0">
                <a:solidFill>
                  <a:srgbClr val="191919"/>
                </a:solidFill>
              </a:rPr>
              <a:t>  •  BGE-M3 (bi-encoder, 570M)</a:t>
            </a:r>
          </a:p>
        </p:txBody>
      </p:sp>
      <p:sp>
        <p:nvSpPr>
          <p:cNvPr id="20" name="TextBox 19"/>
          <p:cNvSpPr txBox="1"/>
          <p:nvPr/>
        </p:nvSpPr>
        <p:spPr>
          <a:xfrm>
            <a:off x="2088000" y="4572000"/>
            <a:ext cx="4320000" cy="396000"/>
          </a:xfrm>
          <a:prstGeom prst="rect">
            <a:avLst/>
          </a:prstGeom>
          <a:noFill/>
        </p:spPr>
        <p:txBody>
          <a:bodyPr wrap="square">
            <a:spAutoFit/>
          </a:bodyPr>
          <a:lstStyle/>
          <a:p>
            <a:pPr algn="l"/>
            <a:r>
              <a:rPr sz="1200" b="1" i="0">
                <a:solidFill>
                  <a:srgbClr val="191919"/>
                </a:solidFill>
              </a:rPr>
              <a:t>  •  Cross-Encoder Reranker</a:t>
            </a:r>
          </a:p>
        </p:txBody>
      </p:sp>
      <p:sp>
        <p:nvSpPr>
          <p:cNvPr id="21" name="TextBox 20"/>
          <p:cNvSpPr txBox="1"/>
          <p:nvPr/>
        </p:nvSpPr>
        <p:spPr>
          <a:xfrm>
            <a:off x="2088000" y="5004000"/>
            <a:ext cx="4320000" cy="396000"/>
          </a:xfrm>
          <a:prstGeom prst="rect">
            <a:avLst/>
          </a:prstGeom>
          <a:noFill/>
        </p:spPr>
        <p:txBody>
          <a:bodyPr wrap="square">
            <a:spAutoFit/>
          </a:bodyPr>
          <a:lstStyle/>
          <a:p>
            <a:pPr algn="l"/>
            <a:r>
              <a:rPr sz="1200" b="1" i="0">
                <a:solidFill>
                  <a:srgbClr val="191919"/>
                </a:solidFill>
              </a:rPr>
              <a:t>  •  spaCy · ISCO-08 (53 domaines)</a:t>
            </a:r>
          </a:p>
        </p:txBody>
      </p:sp>
      <p:sp>
        <p:nvSpPr>
          <p:cNvPr id="22" name="Rectangle 21"/>
          <p:cNvSpPr/>
          <p:nvPr/>
        </p:nvSpPr>
        <p:spPr>
          <a:xfrm>
            <a:off x="6948000" y="3600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28000" y="3654000"/>
            <a:ext cx="4320000" cy="360000"/>
          </a:xfrm>
          <a:prstGeom prst="rect">
            <a:avLst/>
          </a:prstGeom>
          <a:noFill/>
        </p:spPr>
        <p:txBody>
          <a:bodyPr wrap="square">
            <a:spAutoFit/>
          </a:bodyPr>
          <a:lstStyle/>
          <a:p>
            <a:pPr algn="ctr"/>
            <a:r>
              <a:rPr sz="1400" b="1" i="0">
                <a:solidFill>
                  <a:srgbClr val="FFFFFF"/>
                </a:solidFill>
              </a:rPr>
              <a:t>Déploiement</a:t>
            </a:r>
          </a:p>
        </p:txBody>
      </p:sp>
      <p:sp>
        <p:nvSpPr>
          <p:cNvPr id="24" name="TextBox 23"/>
          <p:cNvSpPr txBox="1"/>
          <p:nvPr/>
        </p:nvSpPr>
        <p:spPr>
          <a:xfrm>
            <a:off x="7128000" y="4140000"/>
            <a:ext cx="4320000" cy="396000"/>
          </a:xfrm>
          <a:prstGeom prst="rect">
            <a:avLst/>
          </a:prstGeom>
          <a:noFill/>
        </p:spPr>
        <p:txBody>
          <a:bodyPr wrap="square">
            <a:spAutoFit/>
          </a:bodyPr>
          <a:lstStyle/>
          <a:p>
            <a:pPr algn="l"/>
            <a:r>
              <a:rPr sz="1200" b="1" i="0" dirty="0">
                <a:solidFill>
                  <a:srgbClr val="191919"/>
                </a:solidFill>
              </a:rPr>
              <a:t>  •  Railway (Docker)</a:t>
            </a:r>
          </a:p>
        </p:txBody>
      </p:sp>
      <p:sp>
        <p:nvSpPr>
          <p:cNvPr id="25" name="TextBox 24"/>
          <p:cNvSpPr txBox="1"/>
          <p:nvPr/>
        </p:nvSpPr>
        <p:spPr>
          <a:xfrm>
            <a:off x="7128000" y="4572000"/>
            <a:ext cx="4320000" cy="396000"/>
          </a:xfrm>
          <a:prstGeom prst="rect">
            <a:avLst/>
          </a:prstGeom>
          <a:noFill/>
        </p:spPr>
        <p:txBody>
          <a:bodyPr wrap="square">
            <a:spAutoFit/>
          </a:bodyPr>
          <a:lstStyle/>
          <a:p>
            <a:pPr algn="l"/>
            <a:r>
              <a:rPr sz="1200" b="1" i="0">
                <a:solidFill>
                  <a:srgbClr val="191919"/>
                </a:solidFill>
              </a:rPr>
              <a:t>  •  GitHub (versioning)</a:t>
            </a:r>
          </a:p>
        </p:txBody>
      </p:sp>
      <p:sp>
        <p:nvSpPr>
          <p:cNvPr id="26" name="TextBox 25"/>
          <p:cNvSpPr txBox="1"/>
          <p:nvPr/>
        </p:nvSpPr>
        <p:spPr>
          <a:xfrm>
            <a:off x="7128000" y="5004000"/>
            <a:ext cx="4320000" cy="396000"/>
          </a:xfrm>
          <a:prstGeom prst="rect">
            <a:avLst/>
          </a:prstGeom>
          <a:noFill/>
        </p:spPr>
        <p:txBody>
          <a:bodyPr wrap="square">
            <a:spAutoFit/>
          </a:bodyPr>
          <a:lstStyle/>
          <a:p>
            <a:pPr algn="l"/>
            <a:r>
              <a:rPr sz="1200" b="1" i="0">
                <a:solidFill>
                  <a:srgbClr val="191919"/>
                </a:solidFill>
              </a:rPr>
              <a:t>  •  Vite Build + CI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600" b="1" i="0">
                <a:solidFill>
                  <a:srgbClr val="0A2350"/>
                </a:solidFill>
              </a:rPr>
              <a:t>Avancement actuel — Démonstration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4000" y="1007999"/>
            <a:ext cx="11520000" cy="198000"/>
          </a:xfrm>
          <a:prstGeom prst="rect">
            <a:avLst/>
          </a:prstGeom>
          <a:solidFill>
            <a:srgbClr val="008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2000" y="957288"/>
            <a:ext cx="11160000" cy="180000"/>
          </a:xfrm>
          <a:prstGeom prst="rect">
            <a:avLst/>
          </a:prstGeom>
          <a:noFill/>
        </p:spPr>
        <p:txBody>
          <a:bodyPr wrap="square">
            <a:spAutoFit/>
          </a:bodyPr>
          <a:lstStyle/>
          <a:p>
            <a:pPr algn="l"/>
            <a:r>
              <a:rPr sz="1200" b="1" i="0" dirty="0" err="1">
                <a:solidFill>
                  <a:srgbClr val="FFFFFF"/>
                </a:solidFill>
              </a:rPr>
              <a:t>Parcours</a:t>
            </a:r>
            <a:r>
              <a:rPr sz="1200" b="1" i="0" dirty="0">
                <a:solidFill>
                  <a:srgbClr val="FFFFFF"/>
                </a:solidFill>
              </a:rPr>
              <a:t> </a:t>
            </a:r>
            <a:r>
              <a:rPr sz="1200" b="1" i="0" dirty="0" err="1">
                <a:solidFill>
                  <a:srgbClr val="FFFFFF"/>
                </a:solidFill>
              </a:rPr>
              <a:t>Candidat</a:t>
            </a:r>
            <a:endParaRPr sz="1200" b="1" i="0" dirty="0">
              <a:solidFill>
                <a:srgbClr val="FFFFFF"/>
              </a:solidFill>
            </a:endParaRPr>
          </a:p>
        </p:txBody>
      </p:sp>
      <p:pic>
        <p:nvPicPr>
          <p:cNvPr id="8" name="Picture 7" descr="page d'acceuil.png"/>
          <p:cNvPicPr>
            <a:picLocks noChangeAspect="1"/>
          </p:cNvPicPr>
          <p:nvPr/>
        </p:nvPicPr>
        <p:blipFill>
          <a:blip r:embed="rId2"/>
          <a:stretch>
            <a:fillRect/>
          </a:stretch>
        </p:blipFill>
        <p:spPr>
          <a:xfrm>
            <a:off x="279000" y="1278000"/>
            <a:ext cx="3671999" cy="2015999"/>
          </a:xfrm>
          <a:prstGeom prst="rect">
            <a:avLst/>
          </a:prstGeom>
        </p:spPr>
      </p:pic>
      <p:sp>
        <p:nvSpPr>
          <p:cNvPr id="9" name="TextBox 8"/>
          <p:cNvSpPr txBox="1"/>
          <p:nvPr/>
        </p:nvSpPr>
        <p:spPr>
          <a:xfrm>
            <a:off x="324000" y="3311999"/>
            <a:ext cx="3671999" cy="251999"/>
          </a:xfrm>
          <a:prstGeom prst="rect">
            <a:avLst/>
          </a:prstGeom>
          <a:noFill/>
        </p:spPr>
        <p:txBody>
          <a:bodyPr wrap="square">
            <a:spAutoFit/>
          </a:bodyPr>
          <a:lstStyle/>
          <a:p>
            <a:pPr algn="ctr"/>
            <a:r>
              <a:rPr sz="900" b="1" i="0">
                <a:solidFill>
                  <a:srgbClr val="008282"/>
                </a:solidFill>
              </a:rPr>
              <a:t>1. Page d'accueil</a:t>
            </a:r>
          </a:p>
        </p:txBody>
      </p:sp>
      <p:pic>
        <p:nvPicPr>
          <p:cNvPr id="10" name="Picture 9" descr="offreAdmin.png"/>
          <p:cNvPicPr>
            <a:picLocks noChangeAspect="1"/>
          </p:cNvPicPr>
          <p:nvPr/>
        </p:nvPicPr>
        <p:blipFill>
          <a:blip r:embed="rId3"/>
          <a:stretch>
            <a:fillRect/>
          </a:stretch>
        </p:blipFill>
        <p:spPr>
          <a:xfrm>
            <a:off x="4229999" y="1260000"/>
            <a:ext cx="3671999" cy="2015999"/>
          </a:xfrm>
          <a:prstGeom prst="rect">
            <a:avLst/>
          </a:prstGeom>
        </p:spPr>
      </p:pic>
      <p:sp>
        <p:nvSpPr>
          <p:cNvPr id="11" name="TextBox 10"/>
          <p:cNvSpPr txBox="1"/>
          <p:nvPr/>
        </p:nvSpPr>
        <p:spPr>
          <a:xfrm>
            <a:off x="4229999" y="3311999"/>
            <a:ext cx="3671999" cy="251999"/>
          </a:xfrm>
          <a:prstGeom prst="rect">
            <a:avLst/>
          </a:prstGeom>
          <a:noFill/>
        </p:spPr>
        <p:txBody>
          <a:bodyPr wrap="square">
            <a:spAutoFit/>
          </a:bodyPr>
          <a:lstStyle/>
          <a:p>
            <a:pPr algn="ctr"/>
            <a:r>
              <a:rPr sz="900" b="1" i="0">
                <a:solidFill>
                  <a:srgbClr val="008282"/>
                </a:solidFill>
              </a:rPr>
              <a:t>2. Offres compatibles</a:t>
            </a:r>
          </a:p>
        </p:txBody>
      </p:sp>
      <p:pic>
        <p:nvPicPr>
          <p:cNvPr id="12" name="Picture 11" descr="postuleCv.png"/>
          <p:cNvPicPr>
            <a:picLocks noChangeAspect="1"/>
          </p:cNvPicPr>
          <p:nvPr/>
        </p:nvPicPr>
        <p:blipFill>
          <a:blip r:embed="rId4"/>
          <a:stretch>
            <a:fillRect/>
          </a:stretch>
        </p:blipFill>
        <p:spPr>
          <a:xfrm>
            <a:off x="8135998" y="1260000"/>
            <a:ext cx="3671999" cy="2015999"/>
          </a:xfrm>
          <a:prstGeom prst="rect">
            <a:avLst/>
          </a:prstGeom>
        </p:spPr>
      </p:pic>
      <p:sp>
        <p:nvSpPr>
          <p:cNvPr id="13" name="TextBox 12"/>
          <p:cNvSpPr txBox="1"/>
          <p:nvPr/>
        </p:nvSpPr>
        <p:spPr>
          <a:xfrm>
            <a:off x="8135998" y="3311999"/>
            <a:ext cx="3671999" cy="251999"/>
          </a:xfrm>
          <a:prstGeom prst="rect">
            <a:avLst/>
          </a:prstGeom>
          <a:noFill/>
        </p:spPr>
        <p:txBody>
          <a:bodyPr wrap="square">
            <a:spAutoFit/>
          </a:bodyPr>
          <a:lstStyle/>
          <a:p>
            <a:pPr algn="ctr"/>
            <a:r>
              <a:rPr sz="900" b="1" i="0">
                <a:solidFill>
                  <a:srgbClr val="008282"/>
                </a:solidFill>
              </a:rPr>
              <a:t>3. Candidature + RGPD</a:t>
            </a:r>
          </a:p>
        </p:txBody>
      </p:sp>
      <p:sp>
        <p:nvSpPr>
          <p:cNvPr id="14" name="Rectangle 13"/>
          <p:cNvSpPr/>
          <p:nvPr/>
        </p:nvSpPr>
        <p:spPr>
          <a:xfrm>
            <a:off x="324000" y="3671999"/>
            <a:ext cx="11520000" cy="198000"/>
          </a:xfrm>
          <a:prstGeom prst="rect">
            <a:avLst/>
          </a:prstGeom>
          <a:solidFill>
            <a:srgbClr val="D264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2000" y="3636000"/>
            <a:ext cx="11160000" cy="180000"/>
          </a:xfrm>
          <a:prstGeom prst="rect">
            <a:avLst/>
          </a:prstGeom>
          <a:noFill/>
        </p:spPr>
        <p:txBody>
          <a:bodyPr wrap="square">
            <a:spAutoFit/>
          </a:bodyPr>
          <a:lstStyle/>
          <a:p>
            <a:pPr algn="l"/>
            <a:r>
              <a:rPr sz="1200" b="1" i="0" dirty="0">
                <a:solidFill>
                  <a:srgbClr val="FFFFFF"/>
                </a:solidFill>
              </a:rPr>
              <a:t>Interface </a:t>
            </a:r>
            <a:r>
              <a:rPr sz="1200" b="1" i="0" dirty="0" err="1">
                <a:solidFill>
                  <a:srgbClr val="FFFFFF"/>
                </a:solidFill>
              </a:rPr>
              <a:t>Recruteur</a:t>
            </a:r>
            <a:r>
              <a:rPr sz="1200" b="1" i="0" dirty="0">
                <a:solidFill>
                  <a:srgbClr val="FFFFFF"/>
                </a:solidFill>
              </a:rPr>
              <a:t> / Admin</a:t>
            </a:r>
          </a:p>
        </p:txBody>
      </p:sp>
      <p:pic>
        <p:nvPicPr>
          <p:cNvPr id="16" name="Picture 15" descr="offred'emploi.png"/>
          <p:cNvPicPr>
            <a:picLocks noChangeAspect="1"/>
          </p:cNvPicPr>
          <p:nvPr/>
        </p:nvPicPr>
        <p:blipFill>
          <a:blip r:embed="rId5"/>
          <a:stretch>
            <a:fillRect/>
          </a:stretch>
        </p:blipFill>
        <p:spPr>
          <a:xfrm>
            <a:off x="324000" y="3924000"/>
            <a:ext cx="3671999" cy="2015999"/>
          </a:xfrm>
          <a:prstGeom prst="rect">
            <a:avLst/>
          </a:prstGeom>
        </p:spPr>
      </p:pic>
      <p:sp>
        <p:nvSpPr>
          <p:cNvPr id="17" name="TextBox 16"/>
          <p:cNvSpPr txBox="1"/>
          <p:nvPr/>
        </p:nvSpPr>
        <p:spPr>
          <a:xfrm>
            <a:off x="324000" y="5975999"/>
            <a:ext cx="3671999" cy="251999"/>
          </a:xfrm>
          <a:prstGeom prst="rect">
            <a:avLst/>
          </a:prstGeom>
          <a:noFill/>
        </p:spPr>
        <p:txBody>
          <a:bodyPr wrap="square">
            <a:spAutoFit/>
          </a:bodyPr>
          <a:lstStyle/>
          <a:p>
            <a:pPr algn="ctr"/>
            <a:r>
              <a:rPr sz="900" b="1" i="0">
                <a:solidFill>
                  <a:srgbClr val="D2640A"/>
                </a:solidFill>
              </a:rPr>
              <a:t>4. Gestion des offres</a:t>
            </a:r>
          </a:p>
        </p:txBody>
      </p:sp>
      <p:pic>
        <p:nvPicPr>
          <p:cNvPr id="18" name="Picture 17" descr="offreadminnn.png"/>
          <p:cNvPicPr>
            <a:picLocks noChangeAspect="1"/>
          </p:cNvPicPr>
          <p:nvPr/>
        </p:nvPicPr>
        <p:blipFill>
          <a:blip r:embed="rId6"/>
          <a:stretch>
            <a:fillRect/>
          </a:stretch>
        </p:blipFill>
        <p:spPr>
          <a:xfrm>
            <a:off x="4229999" y="3924000"/>
            <a:ext cx="3671999" cy="2015999"/>
          </a:xfrm>
          <a:prstGeom prst="rect">
            <a:avLst/>
          </a:prstGeom>
        </p:spPr>
      </p:pic>
      <p:sp>
        <p:nvSpPr>
          <p:cNvPr id="19" name="TextBox 18"/>
          <p:cNvSpPr txBox="1"/>
          <p:nvPr/>
        </p:nvSpPr>
        <p:spPr>
          <a:xfrm>
            <a:off x="4229999" y="5975999"/>
            <a:ext cx="3671999" cy="251999"/>
          </a:xfrm>
          <a:prstGeom prst="rect">
            <a:avLst/>
          </a:prstGeom>
          <a:noFill/>
        </p:spPr>
        <p:txBody>
          <a:bodyPr wrap="square">
            <a:spAutoFit/>
          </a:bodyPr>
          <a:lstStyle/>
          <a:p>
            <a:pPr algn="ctr"/>
            <a:r>
              <a:rPr sz="900" b="1" i="0">
                <a:solidFill>
                  <a:srgbClr val="D2640A"/>
                </a:solidFill>
              </a:rPr>
              <a:t>5. Résultats matching IA</a:t>
            </a:r>
          </a:p>
        </p:txBody>
      </p:sp>
      <p:pic>
        <p:nvPicPr>
          <p:cNvPr id="20" name="Picture 19" descr="postuleroffre.png"/>
          <p:cNvPicPr>
            <a:picLocks noChangeAspect="1"/>
          </p:cNvPicPr>
          <p:nvPr/>
        </p:nvPicPr>
        <p:blipFill>
          <a:blip r:embed="rId7"/>
          <a:stretch>
            <a:fillRect/>
          </a:stretch>
        </p:blipFill>
        <p:spPr>
          <a:xfrm>
            <a:off x="8135998" y="3924000"/>
            <a:ext cx="3671999" cy="2015999"/>
          </a:xfrm>
          <a:prstGeom prst="rect">
            <a:avLst/>
          </a:prstGeom>
        </p:spPr>
      </p:pic>
      <p:sp>
        <p:nvSpPr>
          <p:cNvPr id="21" name="TextBox 20"/>
          <p:cNvSpPr txBox="1"/>
          <p:nvPr/>
        </p:nvSpPr>
        <p:spPr>
          <a:xfrm>
            <a:off x="8135998" y="5975999"/>
            <a:ext cx="3671999" cy="251999"/>
          </a:xfrm>
          <a:prstGeom prst="rect">
            <a:avLst/>
          </a:prstGeom>
          <a:noFill/>
        </p:spPr>
        <p:txBody>
          <a:bodyPr wrap="square">
            <a:spAutoFit/>
          </a:bodyPr>
          <a:lstStyle/>
          <a:p>
            <a:pPr algn="ctr"/>
            <a:r>
              <a:rPr sz="900" b="1" i="0" dirty="0">
                <a:solidFill>
                  <a:srgbClr val="D2640A"/>
                </a:solidFill>
              </a:rPr>
              <a:t>6. </a:t>
            </a:r>
            <a:r>
              <a:rPr sz="900" b="1" i="0" dirty="0" err="1">
                <a:solidFill>
                  <a:srgbClr val="D2640A"/>
                </a:solidFill>
              </a:rPr>
              <a:t>Détail</a:t>
            </a:r>
            <a:r>
              <a:rPr sz="900" b="1" i="0" dirty="0">
                <a:solidFill>
                  <a:srgbClr val="D2640A"/>
                </a:solidFill>
              </a:rPr>
              <a:t> </a:t>
            </a:r>
            <a:r>
              <a:rPr sz="900" b="1" i="0" dirty="0" err="1">
                <a:solidFill>
                  <a:srgbClr val="D2640A"/>
                </a:solidFill>
              </a:rPr>
              <a:t>d'une</a:t>
            </a:r>
            <a:r>
              <a:rPr sz="900" b="1" i="0" dirty="0">
                <a:solidFill>
                  <a:srgbClr val="D2640A"/>
                </a:solidFill>
              </a:rPr>
              <a:t> </a:t>
            </a:r>
            <a:r>
              <a:rPr sz="900" b="1" i="0" dirty="0" err="1">
                <a:solidFill>
                  <a:srgbClr val="D2640A"/>
                </a:solidFill>
              </a:rPr>
              <a:t>offre</a:t>
            </a:r>
            <a:endParaRPr sz="900" b="1" i="0" dirty="0">
              <a:solidFill>
                <a:srgbClr val="D2640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Perspectives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80000" y="1260000"/>
            <a:ext cx="10080000" cy="360000"/>
          </a:xfrm>
          <a:prstGeom prst="rect">
            <a:avLst/>
          </a:prstGeom>
          <a:noFill/>
        </p:spPr>
        <p:txBody>
          <a:bodyPr wrap="square">
            <a:spAutoFit/>
          </a:bodyPr>
          <a:lstStyle/>
          <a:p>
            <a:pPr algn="l"/>
            <a:r>
              <a:rPr sz="1600" b="0" i="0" dirty="0">
                <a:solidFill>
                  <a:srgbClr val="0A2350"/>
                </a:solidFill>
              </a:rPr>
              <a:t>•   </a:t>
            </a:r>
            <a:r>
              <a:rPr sz="1600" b="0" i="0" dirty="0" err="1">
                <a:solidFill>
                  <a:srgbClr val="0A2350"/>
                </a:solidFill>
              </a:rPr>
              <a:t>Ajout</a:t>
            </a:r>
            <a:r>
              <a:rPr sz="1600" b="0" i="0" dirty="0">
                <a:solidFill>
                  <a:srgbClr val="0A2350"/>
                </a:solidFill>
              </a:rPr>
              <a:t> des notifications email pour les </a:t>
            </a:r>
            <a:r>
              <a:rPr sz="1600" b="0" i="0" dirty="0" err="1">
                <a:solidFill>
                  <a:srgbClr val="0A2350"/>
                </a:solidFill>
              </a:rPr>
              <a:t>recruteurs</a:t>
            </a:r>
            <a:endParaRPr sz="1600" b="0" i="0" dirty="0">
              <a:solidFill>
                <a:srgbClr val="0A2350"/>
              </a:solidFill>
            </a:endParaRPr>
          </a:p>
        </p:txBody>
      </p:sp>
      <p:sp>
        <p:nvSpPr>
          <p:cNvPr id="7" name="TextBox 6"/>
          <p:cNvSpPr txBox="1"/>
          <p:nvPr/>
        </p:nvSpPr>
        <p:spPr>
          <a:xfrm>
            <a:off x="1980000" y="1944000"/>
            <a:ext cx="10080000" cy="360000"/>
          </a:xfrm>
          <a:prstGeom prst="rect">
            <a:avLst/>
          </a:prstGeom>
          <a:noFill/>
        </p:spPr>
        <p:txBody>
          <a:bodyPr wrap="square">
            <a:spAutoFit/>
          </a:bodyPr>
          <a:lstStyle/>
          <a:p>
            <a:pPr algn="l"/>
            <a:r>
              <a:rPr sz="1600" b="0" i="0">
                <a:solidFill>
                  <a:srgbClr val="0A2350"/>
                </a:solidFill>
              </a:rPr>
              <a:t>•   Planification d'entretiens entre recruteurs et candidats</a:t>
            </a:r>
          </a:p>
        </p:txBody>
      </p:sp>
      <p:sp>
        <p:nvSpPr>
          <p:cNvPr id="8" name="TextBox 7"/>
          <p:cNvSpPr txBox="1"/>
          <p:nvPr/>
        </p:nvSpPr>
        <p:spPr>
          <a:xfrm>
            <a:off x="1980000" y="2628000"/>
            <a:ext cx="10080000" cy="360000"/>
          </a:xfrm>
          <a:prstGeom prst="rect">
            <a:avLst/>
          </a:prstGeom>
          <a:noFill/>
        </p:spPr>
        <p:txBody>
          <a:bodyPr wrap="square">
            <a:spAutoFit/>
          </a:bodyPr>
          <a:lstStyle/>
          <a:p>
            <a:pPr algn="l"/>
            <a:r>
              <a:rPr sz="1600" b="0" i="0" dirty="0">
                <a:solidFill>
                  <a:srgbClr val="0A2350"/>
                </a:solidFill>
              </a:rPr>
              <a:t>•   </a:t>
            </a:r>
            <a:r>
              <a:rPr sz="1600" b="0" i="0" dirty="0" err="1">
                <a:solidFill>
                  <a:srgbClr val="0A2350"/>
                </a:solidFill>
              </a:rPr>
              <a:t>Enrichissement</a:t>
            </a:r>
            <a:r>
              <a:rPr sz="1600" b="0" i="0" dirty="0">
                <a:solidFill>
                  <a:srgbClr val="0A2350"/>
                </a:solidFill>
              </a:rPr>
              <a:t> de la page </a:t>
            </a:r>
            <a:r>
              <a:rPr sz="1600" b="0" i="0" dirty="0" err="1">
                <a:solidFill>
                  <a:srgbClr val="0A2350"/>
                </a:solidFill>
              </a:rPr>
              <a:t>candidat</a:t>
            </a:r>
            <a:r>
              <a:rPr sz="1600" b="0" i="0" dirty="0">
                <a:solidFill>
                  <a:srgbClr val="0A2350"/>
                </a:solidFill>
              </a:rPr>
              <a:t> avec les </a:t>
            </a:r>
            <a:r>
              <a:rPr sz="1600" b="0" i="0" dirty="0" err="1">
                <a:solidFill>
                  <a:srgbClr val="0A2350"/>
                </a:solidFill>
              </a:rPr>
              <a:t>compétences</a:t>
            </a:r>
            <a:r>
              <a:rPr sz="1600" b="0" i="0" dirty="0">
                <a:solidFill>
                  <a:srgbClr val="0A2350"/>
                </a:solidFill>
              </a:rPr>
              <a:t> </a:t>
            </a:r>
            <a:r>
              <a:rPr sz="1600" b="0" i="0" dirty="0" err="1">
                <a:solidFill>
                  <a:srgbClr val="0A2350"/>
                </a:solidFill>
              </a:rPr>
              <a:t>manquantes</a:t>
            </a:r>
            <a:endParaRPr sz="1600" b="0" i="0" dirty="0">
              <a:solidFill>
                <a:srgbClr val="0A2350"/>
              </a:solidFill>
            </a:endParaRPr>
          </a:p>
        </p:txBody>
      </p:sp>
      <p:sp>
        <p:nvSpPr>
          <p:cNvPr id="9" name="TextBox 8"/>
          <p:cNvSpPr txBox="1"/>
          <p:nvPr/>
        </p:nvSpPr>
        <p:spPr>
          <a:xfrm>
            <a:off x="1980000" y="3312000"/>
            <a:ext cx="10080000" cy="360000"/>
          </a:xfrm>
          <a:prstGeom prst="rect">
            <a:avLst/>
          </a:prstGeom>
          <a:noFill/>
        </p:spPr>
        <p:txBody>
          <a:bodyPr wrap="square">
            <a:spAutoFit/>
          </a:bodyPr>
          <a:lstStyle/>
          <a:p>
            <a:pPr algn="l"/>
            <a:r>
              <a:rPr sz="1600" b="0" i="0">
                <a:solidFill>
                  <a:srgbClr val="0A2350"/>
                </a:solidFill>
              </a:rPr>
              <a:t>•   Amélioration continue du modèle de matching par feedback recruteur</a:t>
            </a:r>
          </a:p>
        </p:txBody>
      </p:sp>
      <p:sp>
        <p:nvSpPr>
          <p:cNvPr id="10" name="TextBox 9"/>
          <p:cNvSpPr txBox="1"/>
          <p:nvPr/>
        </p:nvSpPr>
        <p:spPr>
          <a:xfrm>
            <a:off x="1980000" y="3996000"/>
            <a:ext cx="10080000" cy="360000"/>
          </a:xfrm>
          <a:prstGeom prst="rect">
            <a:avLst/>
          </a:prstGeom>
          <a:noFill/>
        </p:spPr>
        <p:txBody>
          <a:bodyPr wrap="square">
            <a:spAutoFit/>
          </a:bodyPr>
          <a:lstStyle/>
          <a:p>
            <a:pPr algn="l"/>
            <a:r>
              <a:rPr sz="1600" b="0" i="0">
                <a:solidFill>
                  <a:srgbClr val="0A2350"/>
                </a:solidFill>
              </a:rPr>
              <a:t>•   Génération automatique de rapports de matching via un LLM (Mistral AI)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2520000"/>
            <a:ext cx="12192000" cy="1620000"/>
          </a:xfrm>
          <a:prstGeom prst="rect">
            <a:avLst/>
          </a:prstGeom>
          <a:noFill/>
        </p:spPr>
        <p:txBody>
          <a:bodyPr wrap="square">
            <a:spAutoFit/>
          </a:bodyPr>
          <a:lstStyle/>
          <a:p>
            <a:pPr algn="ctr"/>
            <a:r>
              <a:rPr sz="5400" b="1" i="0">
                <a:solidFill>
                  <a:srgbClr val="FFFFFF"/>
                </a:solidFill>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1016</Words>
  <Application>Microsoft Office PowerPoint</Application>
  <PresentationFormat>Grand écran</PresentationFormat>
  <Paragraphs>194</Paragraphs>
  <Slides>17</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Youssef GARA</cp:lastModifiedBy>
  <cp:revision>2</cp:revision>
  <dcterms:created xsi:type="dcterms:W3CDTF">2013-01-27T09:14:16Z</dcterms:created>
  <dcterms:modified xsi:type="dcterms:W3CDTF">2026-06-03T11:29:59Z</dcterms:modified>
  <cp:category/>
</cp:coreProperties>
</file>